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Open Sans" charset="1" panose="020B0606030504020204"/>
      <p:regular r:id="rId34"/>
    </p:embeddedFont>
    <p:embeddedFont>
      <p:font typeface="League Spartan" charset="1" panose="00000800000000000000"/>
      <p:regular r:id="rId35"/>
    </p:embeddedFont>
    <p:embeddedFont>
      <p:font typeface="Roboto" charset="1" panose="02000000000000000000"/>
      <p:regular r:id="rId36"/>
    </p:embeddedFont>
    <p:embeddedFont>
      <p:font typeface="Alice" charset="1" panose="0000050000000000000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16" Target="../media/image15.pn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16" Target="../media/image16.pn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16" Target="../media/image17.png" Type="http://schemas.openxmlformats.org/officeDocument/2006/relationships/image"/><Relationship Id="rId17" Target="../media/image18.svg" Type="http://schemas.openxmlformats.org/officeDocument/2006/relationships/image"/><Relationship Id="rId18" Target="../media/image19.png" Type="http://schemas.openxmlformats.org/officeDocument/2006/relationships/image"/><Relationship Id="rId19" Target="../media/image20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5.png" Type="http://schemas.openxmlformats.org/officeDocument/2006/relationships/image"/><Relationship Id="rId13" Target="../media/image6.svg" Type="http://schemas.openxmlformats.org/officeDocument/2006/relationships/image"/><Relationship Id="rId14" Target="../media/image7.png" Type="http://schemas.openxmlformats.org/officeDocument/2006/relationships/image"/><Relationship Id="rId15" Target="../media/image8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16" Target="../media/image17.png" Type="http://schemas.openxmlformats.org/officeDocument/2006/relationships/image"/><Relationship Id="rId17" Target="../media/image18.svg" Type="http://schemas.openxmlformats.org/officeDocument/2006/relationships/image"/><Relationship Id="rId18" Target="../media/image19.png" Type="http://schemas.openxmlformats.org/officeDocument/2006/relationships/image"/><Relationship Id="rId19" Target="../media/image20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16" Target="../media/image21.png" Type="http://schemas.openxmlformats.org/officeDocument/2006/relationships/image"/><Relationship Id="rId17" Target="../media/image22.png" Type="http://schemas.openxmlformats.org/officeDocument/2006/relationships/image"/><Relationship Id="rId18" Target="https://trello.com/b/ndNTo7an/atividade-pratica-pesquisa" TargetMode="External" Type="http://schemas.openxmlformats.org/officeDocument/2006/relationships/hyperlink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16" Target="../media/image23.pn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BE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958139" y="7560255"/>
            <a:ext cx="3973679" cy="4114800"/>
          </a:xfrm>
          <a:custGeom>
            <a:avLst/>
            <a:gdLst/>
            <a:ahLst/>
            <a:cxnLst/>
            <a:rect r="r" b="b" t="t" l="l"/>
            <a:pathLst>
              <a:path h="4114800" w="3973679">
                <a:moveTo>
                  <a:pt x="3973678" y="0"/>
                </a:moveTo>
                <a:lnTo>
                  <a:pt x="0" y="0"/>
                </a:lnTo>
                <a:lnTo>
                  <a:pt x="0" y="4114800"/>
                </a:lnTo>
                <a:lnTo>
                  <a:pt x="3973678" y="4114800"/>
                </a:lnTo>
                <a:lnTo>
                  <a:pt x="397367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0" y="0"/>
            <a:ext cx="4004909" cy="2890816"/>
          </a:xfrm>
          <a:custGeom>
            <a:avLst/>
            <a:gdLst/>
            <a:ahLst/>
            <a:cxnLst/>
            <a:rect r="r" b="b" t="t" l="l"/>
            <a:pathLst>
              <a:path h="2890816" w="4004909">
                <a:moveTo>
                  <a:pt x="4004909" y="2890816"/>
                </a:moveTo>
                <a:lnTo>
                  <a:pt x="0" y="2890816"/>
                </a:lnTo>
                <a:lnTo>
                  <a:pt x="0" y="0"/>
                </a:lnTo>
                <a:lnTo>
                  <a:pt x="4004909" y="0"/>
                </a:lnTo>
                <a:lnTo>
                  <a:pt x="4004909" y="28908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676297" y="7752241"/>
            <a:ext cx="3611703" cy="2534759"/>
          </a:xfrm>
          <a:custGeom>
            <a:avLst/>
            <a:gdLst/>
            <a:ahLst/>
            <a:cxnLst/>
            <a:rect r="r" b="b" t="t" l="l"/>
            <a:pathLst>
              <a:path h="2534759" w="3611703">
                <a:moveTo>
                  <a:pt x="3611703" y="0"/>
                </a:moveTo>
                <a:lnTo>
                  <a:pt x="0" y="0"/>
                </a:lnTo>
                <a:lnTo>
                  <a:pt x="0" y="2534759"/>
                </a:lnTo>
                <a:lnTo>
                  <a:pt x="3611703" y="2534759"/>
                </a:lnTo>
                <a:lnTo>
                  <a:pt x="361170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1474513">
            <a:off x="15680812" y="-1088829"/>
            <a:ext cx="3611813" cy="4244489"/>
          </a:xfrm>
          <a:custGeom>
            <a:avLst/>
            <a:gdLst/>
            <a:ahLst/>
            <a:cxnLst/>
            <a:rect r="r" b="b" t="t" l="l"/>
            <a:pathLst>
              <a:path h="4244489" w="3611813">
                <a:moveTo>
                  <a:pt x="0" y="4244488"/>
                </a:moveTo>
                <a:lnTo>
                  <a:pt x="3611813" y="4244488"/>
                </a:lnTo>
                <a:lnTo>
                  <a:pt x="3611813" y="0"/>
                </a:lnTo>
                <a:lnTo>
                  <a:pt x="0" y="0"/>
                </a:lnTo>
                <a:lnTo>
                  <a:pt x="0" y="424448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38354" y="2042717"/>
            <a:ext cx="1606762" cy="1696198"/>
          </a:xfrm>
          <a:custGeom>
            <a:avLst/>
            <a:gdLst/>
            <a:ahLst/>
            <a:cxnLst/>
            <a:rect r="r" b="b" t="t" l="l"/>
            <a:pathLst>
              <a:path h="1696198" w="1606762">
                <a:moveTo>
                  <a:pt x="0" y="0"/>
                </a:moveTo>
                <a:lnTo>
                  <a:pt x="1606762" y="0"/>
                </a:lnTo>
                <a:lnTo>
                  <a:pt x="1606762" y="1696198"/>
                </a:lnTo>
                <a:lnTo>
                  <a:pt x="0" y="16961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614110">
            <a:off x="17366721" y="6203504"/>
            <a:ext cx="1451207" cy="1372896"/>
          </a:xfrm>
          <a:custGeom>
            <a:avLst/>
            <a:gdLst/>
            <a:ahLst/>
            <a:cxnLst/>
            <a:rect r="r" b="b" t="t" l="l"/>
            <a:pathLst>
              <a:path h="1372896" w="1451207">
                <a:moveTo>
                  <a:pt x="0" y="0"/>
                </a:moveTo>
                <a:lnTo>
                  <a:pt x="1451208" y="0"/>
                </a:lnTo>
                <a:lnTo>
                  <a:pt x="1451208" y="1372896"/>
                </a:lnTo>
                <a:lnTo>
                  <a:pt x="0" y="137289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571875" y="2182745"/>
            <a:ext cx="11144250" cy="3844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0"/>
              </a:lnSpc>
            </a:pPr>
            <a:r>
              <a:rPr lang="en-US" sz="11000">
                <a:solidFill>
                  <a:srgbClr val="64050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METODOLOGIA</a:t>
            </a:r>
          </a:p>
          <a:p>
            <a:pPr algn="ctr">
              <a:lnSpc>
                <a:spcPts val="15400"/>
              </a:lnSpc>
            </a:pPr>
            <a:r>
              <a:rPr lang="en-US" sz="11000">
                <a:solidFill>
                  <a:srgbClr val="64050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ÁGIL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004909" y="6889952"/>
            <a:ext cx="10515804" cy="1158194"/>
            <a:chOff x="0" y="0"/>
            <a:chExt cx="2769595" cy="30503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69595" cy="305039"/>
            </a:xfrm>
            <a:custGeom>
              <a:avLst/>
              <a:gdLst/>
              <a:ahLst/>
              <a:cxnLst/>
              <a:rect r="r" b="b" t="t" l="l"/>
              <a:pathLst>
                <a:path h="305039" w="2769595">
                  <a:moveTo>
                    <a:pt x="23559" y="0"/>
                  </a:moveTo>
                  <a:lnTo>
                    <a:pt x="2746035" y="0"/>
                  </a:lnTo>
                  <a:cubicBezTo>
                    <a:pt x="2752284" y="0"/>
                    <a:pt x="2758276" y="2482"/>
                    <a:pt x="2762694" y="6900"/>
                  </a:cubicBezTo>
                  <a:cubicBezTo>
                    <a:pt x="2767112" y="11318"/>
                    <a:pt x="2769595" y="17311"/>
                    <a:pt x="2769595" y="23559"/>
                  </a:cubicBezTo>
                  <a:lnTo>
                    <a:pt x="2769595" y="281480"/>
                  </a:lnTo>
                  <a:cubicBezTo>
                    <a:pt x="2769595" y="294491"/>
                    <a:pt x="2759047" y="305039"/>
                    <a:pt x="2746035" y="305039"/>
                  </a:cubicBezTo>
                  <a:lnTo>
                    <a:pt x="23559" y="305039"/>
                  </a:lnTo>
                  <a:cubicBezTo>
                    <a:pt x="10548" y="305039"/>
                    <a:pt x="0" y="294491"/>
                    <a:pt x="0" y="281480"/>
                  </a:cubicBezTo>
                  <a:lnTo>
                    <a:pt x="0" y="23559"/>
                  </a:lnTo>
                  <a:cubicBezTo>
                    <a:pt x="0" y="10548"/>
                    <a:pt x="10548" y="0"/>
                    <a:pt x="23559" y="0"/>
                  </a:cubicBezTo>
                  <a:close/>
                </a:path>
              </a:pathLst>
            </a:custGeom>
            <a:solidFill>
              <a:srgbClr val="C7222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69595" cy="343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886098" y="7105811"/>
            <a:ext cx="10515804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FBE7E8"/>
                </a:solidFill>
                <a:latin typeface="Roboto"/>
                <a:ea typeface="Roboto"/>
                <a:cs typeface="Roboto"/>
                <a:sym typeface="Roboto"/>
              </a:rPr>
              <a:t>Douglas, Emilly, Lia e Wesley.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268261">
            <a:off x="6921110" y="-11877954"/>
            <a:ext cx="16601806" cy="16450880"/>
          </a:xfrm>
          <a:custGeom>
            <a:avLst/>
            <a:gdLst/>
            <a:ahLst/>
            <a:cxnLst/>
            <a:rect r="r" b="b" t="t" l="l"/>
            <a:pathLst>
              <a:path h="16450880" w="16601806">
                <a:moveTo>
                  <a:pt x="0" y="0"/>
                </a:moveTo>
                <a:lnTo>
                  <a:pt x="16601806" y="0"/>
                </a:lnTo>
                <a:lnTo>
                  <a:pt x="16601806" y="16450881"/>
                </a:lnTo>
                <a:lnTo>
                  <a:pt x="0" y="164508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09284" y="1609202"/>
            <a:ext cx="15469431" cy="7813312"/>
            <a:chOff x="0" y="0"/>
            <a:chExt cx="20625908" cy="1041775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0625908" cy="10417750"/>
              <a:chOff x="0" y="0"/>
              <a:chExt cx="3955689" cy="199794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955688" cy="1997942"/>
              </a:xfrm>
              <a:custGeom>
                <a:avLst/>
                <a:gdLst/>
                <a:ahLst/>
                <a:cxnLst/>
                <a:rect r="r" b="b" t="t" l="l"/>
                <a:pathLst>
                  <a:path h="1997942" w="3955688">
                    <a:moveTo>
                      <a:pt x="387627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918524"/>
                    </a:lnTo>
                    <a:cubicBezTo>
                      <a:pt x="43699" y="1918524"/>
                      <a:pt x="79418" y="1953863"/>
                      <a:pt x="79418" y="1997942"/>
                    </a:cubicBezTo>
                    <a:lnTo>
                      <a:pt x="3876270" y="1997942"/>
                    </a:lnTo>
                    <a:cubicBezTo>
                      <a:pt x="3876270" y="1954243"/>
                      <a:pt x="3911609" y="1918524"/>
                      <a:pt x="3955688" y="1918524"/>
                    </a:cubicBezTo>
                    <a:lnTo>
                      <a:pt x="3955688" y="79418"/>
                    </a:lnTo>
                    <a:cubicBezTo>
                      <a:pt x="3911989" y="79418"/>
                      <a:pt x="3876270" y="44079"/>
                      <a:pt x="3876270" y="0"/>
                    </a:cubicBezTo>
                    <a:close/>
                  </a:path>
                </a:pathLst>
              </a:custGeom>
              <a:ln w="123825" cap="sq">
                <a:solidFill>
                  <a:srgbClr val="64050C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38100" y="0"/>
                <a:ext cx="3879489" cy="19598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390050" y="360355"/>
              <a:ext cx="19820409" cy="9697040"/>
              <a:chOff x="0" y="0"/>
              <a:chExt cx="3801208" cy="185972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801208" cy="1859723"/>
              </a:xfrm>
              <a:custGeom>
                <a:avLst/>
                <a:gdLst/>
                <a:ahLst/>
                <a:cxnLst/>
                <a:rect r="r" b="b" t="t" l="l"/>
                <a:pathLst>
                  <a:path h="1859723" w="3801208">
                    <a:moveTo>
                      <a:pt x="372179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780305"/>
                    </a:lnTo>
                    <a:cubicBezTo>
                      <a:pt x="43699" y="1780305"/>
                      <a:pt x="79418" y="1815644"/>
                      <a:pt x="79418" y="1859723"/>
                    </a:cubicBezTo>
                    <a:lnTo>
                      <a:pt x="3721790" y="1859723"/>
                    </a:lnTo>
                    <a:cubicBezTo>
                      <a:pt x="3721790" y="1816023"/>
                      <a:pt x="3757129" y="1780305"/>
                      <a:pt x="3801208" y="1780305"/>
                    </a:cubicBezTo>
                    <a:lnTo>
                      <a:pt x="3801208" y="79418"/>
                    </a:lnTo>
                    <a:cubicBezTo>
                      <a:pt x="3757509" y="79418"/>
                      <a:pt x="3721790" y="44079"/>
                      <a:pt x="3721790" y="0"/>
                    </a:cubicBezTo>
                    <a:close/>
                  </a:path>
                </a:pathLst>
              </a:custGeom>
              <a:ln w="66675" cap="sq">
                <a:solidFill>
                  <a:srgbClr val="C72228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38100" y="0"/>
                <a:ext cx="3725008" cy="18216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true" flipV="false" rot="0">
            <a:off x="-781992" y="8212199"/>
            <a:ext cx="2995824" cy="3102217"/>
          </a:xfrm>
          <a:custGeom>
            <a:avLst/>
            <a:gdLst/>
            <a:ahLst/>
            <a:cxnLst/>
            <a:rect r="r" b="b" t="t" l="l"/>
            <a:pathLst>
              <a:path h="3102217" w="2995824">
                <a:moveTo>
                  <a:pt x="2995824" y="0"/>
                </a:moveTo>
                <a:lnTo>
                  <a:pt x="0" y="0"/>
                </a:lnTo>
                <a:lnTo>
                  <a:pt x="0" y="3102217"/>
                </a:lnTo>
                <a:lnTo>
                  <a:pt x="2995824" y="3102217"/>
                </a:lnTo>
                <a:lnTo>
                  <a:pt x="29958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-41724" y="0"/>
            <a:ext cx="3511040" cy="2534333"/>
          </a:xfrm>
          <a:custGeom>
            <a:avLst/>
            <a:gdLst/>
            <a:ahLst/>
            <a:cxnLst/>
            <a:rect r="r" b="b" t="t" l="l"/>
            <a:pathLst>
              <a:path h="2534333" w="3511040">
                <a:moveTo>
                  <a:pt x="3511040" y="2534333"/>
                </a:moveTo>
                <a:lnTo>
                  <a:pt x="0" y="2534333"/>
                </a:lnTo>
                <a:lnTo>
                  <a:pt x="0" y="0"/>
                </a:lnTo>
                <a:lnTo>
                  <a:pt x="3511040" y="0"/>
                </a:lnTo>
                <a:lnTo>
                  <a:pt x="3511040" y="253433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5222013" y="8077786"/>
            <a:ext cx="3147843" cy="2209214"/>
          </a:xfrm>
          <a:custGeom>
            <a:avLst/>
            <a:gdLst/>
            <a:ahLst/>
            <a:cxnLst/>
            <a:rect r="r" b="b" t="t" l="l"/>
            <a:pathLst>
              <a:path h="2209214" w="3147843">
                <a:moveTo>
                  <a:pt x="3147843" y="0"/>
                </a:moveTo>
                <a:lnTo>
                  <a:pt x="0" y="0"/>
                </a:lnTo>
                <a:lnTo>
                  <a:pt x="0" y="2209214"/>
                </a:lnTo>
                <a:lnTo>
                  <a:pt x="3147843" y="2209214"/>
                </a:lnTo>
                <a:lnTo>
                  <a:pt x="314784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060773" y="5067300"/>
            <a:ext cx="6083227" cy="540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94" indent="-334647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Indíviduos e Interações;</a:t>
            </a:r>
          </a:p>
        </p:txBody>
      </p:sp>
      <p:sp>
        <p:nvSpPr>
          <p:cNvPr name="Freeform 14" id="14"/>
          <p:cNvSpPr/>
          <p:nvPr/>
        </p:nvSpPr>
        <p:spPr>
          <a:xfrm flipH="false" flipV="true" rot="1474513">
            <a:off x="16261278" y="-962399"/>
            <a:ext cx="3127720" cy="3675597"/>
          </a:xfrm>
          <a:custGeom>
            <a:avLst/>
            <a:gdLst/>
            <a:ahLst/>
            <a:cxnLst/>
            <a:rect r="r" b="b" t="t" l="l"/>
            <a:pathLst>
              <a:path h="3675597" w="3127720">
                <a:moveTo>
                  <a:pt x="0" y="3675597"/>
                </a:moveTo>
                <a:lnTo>
                  <a:pt x="3127719" y="3675597"/>
                </a:lnTo>
                <a:lnTo>
                  <a:pt x="3127719" y="0"/>
                </a:lnTo>
                <a:lnTo>
                  <a:pt x="0" y="0"/>
                </a:lnTo>
                <a:lnTo>
                  <a:pt x="0" y="367559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338354" y="1790818"/>
            <a:ext cx="1408623" cy="1487030"/>
          </a:xfrm>
          <a:custGeom>
            <a:avLst/>
            <a:gdLst/>
            <a:ahLst/>
            <a:cxnLst/>
            <a:rect r="r" b="b" t="t" l="l"/>
            <a:pathLst>
              <a:path h="1487030" w="1408623">
                <a:moveTo>
                  <a:pt x="0" y="0"/>
                </a:moveTo>
                <a:lnTo>
                  <a:pt x="1408623" y="0"/>
                </a:lnTo>
                <a:lnTo>
                  <a:pt x="1408623" y="1487030"/>
                </a:lnTo>
                <a:lnTo>
                  <a:pt x="0" y="14870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4614110">
            <a:off x="17566900" y="6727958"/>
            <a:ext cx="1264825" cy="1196571"/>
          </a:xfrm>
          <a:custGeom>
            <a:avLst/>
            <a:gdLst/>
            <a:ahLst/>
            <a:cxnLst/>
            <a:rect r="r" b="b" t="t" l="l"/>
            <a:pathLst>
              <a:path h="1196571" w="1264825">
                <a:moveTo>
                  <a:pt x="0" y="0"/>
                </a:moveTo>
                <a:lnTo>
                  <a:pt x="1264825" y="0"/>
                </a:lnTo>
                <a:lnTo>
                  <a:pt x="1264825" y="1196571"/>
                </a:lnTo>
                <a:lnTo>
                  <a:pt x="0" y="119657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3766131" y="2534333"/>
            <a:ext cx="10755738" cy="1306810"/>
            <a:chOff x="0" y="0"/>
            <a:chExt cx="2832787" cy="3441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832787" cy="344180"/>
            </a:xfrm>
            <a:custGeom>
              <a:avLst/>
              <a:gdLst/>
              <a:ahLst/>
              <a:cxnLst/>
              <a:rect r="r" b="b" t="t" l="l"/>
              <a:pathLst>
                <a:path h="344180" w="2832787">
                  <a:moveTo>
                    <a:pt x="2832787" y="0"/>
                  </a:moveTo>
                  <a:lnTo>
                    <a:pt x="0" y="0"/>
                  </a:lnTo>
                  <a:lnTo>
                    <a:pt x="101600" y="172090"/>
                  </a:lnTo>
                  <a:lnTo>
                    <a:pt x="0" y="344180"/>
                  </a:lnTo>
                  <a:lnTo>
                    <a:pt x="2832787" y="344180"/>
                  </a:lnTo>
                  <a:lnTo>
                    <a:pt x="2731187" y="172090"/>
                  </a:lnTo>
                  <a:lnTo>
                    <a:pt x="2832787" y="0"/>
                  </a:lnTo>
                  <a:close/>
                </a:path>
              </a:pathLst>
            </a:custGeom>
            <a:solidFill>
              <a:srgbClr val="64050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88900" y="-38100"/>
              <a:ext cx="2654987" cy="382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5400000">
            <a:off x="2898465" y="2696641"/>
            <a:ext cx="1306810" cy="982194"/>
            <a:chOff x="0" y="0"/>
            <a:chExt cx="344180" cy="25868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44180" cy="258685"/>
            </a:xfrm>
            <a:custGeom>
              <a:avLst/>
              <a:gdLst/>
              <a:ahLst/>
              <a:cxnLst/>
              <a:rect r="r" b="b" t="t" l="l"/>
              <a:pathLst>
                <a:path h="258685" w="344180">
                  <a:moveTo>
                    <a:pt x="344180" y="0"/>
                  </a:moveTo>
                  <a:lnTo>
                    <a:pt x="344180" y="144385"/>
                  </a:lnTo>
                  <a:lnTo>
                    <a:pt x="172090" y="258685"/>
                  </a:lnTo>
                  <a:lnTo>
                    <a:pt x="0" y="144385"/>
                  </a:lnTo>
                  <a:lnTo>
                    <a:pt x="0" y="0"/>
                  </a:lnTo>
                  <a:lnTo>
                    <a:pt x="344180" y="0"/>
                  </a:lnTo>
                  <a:close/>
                </a:path>
              </a:pathLst>
            </a:custGeom>
            <a:solidFill>
              <a:srgbClr val="64050C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44180" cy="182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5400000">
            <a:off x="14082725" y="2696641"/>
            <a:ext cx="1306810" cy="982194"/>
            <a:chOff x="0" y="0"/>
            <a:chExt cx="344180" cy="25868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44180" cy="258685"/>
            </a:xfrm>
            <a:custGeom>
              <a:avLst/>
              <a:gdLst/>
              <a:ahLst/>
              <a:cxnLst/>
              <a:rect r="r" b="b" t="t" l="l"/>
              <a:pathLst>
                <a:path h="258685" w="344180">
                  <a:moveTo>
                    <a:pt x="344180" y="0"/>
                  </a:moveTo>
                  <a:lnTo>
                    <a:pt x="344180" y="144385"/>
                  </a:lnTo>
                  <a:lnTo>
                    <a:pt x="172090" y="258685"/>
                  </a:lnTo>
                  <a:lnTo>
                    <a:pt x="0" y="144385"/>
                  </a:lnTo>
                  <a:lnTo>
                    <a:pt x="0" y="0"/>
                  </a:lnTo>
                  <a:lnTo>
                    <a:pt x="344180" y="0"/>
                  </a:lnTo>
                  <a:close/>
                </a:path>
              </a:pathLst>
            </a:custGeom>
            <a:solidFill>
              <a:srgbClr val="64050C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44180" cy="182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4265140" y="2890498"/>
            <a:ext cx="9757720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OS 4 VALORES DO MANIFESTO ÁGIL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060773" y="6836409"/>
            <a:ext cx="6083227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Software em Funcionamento;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144000" y="5090795"/>
            <a:ext cx="6083227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Colaboração com o Cliente;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38786" y="6836409"/>
            <a:ext cx="6083227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Responder as Mudanças.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21712" y="-6687573"/>
            <a:ext cx="16601806" cy="16450880"/>
          </a:xfrm>
          <a:custGeom>
            <a:avLst/>
            <a:gdLst/>
            <a:ahLst/>
            <a:cxnLst/>
            <a:rect r="r" b="b" t="t" l="l"/>
            <a:pathLst>
              <a:path h="16450880" w="16601806">
                <a:moveTo>
                  <a:pt x="0" y="0"/>
                </a:moveTo>
                <a:lnTo>
                  <a:pt x="16601805" y="0"/>
                </a:lnTo>
                <a:lnTo>
                  <a:pt x="16601805" y="16450881"/>
                </a:lnTo>
                <a:lnTo>
                  <a:pt x="0" y="164508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09284" y="1609202"/>
            <a:ext cx="15469431" cy="7813312"/>
            <a:chOff x="0" y="0"/>
            <a:chExt cx="20625908" cy="1041775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0625908" cy="10417750"/>
              <a:chOff x="0" y="0"/>
              <a:chExt cx="3955689" cy="199794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955688" cy="1997942"/>
              </a:xfrm>
              <a:custGeom>
                <a:avLst/>
                <a:gdLst/>
                <a:ahLst/>
                <a:cxnLst/>
                <a:rect r="r" b="b" t="t" l="l"/>
                <a:pathLst>
                  <a:path h="1997942" w="3955688">
                    <a:moveTo>
                      <a:pt x="387627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918524"/>
                    </a:lnTo>
                    <a:cubicBezTo>
                      <a:pt x="43699" y="1918524"/>
                      <a:pt x="79418" y="1953863"/>
                      <a:pt x="79418" y="1997942"/>
                    </a:cubicBezTo>
                    <a:lnTo>
                      <a:pt x="3876270" y="1997942"/>
                    </a:lnTo>
                    <a:cubicBezTo>
                      <a:pt x="3876270" y="1954243"/>
                      <a:pt x="3911609" y="1918524"/>
                      <a:pt x="3955688" y="1918524"/>
                    </a:cubicBezTo>
                    <a:lnTo>
                      <a:pt x="3955688" y="79418"/>
                    </a:lnTo>
                    <a:cubicBezTo>
                      <a:pt x="3911989" y="79418"/>
                      <a:pt x="3876270" y="44079"/>
                      <a:pt x="3876270" y="0"/>
                    </a:cubicBezTo>
                    <a:close/>
                  </a:path>
                </a:pathLst>
              </a:custGeom>
              <a:ln w="123825" cap="sq">
                <a:solidFill>
                  <a:srgbClr val="64050C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38100" y="0"/>
                <a:ext cx="3879489" cy="19598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390050" y="360355"/>
              <a:ext cx="19820409" cy="9697040"/>
              <a:chOff x="0" y="0"/>
              <a:chExt cx="3801208" cy="185972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801208" cy="1859723"/>
              </a:xfrm>
              <a:custGeom>
                <a:avLst/>
                <a:gdLst/>
                <a:ahLst/>
                <a:cxnLst/>
                <a:rect r="r" b="b" t="t" l="l"/>
                <a:pathLst>
                  <a:path h="1859723" w="3801208">
                    <a:moveTo>
                      <a:pt x="372179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780305"/>
                    </a:lnTo>
                    <a:cubicBezTo>
                      <a:pt x="43699" y="1780305"/>
                      <a:pt x="79418" y="1815644"/>
                      <a:pt x="79418" y="1859723"/>
                    </a:cubicBezTo>
                    <a:lnTo>
                      <a:pt x="3721790" y="1859723"/>
                    </a:lnTo>
                    <a:cubicBezTo>
                      <a:pt x="3721790" y="1816023"/>
                      <a:pt x="3757129" y="1780305"/>
                      <a:pt x="3801208" y="1780305"/>
                    </a:cubicBezTo>
                    <a:lnTo>
                      <a:pt x="3801208" y="79418"/>
                    </a:lnTo>
                    <a:cubicBezTo>
                      <a:pt x="3757509" y="79418"/>
                      <a:pt x="3721790" y="44079"/>
                      <a:pt x="3721790" y="0"/>
                    </a:cubicBezTo>
                    <a:close/>
                  </a:path>
                </a:pathLst>
              </a:custGeom>
              <a:ln w="66675" cap="sq">
                <a:solidFill>
                  <a:srgbClr val="C72228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38100" y="0"/>
                <a:ext cx="3725008" cy="18216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true" flipV="false" rot="0">
            <a:off x="-781992" y="8212199"/>
            <a:ext cx="2995824" cy="3102217"/>
          </a:xfrm>
          <a:custGeom>
            <a:avLst/>
            <a:gdLst/>
            <a:ahLst/>
            <a:cxnLst/>
            <a:rect r="r" b="b" t="t" l="l"/>
            <a:pathLst>
              <a:path h="3102217" w="2995824">
                <a:moveTo>
                  <a:pt x="2995824" y="0"/>
                </a:moveTo>
                <a:lnTo>
                  <a:pt x="0" y="0"/>
                </a:lnTo>
                <a:lnTo>
                  <a:pt x="0" y="3102217"/>
                </a:lnTo>
                <a:lnTo>
                  <a:pt x="2995824" y="3102217"/>
                </a:lnTo>
                <a:lnTo>
                  <a:pt x="29958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-41724" y="0"/>
            <a:ext cx="3511040" cy="2534333"/>
          </a:xfrm>
          <a:custGeom>
            <a:avLst/>
            <a:gdLst/>
            <a:ahLst/>
            <a:cxnLst/>
            <a:rect r="r" b="b" t="t" l="l"/>
            <a:pathLst>
              <a:path h="2534333" w="3511040">
                <a:moveTo>
                  <a:pt x="3511040" y="2534333"/>
                </a:moveTo>
                <a:lnTo>
                  <a:pt x="0" y="2534333"/>
                </a:lnTo>
                <a:lnTo>
                  <a:pt x="0" y="0"/>
                </a:lnTo>
                <a:lnTo>
                  <a:pt x="3511040" y="0"/>
                </a:lnTo>
                <a:lnTo>
                  <a:pt x="3511040" y="253433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5222013" y="8077786"/>
            <a:ext cx="3147843" cy="2209214"/>
          </a:xfrm>
          <a:custGeom>
            <a:avLst/>
            <a:gdLst/>
            <a:ahLst/>
            <a:cxnLst/>
            <a:rect r="r" b="b" t="t" l="l"/>
            <a:pathLst>
              <a:path h="2209214" w="3147843">
                <a:moveTo>
                  <a:pt x="3147843" y="0"/>
                </a:moveTo>
                <a:lnTo>
                  <a:pt x="0" y="0"/>
                </a:lnTo>
                <a:lnTo>
                  <a:pt x="0" y="2209214"/>
                </a:lnTo>
                <a:lnTo>
                  <a:pt x="3147843" y="2209214"/>
                </a:lnTo>
                <a:lnTo>
                  <a:pt x="314784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1474513">
            <a:off x="16261278" y="-962399"/>
            <a:ext cx="3127720" cy="3675597"/>
          </a:xfrm>
          <a:custGeom>
            <a:avLst/>
            <a:gdLst/>
            <a:ahLst/>
            <a:cxnLst/>
            <a:rect r="r" b="b" t="t" l="l"/>
            <a:pathLst>
              <a:path h="3675597" w="3127720">
                <a:moveTo>
                  <a:pt x="0" y="3675597"/>
                </a:moveTo>
                <a:lnTo>
                  <a:pt x="3127719" y="3675597"/>
                </a:lnTo>
                <a:lnTo>
                  <a:pt x="3127719" y="0"/>
                </a:lnTo>
                <a:lnTo>
                  <a:pt x="0" y="0"/>
                </a:lnTo>
                <a:lnTo>
                  <a:pt x="0" y="367559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338354" y="1790818"/>
            <a:ext cx="1408623" cy="1487030"/>
          </a:xfrm>
          <a:custGeom>
            <a:avLst/>
            <a:gdLst/>
            <a:ahLst/>
            <a:cxnLst/>
            <a:rect r="r" b="b" t="t" l="l"/>
            <a:pathLst>
              <a:path h="1487030" w="1408623">
                <a:moveTo>
                  <a:pt x="0" y="0"/>
                </a:moveTo>
                <a:lnTo>
                  <a:pt x="1408623" y="0"/>
                </a:lnTo>
                <a:lnTo>
                  <a:pt x="1408623" y="1487030"/>
                </a:lnTo>
                <a:lnTo>
                  <a:pt x="0" y="14870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4614110">
            <a:off x="17566900" y="6727958"/>
            <a:ext cx="1264825" cy="1196571"/>
          </a:xfrm>
          <a:custGeom>
            <a:avLst/>
            <a:gdLst/>
            <a:ahLst/>
            <a:cxnLst/>
            <a:rect r="r" b="b" t="t" l="l"/>
            <a:pathLst>
              <a:path h="1196571" w="1264825">
                <a:moveTo>
                  <a:pt x="0" y="0"/>
                </a:moveTo>
                <a:lnTo>
                  <a:pt x="1264825" y="0"/>
                </a:lnTo>
                <a:lnTo>
                  <a:pt x="1264825" y="1196571"/>
                </a:lnTo>
                <a:lnTo>
                  <a:pt x="0" y="119657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042967" y="4208773"/>
            <a:ext cx="4824105" cy="565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55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1. Satisfação do cliente</a:t>
            </a:r>
          </a:p>
          <a:p>
            <a:pPr algn="l">
              <a:lnSpc>
                <a:spcPts val="5655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2. Mudanças são bem-vindas</a:t>
            </a:r>
          </a:p>
          <a:p>
            <a:pPr algn="l">
              <a:lnSpc>
                <a:spcPts val="5655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3. Entregas frequentes</a:t>
            </a:r>
          </a:p>
          <a:p>
            <a:pPr algn="l">
              <a:lnSpc>
                <a:spcPts val="5655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4. Colaboração diária</a:t>
            </a:r>
          </a:p>
          <a:p>
            <a:pPr algn="l">
              <a:lnSpc>
                <a:spcPts val="5655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5. Pessoas motivadas</a:t>
            </a:r>
          </a:p>
          <a:p>
            <a:pPr algn="l">
              <a:lnSpc>
                <a:spcPts val="5655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6. Comunicação direta</a:t>
            </a:r>
          </a:p>
          <a:p>
            <a:pPr algn="l">
              <a:lnSpc>
                <a:spcPts val="5655"/>
              </a:lnSpc>
            </a:pPr>
          </a:p>
          <a:p>
            <a:pPr algn="l">
              <a:lnSpc>
                <a:spcPts val="5655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9899887" y="4208773"/>
            <a:ext cx="4621982" cy="494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55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7. Software funcionando</a:t>
            </a:r>
          </a:p>
          <a:p>
            <a:pPr algn="just">
              <a:lnSpc>
                <a:spcPts val="5655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8. Ritmo sustentável</a:t>
            </a:r>
          </a:p>
          <a:p>
            <a:pPr algn="just">
              <a:lnSpc>
                <a:spcPts val="5655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. Excelência técnica</a:t>
            </a:r>
          </a:p>
          <a:p>
            <a:pPr algn="just">
              <a:lnSpc>
                <a:spcPts val="5655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10. Simplicidade</a:t>
            </a:r>
          </a:p>
          <a:p>
            <a:pPr algn="just">
              <a:lnSpc>
                <a:spcPts val="5655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. Times auto-organizáveis</a:t>
            </a:r>
          </a:p>
          <a:p>
            <a:pPr algn="just">
              <a:lnSpc>
                <a:spcPts val="5655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12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. Melhoria contínua</a:t>
            </a:r>
          </a:p>
          <a:p>
            <a:pPr algn="just">
              <a:lnSpc>
                <a:spcPts val="5655"/>
              </a:lnSpc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3060773" y="2155163"/>
            <a:ext cx="12166455" cy="1306810"/>
            <a:chOff x="0" y="0"/>
            <a:chExt cx="16221940" cy="1742413"/>
          </a:xfrm>
        </p:grpSpPr>
        <p:grpSp>
          <p:nvGrpSpPr>
            <p:cNvPr name="Group 19" id="19"/>
            <p:cNvGrpSpPr/>
            <p:nvPr/>
          </p:nvGrpSpPr>
          <p:grpSpPr>
            <a:xfrm rot="-5400000">
              <a:off x="-216410" y="216410"/>
              <a:ext cx="1742413" cy="1309592"/>
              <a:chOff x="0" y="0"/>
              <a:chExt cx="344180" cy="258685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344180" cy="258685"/>
              </a:xfrm>
              <a:custGeom>
                <a:avLst/>
                <a:gdLst/>
                <a:ahLst/>
                <a:cxnLst/>
                <a:rect r="r" b="b" t="t" l="l"/>
                <a:pathLst>
                  <a:path h="258685" w="344180">
                    <a:moveTo>
                      <a:pt x="344180" y="0"/>
                    </a:moveTo>
                    <a:lnTo>
                      <a:pt x="344180" y="144385"/>
                    </a:lnTo>
                    <a:lnTo>
                      <a:pt x="172090" y="258685"/>
                    </a:lnTo>
                    <a:lnTo>
                      <a:pt x="0" y="144385"/>
                    </a:lnTo>
                    <a:lnTo>
                      <a:pt x="0" y="0"/>
                    </a:lnTo>
                    <a:lnTo>
                      <a:pt x="344180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344180" cy="1824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940478" y="0"/>
              <a:ext cx="14340984" cy="1742413"/>
              <a:chOff x="0" y="0"/>
              <a:chExt cx="2832787" cy="34418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832787" cy="344180"/>
              </a:xfrm>
              <a:custGeom>
                <a:avLst/>
                <a:gdLst/>
                <a:ahLst/>
                <a:cxnLst/>
                <a:rect r="r" b="b" t="t" l="l"/>
                <a:pathLst>
                  <a:path h="344180" w="2832787">
                    <a:moveTo>
                      <a:pt x="2832787" y="0"/>
                    </a:moveTo>
                    <a:lnTo>
                      <a:pt x="0" y="0"/>
                    </a:lnTo>
                    <a:lnTo>
                      <a:pt x="101600" y="172090"/>
                    </a:lnTo>
                    <a:lnTo>
                      <a:pt x="0" y="344180"/>
                    </a:lnTo>
                    <a:lnTo>
                      <a:pt x="2832787" y="344180"/>
                    </a:lnTo>
                    <a:lnTo>
                      <a:pt x="2731187" y="172090"/>
                    </a:lnTo>
                    <a:lnTo>
                      <a:pt x="2832787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88900" y="-38100"/>
                <a:ext cx="2654987" cy="3822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14695937" y="216410"/>
              <a:ext cx="1742413" cy="1309592"/>
              <a:chOff x="0" y="0"/>
              <a:chExt cx="344180" cy="258685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344180" cy="258685"/>
              </a:xfrm>
              <a:custGeom>
                <a:avLst/>
                <a:gdLst/>
                <a:ahLst/>
                <a:cxnLst/>
                <a:rect r="r" b="b" t="t" l="l"/>
                <a:pathLst>
                  <a:path h="258685" w="344180">
                    <a:moveTo>
                      <a:pt x="344180" y="0"/>
                    </a:moveTo>
                    <a:lnTo>
                      <a:pt x="344180" y="144385"/>
                    </a:lnTo>
                    <a:lnTo>
                      <a:pt x="172090" y="258685"/>
                    </a:lnTo>
                    <a:lnTo>
                      <a:pt x="0" y="144385"/>
                    </a:lnTo>
                    <a:lnTo>
                      <a:pt x="0" y="0"/>
                    </a:lnTo>
                    <a:lnTo>
                      <a:pt x="344180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344180" cy="1824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28" id="28"/>
          <p:cNvSpPr txBox="true"/>
          <p:nvPr/>
        </p:nvSpPr>
        <p:spPr>
          <a:xfrm rot="0">
            <a:off x="3797418" y="2199651"/>
            <a:ext cx="10693163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OS 12 PRINCÍPIOS 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POR TRÁS DO MANIFESTO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68320" y="3467118"/>
            <a:ext cx="16601806" cy="16450880"/>
          </a:xfrm>
          <a:custGeom>
            <a:avLst/>
            <a:gdLst/>
            <a:ahLst/>
            <a:cxnLst/>
            <a:rect r="r" b="b" t="t" l="l"/>
            <a:pathLst>
              <a:path h="16450880" w="16601806">
                <a:moveTo>
                  <a:pt x="0" y="0"/>
                </a:moveTo>
                <a:lnTo>
                  <a:pt x="16601806" y="0"/>
                </a:lnTo>
                <a:lnTo>
                  <a:pt x="16601806" y="16450880"/>
                </a:lnTo>
                <a:lnTo>
                  <a:pt x="0" y="164508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09284" y="1609202"/>
            <a:ext cx="15469431" cy="7813312"/>
            <a:chOff x="0" y="0"/>
            <a:chExt cx="20625908" cy="1041775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0625908" cy="10417750"/>
              <a:chOff x="0" y="0"/>
              <a:chExt cx="3955689" cy="199794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955688" cy="1997942"/>
              </a:xfrm>
              <a:custGeom>
                <a:avLst/>
                <a:gdLst/>
                <a:ahLst/>
                <a:cxnLst/>
                <a:rect r="r" b="b" t="t" l="l"/>
                <a:pathLst>
                  <a:path h="1997942" w="3955688">
                    <a:moveTo>
                      <a:pt x="387627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918524"/>
                    </a:lnTo>
                    <a:cubicBezTo>
                      <a:pt x="43699" y="1918524"/>
                      <a:pt x="79418" y="1953863"/>
                      <a:pt x="79418" y="1997942"/>
                    </a:cubicBezTo>
                    <a:lnTo>
                      <a:pt x="3876270" y="1997942"/>
                    </a:lnTo>
                    <a:cubicBezTo>
                      <a:pt x="3876270" y="1954243"/>
                      <a:pt x="3911609" y="1918524"/>
                      <a:pt x="3955688" y="1918524"/>
                    </a:cubicBezTo>
                    <a:lnTo>
                      <a:pt x="3955688" y="79418"/>
                    </a:lnTo>
                    <a:cubicBezTo>
                      <a:pt x="3911989" y="79418"/>
                      <a:pt x="3876270" y="44079"/>
                      <a:pt x="3876270" y="0"/>
                    </a:cubicBezTo>
                    <a:close/>
                  </a:path>
                </a:pathLst>
              </a:custGeom>
              <a:ln w="123825" cap="sq">
                <a:solidFill>
                  <a:srgbClr val="64050C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38100" y="0"/>
                <a:ext cx="3879489" cy="19598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390050" y="360355"/>
              <a:ext cx="19820409" cy="9697040"/>
              <a:chOff x="0" y="0"/>
              <a:chExt cx="3801208" cy="185972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801208" cy="1859723"/>
              </a:xfrm>
              <a:custGeom>
                <a:avLst/>
                <a:gdLst/>
                <a:ahLst/>
                <a:cxnLst/>
                <a:rect r="r" b="b" t="t" l="l"/>
                <a:pathLst>
                  <a:path h="1859723" w="3801208">
                    <a:moveTo>
                      <a:pt x="372179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780305"/>
                    </a:lnTo>
                    <a:cubicBezTo>
                      <a:pt x="43699" y="1780305"/>
                      <a:pt x="79418" y="1815644"/>
                      <a:pt x="79418" y="1859723"/>
                    </a:cubicBezTo>
                    <a:lnTo>
                      <a:pt x="3721790" y="1859723"/>
                    </a:lnTo>
                    <a:cubicBezTo>
                      <a:pt x="3721790" y="1816023"/>
                      <a:pt x="3757129" y="1780305"/>
                      <a:pt x="3801208" y="1780305"/>
                    </a:cubicBezTo>
                    <a:lnTo>
                      <a:pt x="3801208" y="79418"/>
                    </a:lnTo>
                    <a:cubicBezTo>
                      <a:pt x="3757509" y="79418"/>
                      <a:pt x="3721790" y="44079"/>
                      <a:pt x="3721790" y="0"/>
                    </a:cubicBezTo>
                    <a:close/>
                  </a:path>
                </a:pathLst>
              </a:custGeom>
              <a:ln w="66675" cap="sq">
                <a:solidFill>
                  <a:srgbClr val="C72228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38100" y="0"/>
                <a:ext cx="3725008" cy="18216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true" flipV="false" rot="0">
            <a:off x="-781992" y="8212199"/>
            <a:ext cx="2995824" cy="3102217"/>
          </a:xfrm>
          <a:custGeom>
            <a:avLst/>
            <a:gdLst/>
            <a:ahLst/>
            <a:cxnLst/>
            <a:rect r="r" b="b" t="t" l="l"/>
            <a:pathLst>
              <a:path h="3102217" w="2995824">
                <a:moveTo>
                  <a:pt x="2995824" y="0"/>
                </a:moveTo>
                <a:lnTo>
                  <a:pt x="0" y="0"/>
                </a:lnTo>
                <a:lnTo>
                  <a:pt x="0" y="3102217"/>
                </a:lnTo>
                <a:lnTo>
                  <a:pt x="2995824" y="3102217"/>
                </a:lnTo>
                <a:lnTo>
                  <a:pt x="29958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-41724" y="0"/>
            <a:ext cx="3511040" cy="2534333"/>
          </a:xfrm>
          <a:custGeom>
            <a:avLst/>
            <a:gdLst/>
            <a:ahLst/>
            <a:cxnLst/>
            <a:rect r="r" b="b" t="t" l="l"/>
            <a:pathLst>
              <a:path h="2534333" w="3511040">
                <a:moveTo>
                  <a:pt x="3511040" y="2534333"/>
                </a:moveTo>
                <a:lnTo>
                  <a:pt x="0" y="2534333"/>
                </a:lnTo>
                <a:lnTo>
                  <a:pt x="0" y="0"/>
                </a:lnTo>
                <a:lnTo>
                  <a:pt x="3511040" y="0"/>
                </a:lnTo>
                <a:lnTo>
                  <a:pt x="3511040" y="253433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5222013" y="8077786"/>
            <a:ext cx="3147843" cy="2209214"/>
          </a:xfrm>
          <a:custGeom>
            <a:avLst/>
            <a:gdLst/>
            <a:ahLst/>
            <a:cxnLst/>
            <a:rect r="r" b="b" t="t" l="l"/>
            <a:pathLst>
              <a:path h="2209214" w="3147843">
                <a:moveTo>
                  <a:pt x="3147843" y="0"/>
                </a:moveTo>
                <a:lnTo>
                  <a:pt x="0" y="0"/>
                </a:lnTo>
                <a:lnTo>
                  <a:pt x="0" y="2209214"/>
                </a:lnTo>
                <a:lnTo>
                  <a:pt x="3147843" y="2209214"/>
                </a:lnTo>
                <a:lnTo>
                  <a:pt x="314784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1474513">
            <a:off x="16261278" y="-962399"/>
            <a:ext cx="3127720" cy="3675597"/>
          </a:xfrm>
          <a:custGeom>
            <a:avLst/>
            <a:gdLst/>
            <a:ahLst/>
            <a:cxnLst/>
            <a:rect r="r" b="b" t="t" l="l"/>
            <a:pathLst>
              <a:path h="3675597" w="3127720">
                <a:moveTo>
                  <a:pt x="0" y="3675597"/>
                </a:moveTo>
                <a:lnTo>
                  <a:pt x="3127719" y="3675597"/>
                </a:lnTo>
                <a:lnTo>
                  <a:pt x="3127719" y="0"/>
                </a:lnTo>
                <a:lnTo>
                  <a:pt x="0" y="0"/>
                </a:lnTo>
                <a:lnTo>
                  <a:pt x="0" y="367559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338354" y="1790818"/>
            <a:ext cx="1408623" cy="1487030"/>
          </a:xfrm>
          <a:custGeom>
            <a:avLst/>
            <a:gdLst/>
            <a:ahLst/>
            <a:cxnLst/>
            <a:rect r="r" b="b" t="t" l="l"/>
            <a:pathLst>
              <a:path h="1487030" w="1408623">
                <a:moveTo>
                  <a:pt x="0" y="0"/>
                </a:moveTo>
                <a:lnTo>
                  <a:pt x="1408623" y="0"/>
                </a:lnTo>
                <a:lnTo>
                  <a:pt x="1408623" y="1487030"/>
                </a:lnTo>
                <a:lnTo>
                  <a:pt x="0" y="14870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4614110">
            <a:off x="17566900" y="6727958"/>
            <a:ext cx="1264825" cy="1196571"/>
          </a:xfrm>
          <a:custGeom>
            <a:avLst/>
            <a:gdLst/>
            <a:ahLst/>
            <a:cxnLst/>
            <a:rect r="r" b="b" t="t" l="l"/>
            <a:pathLst>
              <a:path h="1196571" w="1264825">
                <a:moveTo>
                  <a:pt x="0" y="0"/>
                </a:moveTo>
                <a:lnTo>
                  <a:pt x="1264825" y="0"/>
                </a:lnTo>
                <a:lnTo>
                  <a:pt x="1264825" y="1196571"/>
                </a:lnTo>
                <a:lnTo>
                  <a:pt x="0" y="119657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875964" y="3926904"/>
            <a:ext cx="2063965" cy="1474261"/>
          </a:xfrm>
          <a:custGeom>
            <a:avLst/>
            <a:gdLst/>
            <a:ahLst/>
            <a:cxnLst/>
            <a:rect r="r" b="b" t="t" l="l"/>
            <a:pathLst>
              <a:path h="1474261" w="2063965">
                <a:moveTo>
                  <a:pt x="0" y="0"/>
                </a:moveTo>
                <a:lnTo>
                  <a:pt x="2063966" y="0"/>
                </a:lnTo>
                <a:lnTo>
                  <a:pt x="2063966" y="1474260"/>
                </a:lnTo>
                <a:lnTo>
                  <a:pt x="0" y="147426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47705" t="-42140" r="-150703" b="-136374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3060773" y="2155163"/>
            <a:ext cx="12166455" cy="1306810"/>
            <a:chOff x="0" y="0"/>
            <a:chExt cx="16221940" cy="1742413"/>
          </a:xfrm>
        </p:grpSpPr>
        <p:grpSp>
          <p:nvGrpSpPr>
            <p:cNvPr name="Group 18" id="18"/>
            <p:cNvGrpSpPr/>
            <p:nvPr/>
          </p:nvGrpSpPr>
          <p:grpSpPr>
            <a:xfrm rot="-5400000">
              <a:off x="-216410" y="216410"/>
              <a:ext cx="1742413" cy="1309592"/>
              <a:chOff x="0" y="0"/>
              <a:chExt cx="344180" cy="25868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344180" cy="258685"/>
              </a:xfrm>
              <a:custGeom>
                <a:avLst/>
                <a:gdLst/>
                <a:ahLst/>
                <a:cxnLst/>
                <a:rect r="r" b="b" t="t" l="l"/>
                <a:pathLst>
                  <a:path h="258685" w="344180">
                    <a:moveTo>
                      <a:pt x="344180" y="0"/>
                    </a:moveTo>
                    <a:lnTo>
                      <a:pt x="344180" y="144385"/>
                    </a:lnTo>
                    <a:lnTo>
                      <a:pt x="172090" y="258685"/>
                    </a:lnTo>
                    <a:lnTo>
                      <a:pt x="0" y="144385"/>
                    </a:lnTo>
                    <a:lnTo>
                      <a:pt x="0" y="0"/>
                    </a:lnTo>
                    <a:lnTo>
                      <a:pt x="344180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344180" cy="1824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940478" y="0"/>
              <a:ext cx="14340984" cy="1742413"/>
              <a:chOff x="0" y="0"/>
              <a:chExt cx="2832787" cy="34418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832787" cy="344180"/>
              </a:xfrm>
              <a:custGeom>
                <a:avLst/>
                <a:gdLst/>
                <a:ahLst/>
                <a:cxnLst/>
                <a:rect r="r" b="b" t="t" l="l"/>
                <a:pathLst>
                  <a:path h="344180" w="2832787">
                    <a:moveTo>
                      <a:pt x="2832787" y="0"/>
                    </a:moveTo>
                    <a:lnTo>
                      <a:pt x="0" y="0"/>
                    </a:lnTo>
                    <a:lnTo>
                      <a:pt x="101600" y="172090"/>
                    </a:lnTo>
                    <a:lnTo>
                      <a:pt x="0" y="344180"/>
                    </a:lnTo>
                    <a:lnTo>
                      <a:pt x="2832787" y="344180"/>
                    </a:lnTo>
                    <a:lnTo>
                      <a:pt x="2731187" y="172090"/>
                    </a:lnTo>
                    <a:lnTo>
                      <a:pt x="2832787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88900" y="-38100"/>
                <a:ext cx="2654987" cy="3822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5400000">
              <a:off x="14695937" y="216410"/>
              <a:ext cx="1742413" cy="1309592"/>
              <a:chOff x="0" y="0"/>
              <a:chExt cx="344180" cy="258685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344180" cy="258685"/>
              </a:xfrm>
              <a:custGeom>
                <a:avLst/>
                <a:gdLst/>
                <a:ahLst/>
                <a:cxnLst/>
                <a:rect r="r" b="b" t="t" l="l"/>
                <a:pathLst>
                  <a:path h="258685" w="344180">
                    <a:moveTo>
                      <a:pt x="344180" y="0"/>
                    </a:moveTo>
                    <a:lnTo>
                      <a:pt x="344180" y="144385"/>
                    </a:lnTo>
                    <a:lnTo>
                      <a:pt x="172090" y="258685"/>
                    </a:lnTo>
                    <a:lnTo>
                      <a:pt x="0" y="144385"/>
                    </a:lnTo>
                    <a:lnTo>
                      <a:pt x="0" y="0"/>
                    </a:lnTo>
                    <a:lnTo>
                      <a:pt x="344180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344180" cy="1824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1636069" y="508733"/>
              <a:ext cx="12949802" cy="880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CONTEXTO HISTÓRICO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9726577" y="4336449"/>
            <a:ext cx="1818255" cy="1179409"/>
          </a:xfrm>
          <a:custGeom>
            <a:avLst/>
            <a:gdLst/>
            <a:ahLst/>
            <a:cxnLst/>
            <a:rect r="r" b="b" t="t" l="l"/>
            <a:pathLst>
              <a:path h="1179409" w="1818255">
                <a:moveTo>
                  <a:pt x="0" y="0"/>
                </a:moveTo>
                <a:lnTo>
                  <a:pt x="1818255" y="0"/>
                </a:lnTo>
                <a:lnTo>
                  <a:pt x="1818255" y="1179409"/>
                </a:lnTo>
                <a:lnTo>
                  <a:pt x="0" y="117940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165266" t="-60862" r="-58481" b="-171878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2875964" y="6636950"/>
            <a:ext cx="1958633" cy="1378588"/>
          </a:xfrm>
          <a:custGeom>
            <a:avLst/>
            <a:gdLst/>
            <a:ahLst/>
            <a:cxnLst/>
            <a:rect r="r" b="b" t="t" l="l"/>
            <a:pathLst>
              <a:path h="1378588" w="1958633">
                <a:moveTo>
                  <a:pt x="0" y="0"/>
                </a:moveTo>
                <a:lnTo>
                  <a:pt x="1958633" y="0"/>
                </a:lnTo>
                <a:lnTo>
                  <a:pt x="1958633" y="1378588"/>
                </a:lnTo>
                <a:lnTo>
                  <a:pt x="0" y="137858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57837" t="-167340" r="-172854" b="-4588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9661430" y="6725909"/>
            <a:ext cx="1883402" cy="1200669"/>
          </a:xfrm>
          <a:custGeom>
            <a:avLst/>
            <a:gdLst/>
            <a:ahLst/>
            <a:cxnLst/>
            <a:rect r="r" b="b" t="t" l="l"/>
            <a:pathLst>
              <a:path h="1200669" w="1883402">
                <a:moveTo>
                  <a:pt x="0" y="0"/>
                </a:moveTo>
                <a:lnTo>
                  <a:pt x="1883402" y="0"/>
                </a:lnTo>
                <a:lnTo>
                  <a:pt x="1883402" y="1200669"/>
                </a:lnTo>
                <a:lnTo>
                  <a:pt x="0" y="12006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163001" t="-178306" r="-50302" b="-49332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5110868" y="4578309"/>
            <a:ext cx="4033132" cy="615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5" indent="-377828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Quando;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715750" y="4578309"/>
            <a:ext cx="3065094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2" indent="-377826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Onde;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160329" y="6975406"/>
            <a:ext cx="3983671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Por Quem;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715750" y="6975406"/>
            <a:ext cx="3065094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Por Quê.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34481" y="-10740869"/>
            <a:ext cx="16601806" cy="16450880"/>
          </a:xfrm>
          <a:custGeom>
            <a:avLst/>
            <a:gdLst/>
            <a:ahLst/>
            <a:cxnLst/>
            <a:rect r="r" b="b" t="t" l="l"/>
            <a:pathLst>
              <a:path h="16450880" w="16601806">
                <a:moveTo>
                  <a:pt x="0" y="0"/>
                </a:moveTo>
                <a:lnTo>
                  <a:pt x="16601806" y="0"/>
                </a:lnTo>
                <a:lnTo>
                  <a:pt x="16601806" y="16450880"/>
                </a:lnTo>
                <a:lnTo>
                  <a:pt x="0" y="164508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781992" y="8212199"/>
            <a:ext cx="2995824" cy="3102217"/>
          </a:xfrm>
          <a:custGeom>
            <a:avLst/>
            <a:gdLst/>
            <a:ahLst/>
            <a:cxnLst/>
            <a:rect r="r" b="b" t="t" l="l"/>
            <a:pathLst>
              <a:path h="3102217" w="2995824">
                <a:moveTo>
                  <a:pt x="2995824" y="0"/>
                </a:moveTo>
                <a:lnTo>
                  <a:pt x="0" y="0"/>
                </a:lnTo>
                <a:lnTo>
                  <a:pt x="0" y="3102217"/>
                </a:lnTo>
                <a:lnTo>
                  <a:pt x="2995824" y="3102217"/>
                </a:lnTo>
                <a:lnTo>
                  <a:pt x="29958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41724" y="0"/>
            <a:ext cx="3511040" cy="2534333"/>
          </a:xfrm>
          <a:custGeom>
            <a:avLst/>
            <a:gdLst/>
            <a:ahLst/>
            <a:cxnLst/>
            <a:rect r="r" b="b" t="t" l="l"/>
            <a:pathLst>
              <a:path h="2534333" w="3511040">
                <a:moveTo>
                  <a:pt x="3511040" y="2534333"/>
                </a:moveTo>
                <a:lnTo>
                  <a:pt x="0" y="2534333"/>
                </a:lnTo>
                <a:lnTo>
                  <a:pt x="0" y="0"/>
                </a:lnTo>
                <a:lnTo>
                  <a:pt x="3511040" y="0"/>
                </a:lnTo>
                <a:lnTo>
                  <a:pt x="3511040" y="253433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5222013" y="8077786"/>
            <a:ext cx="3147843" cy="2209214"/>
          </a:xfrm>
          <a:custGeom>
            <a:avLst/>
            <a:gdLst/>
            <a:ahLst/>
            <a:cxnLst/>
            <a:rect r="r" b="b" t="t" l="l"/>
            <a:pathLst>
              <a:path h="2209214" w="3147843">
                <a:moveTo>
                  <a:pt x="3147843" y="0"/>
                </a:moveTo>
                <a:lnTo>
                  <a:pt x="0" y="0"/>
                </a:lnTo>
                <a:lnTo>
                  <a:pt x="0" y="2209214"/>
                </a:lnTo>
                <a:lnTo>
                  <a:pt x="3147843" y="2209214"/>
                </a:lnTo>
                <a:lnTo>
                  <a:pt x="314784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1474513">
            <a:off x="16261278" y="-962399"/>
            <a:ext cx="3127720" cy="3675597"/>
          </a:xfrm>
          <a:custGeom>
            <a:avLst/>
            <a:gdLst/>
            <a:ahLst/>
            <a:cxnLst/>
            <a:rect r="r" b="b" t="t" l="l"/>
            <a:pathLst>
              <a:path h="3675597" w="3127720">
                <a:moveTo>
                  <a:pt x="0" y="3675597"/>
                </a:moveTo>
                <a:lnTo>
                  <a:pt x="3127719" y="3675597"/>
                </a:lnTo>
                <a:lnTo>
                  <a:pt x="3127719" y="0"/>
                </a:lnTo>
                <a:lnTo>
                  <a:pt x="0" y="0"/>
                </a:lnTo>
                <a:lnTo>
                  <a:pt x="0" y="367559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38354" y="1790818"/>
            <a:ext cx="1408623" cy="1487030"/>
          </a:xfrm>
          <a:custGeom>
            <a:avLst/>
            <a:gdLst/>
            <a:ahLst/>
            <a:cxnLst/>
            <a:rect r="r" b="b" t="t" l="l"/>
            <a:pathLst>
              <a:path h="1487030" w="1408623">
                <a:moveTo>
                  <a:pt x="0" y="0"/>
                </a:moveTo>
                <a:lnTo>
                  <a:pt x="1408623" y="0"/>
                </a:lnTo>
                <a:lnTo>
                  <a:pt x="1408623" y="1487030"/>
                </a:lnTo>
                <a:lnTo>
                  <a:pt x="0" y="14870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4614110">
            <a:off x="17566900" y="6727958"/>
            <a:ext cx="1264825" cy="1196571"/>
          </a:xfrm>
          <a:custGeom>
            <a:avLst/>
            <a:gdLst/>
            <a:ahLst/>
            <a:cxnLst/>
            <a:rect r="r" b="b" t="t" l="l"/>
            <a:pathLst>
              <a:path h="1196571" w="1264825">
                <a:moveTo>
                  <a:pt x="0" y="0"/>
                </a:moveTo>
                <a:lnTo>
                  <a:pt x="1264825" y="0"/>
                </a:lnTo>
                <a:lnTo>
                  <a:pt x="1264825" y="1196571"/>
                </a:lnTo>
                <a:lnTo>
                  <a:pt x="0" y="119657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09284" y="1609202"/>
            <a:ext cx="15469431" cy="7813312"/>
            <a:chOff x="0" y="0"/>
            <a:chExt cx="20625908" cy="1041775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0625908" cy="10417750"/>
              <a:chOff x="0" y="0"/>
              <a:chExt cx="3955689" cy="199794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955688" cy="1997942"/>
              </a:xfrm>
              <a:custGeom>
                <a:avLst/>
                <a:gdLst/>
                <a:ahLst/>
                <a:cxnLst/>
                <a:rect r="r" b="b" t="t" l="l"/>
                <a:pathLst>
                  <a:path h="1997942" w="3955688">
                    <a:moveTo>
                      <a:pt x="387627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918524"/>
                    </a:lnTo>
                    <a:cubicBezTo>
                      <a:pt x="43699" y="1918524"/>
                      <a:pt x="79418" y="1953863"/>
                      <a:pt x="79418" y="1997942"/>
                    </a:cubicBezTo>
                    <a:lnTo>
                      <a:pt x="3876270" y="1997942"/>
                    </a:lnTo>
                    <a:cubicBezTo>
                      <a:pt x="3876270" y="1954243"/>
                      <a:pt x="3911609" y="1918524"/>
                      <a:pt x="3955688" y="1918524"/>
                    </a:cubicBezTo>
                    <a:lnTo>
                      <a:pt x="3955688" y="79418"/>
                    </a:lnTo>
                    <a:cubicBezTo>
                      <a:pt x="3911989" y="79418"/>
                      <a:pt x="3876270" y="44079"/>
                      <a:pt x="3876270" y="0"/>
                    </a:cubicBezTo>
                    <a:close/>
                  </a:path>
                </a:pathLst>
              </a:custGeom>
              <a:ln w="123825" cap="sq">
                <a:solidFill>
                  <a:srgbClr val="64050C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38100" y="0"/>
                <a:ext cx="3879489" cy="19598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390050" y="360355"/>
              <a:ext cx="19820409" cy="9697040"/>
              <a:chOff x="0" y="0"/>
              <a:chExt cx="3801208" cy="185972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801208" cy="1859723"/>
              </a:xfrm>
              <a:custGeom>
                <a:avLst/>
                <a:gdLst/>
                <a:ahLst/>
                <a:cxnLst/>
                <a:rect r="r" b="b" t="t" l="l"/>
                <a:pathLst>
                  <a:path h="1859723" w="3801208">
                    <a:moveTo>
                      <a:pt x="372179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780305"/>
                    </a:lnTo>
                    <a:cubicBezTo>
                      <a:pt x="43699" y="1780305"/>
                      <a:pt x="79418" y="1815644"/>
                      <a:pt x="79418" y="1859723"/>
                    </a:cubicBezTo>
                    <a:lnTo>
                      <a:pt x="3721790" y="1859723"/>
                    </a:lnTo>
                    <a:cubicBezTo>
                      <a:pt x="3721790" y="1816023"/>
                      <a:pt x="3757129" y="1780305"/>
                      <a:pt x="3801208" y="1780305"/>
                    </a:cubicBezTo>
                    <a:lnTo>
                      <a:pt x="3801208" y="79418"/>
                    </a:lnTo>
                    <a:cubicBezTo>
                      <a:pt x="3757509" y="79418"/>
                      <a:pt x="3721790" y="44079"/>
                      <a:pt x="3721790" y="0"/>
                    </a:cubicBezTo>
                    <a:close/>
                  </a:path>
                </a:pathLst>
              </a:custGeom>
              <a:ln w="66675" cap="sq">
                <a:solidFill>
                  <a:srgbClr val="C72228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38100" y="0"/>
                <a:ext cx="3725008" cy="18216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0">
            <a:off x="3060773" y="2155163"/>
            <a:ext cx="12166455" cy="1386830"/>
            <a:chOff x="0" y="0"/>
            <a:chExt cx="16221940" cy="1849107"/>
          </a:xfrm>
        </p:grpSpPr>
        <p:grpSp>
          <p:nvGrpSpPr>
            <p:cNvPr name="Group 17" id="17"/>
            <p:cNvGrpSpPr/>
            <p:nvPr/>
          </p:nvGrpSpPr>
          <p:grpSpPr>
            <a:xfrm rot="-5400000">
              <a:off x="-216410" y="216410"/>
              <a:ext cx="1742413" cy="1309592"/>
              <a:chOff x="0" y="0"/>
              <a:chExt cx="344180" cy="25868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44180" cy="258685"/>
              </a:xfrm>
              <a:custGeom>
                <a:avLst/>
                <a:gdLst/>
                <a:ahLst/>
                <a:cxnLst/>
                <a:rect r="r" b="b" t="t" l="l"/>
                <a:pathLst>
                  <a:path h="258685" w="344180">
                    <a:moveTo>
                      <a:pt x="344180" y="0"/>
                    </a:moveTo>
                    <a:lnTo>
                      <a:pt x="344180" y="144385"/>
                    </a:lnTo>
                    <a:lnTo>
                      <a:pt x="172090" y="258685"/>
                    </a:lnTo>
                    <a:lnTo>
                      <a:pt x="0" y="144385"/>
                    </a:lnTo>
                    <a:lnTo>
                      <a:pt x="0" y="0"/>
                    </a:lnTo>
                    <a:lnTo>
                      <a:pt x="344180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344180" cy="1824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940478" y="0"/>
              <a:ext cx="14340984" cy="1742413"/>
              <a:chOff x="0" y="0"/>
              <a:chExt cx="2832787" cy="34418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832787" cy="344180"/>
              </a:xfrm>
              <a:custGeom>
                <a:avLst/>
                <a:gdLst/>
                <a:ahLst/>
                <a:cxnLst/>
                <a:rect r="r" b="b" t="t" l="l"/>
                <a:pathLst>
                  <a:path h="344180" w="2832787">
                    <a:moveTo>
                      <a:pt x="2832787" y="0"/>
                    </a:moveTo>
                    <a:lnTo>
                      <a:pt x="0" y="0"/>
                    </a:lnTo>
                    <a:lnTo>
                      <a:pt x="101600" y="172090"/>
                    </a:lnTo>
                    <a:lnTo>
                      <a:pt x="0" y="344180"/>
                    </a:lnTo>
                    <a:lnTo>
                      <a:pt x="2832787" y="344180"/>
                    </a:lnTo>
                    <a:lnTo>
                      <a:pt x="2731187" y="172090"/>
                    </a:lnTo>
                    <a:lnTo>
                      <a:pt x="2832787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88900" y="-38100"/>
                <a:ext cx="2654987" cy="3822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5400000">
              <a:off x="14695937" y="216410"/>
              <a:ext cx="1742413" cy="1309592"/>
              <a:chOff x="0" y="0"/>
              <a:chExt cx="344180" cy="25868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344180" cy="258685"/>
              </a:xfrm>
              <a:custGeom>
                <a:avLst/>
                <a:gdLst/>
                <a:ahLst/>
                <a:cxnLst/>
                <a:rect r="r" b="b" t="t" l="l"/>
                <a:pathLst>
                  <a:path h="258685" w="344180">
                    <a:moveTo>
                      <a:pt x="344180" y="0"/>
                    </a:moveTo>
                    <a:lnTo>
                      <a:pt x="344180" y="144385"/>
                    </a:lnTo>
                    <a:lnTo>
                      <a:pt x="172090" y="258685"/>
                    </a:lnTo>
                    <a:lnTo>
                      <a:pt x="0" y="144385"/>
                    </a:lnTo>
                    <a:lnTo>
                      <a:pt x="0" y="0"/>
                    </a:lnTo>
                    <a:lnTo>
                      <a:pt x="344180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344180" cy="1824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1636069" y="28773"/>
              <a:ext cx="12949802" cy="18203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AGILIDADE       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FALTA DE PLANEJAMENTO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1780307" y="4295775"/>
            <a:ext cx="3166224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spc="267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Agilidade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573926" y="1943738"/>
            <a:ext cx="922916" cy="814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9"/>
              </a:lnSpc>
            </a:pPr>
            <a:r>
              <a:rPr lang="en-US" sz="4699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X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060773" y="4307460"/>
            <a:ext cx="5270276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7500"/>
              </a:lnSpc>
              <a:buFont typeface="Arial"/>
              <a:buChar char="•"/>
            </a:pPr>
            <a:r>
              <a:rPr lang="en-US" sz="3000" spc="267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Falta de Planejamento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4417585" y="5460622"/>
            <a:ext cx="2556651" cy="2617164"/>
          </a:xfrm>
          <a:custGeom>
            <a:avLst/>
            <a:gdLst/>
            <a:ahLst/>
            <a:cxnLst/>
            <a:rect r="r" b="b" t="t" l="l"/>
            <a:pathLst>
              <a:path h="2617164" w="2556651">
                <a:moveTo>
                  <a:pt x="0" y="0"/>
                </a:moveTo>
                <a:lnTo>
                  <a:pt x="2556651" y="0"/>
                </a:lnTo>
                <a:lnTo>
                  <a:pt x="2556651" y="2617164"/>
                </a:lnTo>
                <a:lnTo>
                  <a:pt x="0" y="261716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86000"/>
            </a:blip>
            <a:stretch>
              <a:fillRect l="-145639" t="-32347" r="-9379" b="-3363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9045566" y="5332358"/>
            <a:ext cx="1128230" cy="1181956"/>
          </a:xfrm>
          <a:custGeom>
            <a:avLst/>
            <a:gdLst/>
            <a:ahLst/>
            <a:cxnLst/>
            <a:rect r="r" b="b" t="t" l="l"/>
            <a:pathLst>
              <a:path h="1181956" w="1128230">
                <a:moveTo>
                  <a:pt x="0" y="0"/>
                </a:moveTo>
                <a:lnTo>
                  <a:pt x="1128230" y="0"/>
                </a:lnTo>
                <a:lnTo>
                  <a:pt x="1128230" y="1181955"/>
                </a:lnTo>
                <a:lnTo>
                  <a:pt x="0" y="118195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86000"/>
            </a:blip>
            <a:stretch>
              <a:fillRect l="-296239" t="-161576" r="-287856" b="-173485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2100222" y="5581647"/>
            <a:ext cx="2526395" cy="2496139"/>
          </a:xfrm>
          <a:custGeom>
            <a:avLst/>
            <a:gdLst/>
            <a:ahLst/>
            <a:cxnLst/>
            <a:rect r="r" b="b" t="t" l="l"/>
            <a:pathLst>
              <a:path h="2496139" w="2526395">
                <a:moveTo>
                  <a:pt x="0" y="0"/>
                </a:moveTo>
                <a:lnTo>
                  <a:pt x="2526395" y="0"/>
                </a:lnTo>
                <a:lnTo>
                  <a:pt x="2526395" y="2496139"/>
                </a:lnTo>
                <a:lnTo>
                  <a:pt x="0" y="249613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86000"/>
            </a:blip>
            <a:stretch>
              <a:fillRect l="-13296" t="-36344" r="-144776" b="-37679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094555" y="-1446314"/>
            <a:ext cx="16601806" cy="16450880"/>
          </a:xfrm>
          <a:custGeom>
            <a:avLst/>
            <a:gdLst/>
            <a:ahLst/>
            <a:cxnLst/>
            <a:rect r="r" b="b" t="t" l="l"/>
            <a:pathLst>
              <a:path h="16450880" w="16601806">
                <a:moveTo>
                  <a:pt x="0" y="0"/>
                </a:moveTo>
                <a:lnTo>
                  <a:pt x="16601806" y="0"/>
                </a:lnTo>
                <a:lnTo>
                  <a:pt x="16601806" y="16450880"/>
                </a:lnTo>
                <a:lnTo>
                  <a:pt x="0" y="164508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781992" y="8212199"/>
            <a:ext cx="2995824" cy="3102217"/>
          </a:xfrm>
          <a:custGeom>
            <a:avLst/>
            <a:gdLst/>
            <a:ahLst/>
            <a:cxnLst/>
            <a:rect r="r" b="b" t="t" l="l"/>
            <a:pathLst>
              <a:path h="3102217" w="2995824">
                <a:moveTo>
                  <a:pt x="2995824" y="0"/>
                </a:moveTo>
                <a:lnTo>
                  <a:pt x="0" y="0"/>
                </a:lnTo>
                <a:lnTo>
                  <a:pt x="0" y="3102217"/>
                </a:lnTo>
                <a:lnTo>
                  <a:pt x="2995824" y="3102217"/>
                </a:lnTo>
                <a:lnTo>
                  <a:pt x="29958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41724" y="0"/>
            <a:ext cx="3511040" cy="2534333"/>
          </a:xfrm>
          <a:custGeom>
            <a:avLst/>
            <a:gdLst/>
            <a:ahLst/>
            <a:cxnLst/>
            <a:rect r="r" b="b" t="t" l="l"/>
            <a:pathLst>
              <a:path h="2534333" w="3511040">
                <a:moveTo>
                  <a:pt x="3511040" y="2534333"/>
                </a:moveTo>
                <a:lnTo>
                  <a:pt x="0" y="2534333"/>
                </a:lnTo>
                <a:lnTo>
                  <a:pt x="0" y="0"/>
                </a:lnTo>
                <a:lnTo>
                  <a:pt x="3511040" y="0"/>
                </a:lnTo>
                <a:lnTo>
                  <a:pt x="3511040" y="253433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5222013" y="8077786"/>
            <a:ext cx="3147843" cy="2209214"/>
          </a:xfrm>
          <a:custGeom>
            <a:avLst/>
            <a:gdLst/>
            <a:ahLst/>
            <a:cxnLst/>
            <a:rect r="r" b="b" t="t" l="l"/>
            <a:pathLst>
              <a:path h="2209214" w="3147843">
                <a:moveTo>
                  <a:pt x="3147843" y="0"/>
                </a:moveTo>
                <a:lnTo>
                  <a:pt x="0" y="0"/>
                </a:lnTo>
                <a:lnTo>
                  <a:pt x="0" y="2209214"/>
                </a:lnTo>
                <a:lnTo>
                  <a:pt x="3147843" y="2209214"/>
                </a:lnTo>
                <a:lnTo>
                  <a:pt x="314784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1474513">
            <a:off x="16261278" y="-962399"/>
            <a:ext cx="3127720" cy="3675597"/>
          </a:xfrm>
          <a:custGeom>
            <a:avLst/>
            <a:gdLst/>
            <a:ahLst/>
            <a:cxnLst/>
            <a:rect r="r" b="b" t="t" l="l"/>
            <a:pathLst>
              <a:path h="3675597" w="3127720">
                <a:moveTo>
                  <a:pt x="0" y="3675597"/>
                </a:moveTo>
                <a:lnTo>
                  <a:pt x="3127719" y="3675597"/>
                </a:lnTo>
                <a:lnTo>
                  <a:pt x="3127719" y="0"/>
                </a:lnTo>
                <a:lnTo>
                  <a:pt x="0" y="0"/>
                </a:lnTo>
                <a:lnTo>
                  <a:pt x="0" y="367559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38354" y="1790818"/>
            <a:ext cx="1408623" cy="1487030"/>
          </a:xfrm>
          <a:custGeom>
            <a:avLst/>
            <a:gdLst/>
            <a:ahLst/>
            <a:cxnLst/>
            <a:rect r="r" b="b" t="t" l="l"/>
            <a:pathLst>
              <a:path h="1487030" w="1408623">
                <a:moveTo>
                  <a:pt x="0" y="0"/>
                </a:moveTo>
                <a:lnTo>
                  <a:pt x="1408623" y="0"/>
                </a:lnTo>
                <a:lnTo>
                  <a:pt x="1408623" y="1487030"/>
                </a:lnTo>
                <a:lnTo>
                  <a:pt x="0" y="14870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4614110">
            <a:off x="17566900" y="6727958"/>
            <a:ext cx="1264825" cy="1196571"/>
          </a:xfrm>
          <a:custGeom>
            <a:avLst/>
            <a:gdLst/>
            <a:ahLst/>
            <a:cxnLst/>
            <a:rect r="r" b="b" t="t" l="l"/>
            <a:pathLst>
              <a:path h="1196571" w="1264825">
                <a:moveTo>
                  <a:pt x="0" y="0"/>
                </a:moveTo>
                <a:lnTo>
                  <a:pt x="1264825" y="0"/>
                </a:lnTo>
                <a:lnTo>
                  <a:pt x="1264825" y="1196571"/>
                </a:lnTo>
                <a:lnTo>
                  <a:pt x="0" y="119657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09284" y="1609202"/>
            <a:ext cx="15469431" cy="7813312"/>
            <a:chOff x="0" y="0"/>
            <a:chExt cx="20625908" cy="1041775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0625908" cy="10417750"/>
              <a:chOff x="0" y="0"/>
              <a:chExt cx="3955689" cy="199794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955688" cy="1997942"/>
              </a:xfrm>
              <a:custGeom>
                <a:avLst/>
                <a:gdLst/>
                <a:ahLst/>
                <a:cxnLst/>
                <a:rect r="r" b="b" t="t" l="l"/>
                <a:pathLst>
                  <a:path h="1997942" w="3955688">
                    <a:moveTo>
                      <a:pt x="387627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918524"/>
                    </a:lnTo>
                    <a:cubicBezTo>
                      <a:pt x="43699" y="1918524"/>
                      <a:pt x="79418" y="1953863"/>
                      <a:pt x="79418" y="1997942"/>
                    </a:cubicBezTo>
                    <a:lnTo>
                      <a:pt x="3876270" y="1997942"/>
                    </a:lnTo>
                    <a:cubicBezTo>
                      <a:pt x="3876270" y="1954243"/>
                      <a:pt x="3911609" y="1918524"/>
                      <a:pt x="3955688" y="1918524"/>
                    </a:cubicBezTo>
                    <a:lnTo>
                      <a:pt x="3955688" y="79418"/>
                    </a:lnTo>
                    <a:cubicBezTo>
                      <a:pt x="3911989" y="79418"/>
                      <a:pt x="3876270" y="44079"/>
                      <a:pt x="3876270" y="0"/>
                    </a:cubicBezTo>
                    <a:close/>
                  </a:path>
                </a:pathLst>
              </a:custGeom>
              <a:ln w="123825" cap="sq">
                <a:solidFill>
                  <a:srgbClr val="64050C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38100" y="0"/>
                <a:ext cx="3879489" cy="19598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390050" y="360355"/>
              <a:ext cx="19820409" cy="9697040"/>
              <a:chOff x="0" y="0"/>
              <a:chExt cx="3801208" cy="185972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801208" cy="1859723"/>
              </a:xfrm>
              <a:custGeom>
                <a:avLst/>
                <a:gdLst/>
                <a:ahLst/>
                <a:cxnLst/>
                <a:rect r="r" b="b" t="t" l="l"/>
                <a:pathLst>
                  <a:path h="1859723" w="3801208">
                    <a:moveTo>
                      <a:pt x="372179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780305"/>
                    </a:lnTo>
                    <a:cubicBezTo>
                      <a:pt x="43699" y="1780305"/>
                      <a:pt x="79418" y="1815644"/>
                      <a:pt x="79418" y="1859723"/>
                    </a:cubicBezTo>
                    <a:lnTo>
                      <a:pt x="3721790" y="1859723"/>
                    </a:lnTo>
                    <a:cubicBezTo>
                      <a:pt x="3721790" y="1816023"/>
                      <a:pt x="3757129" y="1780305"/>
                      <a:pt x="3801208" y="1780305"/>
                    </a:cubicBezTo>
                    <a:lnTo>
                      <a:pt x="3801208" y="79418"/>
                    </a:lnTo>
                    <a:cubicBezTo>
                      <a:pt x="3757509" y="79418"/>
                      <a:pt x="3721790" y="44079"/>
                      <a:pt x="3721790" y="0"/>
                    </a:cubicBezTo>
                    <a:close/>
                  </a:path>
                </a:pathLst>
              </a:custGeom>
              <a:ln w="66675" cap="sq">
                <a:solidFill>
                  <a:srgbClr val="C72228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38100" y="0"/>
                <a:ext cx="3725008" cy="18216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0">
            <a:off x="3060773" y="5016596"/>
            <a:ext cx="12166455" cy="1386830"/>
            <a:chOff x="0" y="0"/>
            <a:chExt cx="16221940" cy="1849107"/>
          </a:xfrm>
        </p:grpSpPr>
        <p:grpSp>
          <p:nvGrpSpPr>
            <p:cNvPr name="Group 17" id="17"/>
            <p:cNvGrpSpPr/>
            <p:nvPr/>
          </p:nvGrpSpPr>
          <p:grpSpPr>
            <a:xfrm rot="-5400000">
              <a:off x="-216410" y="216410"/>
              <a:ext cx="1742413" cy="1309592"/>
              <a:chOff x="0" y="0"/>
              <a:chExt cx="344180" cy="25868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44180" cy="258685"/>
              </a:xfrm>
              <a:custGeom>
                <a:avLst/>
                <a:gdLst/>
                <a:ahLst/>
                <a:cxnLst/>
                <a:rect r="r" b="b" t="t" l="l"/>
                <a:pathLst>
                  <a:path h="258685" w="344180">
                    <a:moveTo>
                      <a:pt x="344180" y="0"/>
                    </a:moveTo>
                    <a:lnTo>
                      <a:pt x="344180" y="144385"/>
                    </a:lnTo>
                    <a:lnTo>
                      <a:pt x="172090" y="258685"/>
                    </a:lnTo>
                    <a:lnTo>
                      <a:pt x="0" y="144385"/>
                    </a:lnTo>
                    <a:lnTo>
                      <a:pt x="0" y="0"/>
                    </a:lnTo>
                    <a:lnTo>
                      <a:pt x="344180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344180" cy="1824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940478" y="0"/>
              <a:ext cx="14340984" cy="1742413"/>
              <a:chOff x="0" y="0"/>
              <a:chExt cx="2832787" cy="34418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832787" cy="344180"/>
              </a:xfrm>
              <a:custGeom>
                <a:avLst/>
                <a:gdLst/>
                <a:ahLst/>
                <a:cxnLst/>
                <a:rect r="r" b="b" t="t" l="l"/>
                <a:pathLst>
                  <a:path h="344180" w="2832787">
                    <a:moveTo>
                      <a:pt x="2832787" y="0"/>
                    </a:moveTo>
                    <a:lnTo>
                      <a:pt x="0" y="0"/>
                    </a:lnTo>
                    <a:lnTo>
                      <a:pt x="101600" y="172090"/>
                    </a:lnTo>
                    <a:lnTo>
                      <a:pt x="0" y="344180"/>
                    </a:lnTo>
                    <a:lnTo>
                      <a:pt x="2832787" y="344180"/>
                    </a:lnTo>
                    <a:lnTo>
                      <a:pt x="2731187" y="172090"/>
                    </a:lnTo>
                    <a:lnTo>
                      <a:pt x="2832787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88900" y="-38100"/>
                <a:ext cx="2654987" cy="3822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5400000">
              <a:off x="14695937" y="216410"/>
              <a:ext cx="1742413" cy="1309592"/>
              <a:chOff x="0" y="0"/>
              <a:chExt cx="344180" cy="25868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344180" cy="258685"/>
              </a:xfrm>
              <a:custGeom>
                <a:avLst/>
                <a:gdLst/>
                <a:ahLst/>
                <a:cxnLst/>
                <a:rect r="r" b="b" t="t" l="l"/>
                <a:pathLst>
                  <a:path h="258685" w="344180">
                    <a:moveTo>
                      <a:pt x="344180" y="0"/>
                    </a:moveTo>
                    <a:lnTo>
                      <a:pt x="344180" y="144385"/>
                    </a:lnTo>
                    <a:lnTo>
                      <a:pt x="172090" y="258685"/>
                    </a:lnTo>
                    <a:lnTo>
                      <a:pt x="0" y="144385"/>
                    </a:lnTo>
                    <a:lnTo>
                      <a:pt x="0" y="0"/>
                    </a:lnTo>
                    <a:lnTo>
                      <a:pt x="344180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344180" cy="1824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1636069" y="28773"/>
              <a:ext cx="12949802" cy="18203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CARACTERÍSTICAS, VANTAGENS E DESAFIOS DOS 12 PRINCÍPIOS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5070462" y="2119604"/>
            <a:ext cx="785722" cy="829457"/>
          </a:xfrm>
          <a:custGeom>
            <a:avLst/>
            <a:gdLst/>
            <a:ahLst/>
            <a:cxnLst/>
            <a:rect r="r" b="b" t="t" l="l"/>
            <a:pathLst>
              <a:path h="829457" w="785722">
                <a:moveTo>
                  <a:pt x="0" y="0"/>
                </a:moveTo>
                <a:lnTo>
                  <a:pt x="785722" y="0"/>
                </a:lnTo>
                <a:lnTo>
                  <a:pt x="785722" y="829457"/>
                </a:lnTo>
                <a:lnTo>
                  <a:pt x="0" y="8294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2010530" y="8298985"/>
            <a:ext cx="963320" cy="1016941"/>
          </a:xfrm>
          <a:custGeom>
            <a:avLst/>
            <a:gdLst/>
            <a:ahLst/>
            <a:cxnLst/>
            <a:rect r="r" b="b" t="t" l="l"/>
            <a:pathLst>
              <a:path h="1016941" w="963320">
                <a:moveTo>
                  <a:pt x="0" y="0"/>
                </a:moveTo>
                <a:lnTo>
                  <a:pt x="963320" y="0"/>
                </a:lnTo>
                <a:lnTo>
                  <a:pt x="963320" y="1016941"/>
                </a:lnTo>
                <a:lnTo>
                  <a:pt x="0" y="101694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752236" y="8077786"/>
            <a:ext cx="963320" cy="1016941"/>
          </a:xfrm>
          <a:custGeom>
            <a:avLst/>
            <a:gdLst/>
            <a:ahLst/>
            <a:cxnLst/>
            <a:rect r="r" b="b" t="t" l="l"/>
            <a:pathLst>
              <a:path h="1016941" w="963320">
                <a:moveTo>
                  <a:pt x="0" y="0"/>
                </a:moveTo>
                <a:lnTo>
                  <a:pt x="963320" y="0"/>
                </a:lnTo>
                <a:lnTo>
                  <a:pt x="963320" y="1016941"/>
                </a:lnTo>
                <a:lnTo>
                  <a:pt x="0" y="101694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453814" y="8298985"/>
            <a:ext cx="963320" cy="1016941"/>
          </a:xfrm>
          <a:custGeom>
            <a:avLst/>
            <a:gdLst/>
            <a:ahLst/>
            <a:cxnLst/>
            <a:rect r="r" b="b" t="t" l="l"/>
            <a:pathLst>
              <a:path h="1016941" w="963320">
                <a:moveTo>
                  <a:pt x="0" y="0"/>
                </a:moveTo>
                <a:lnTo>
                  <a:pt x="963320" y="0"/>
                </a:lnTo>
                <a:lnTo>
                  <a:pt x="963320" y="1016941"/>
                </a:lnTo>
                <a:lnTo>
                  <a:pt x="0" y="101694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85654" y="-8225440"/>
            <a:ext cx="16601806" cy="16450880"/>
          </a:xfrm>
          <a:custGeom>
            <a:avLst/>
            <a:gdLst/>
            <a:ahLst/>
            <a:cxnLst/>
            <a:rect r="r" b="b" t="t" l="l"/>
            <a:pathLst>
              <a:path h="16450880" w="16601806">
                <a:moveTo>
                  <a:pt x="0" y="0"/>
                </a:moveTo>
                <a:lnTo>
                  <a:pt x="16601806" y="0"/>
                </a:lnTo>
                <a:lnTo>
                  <a:pt x="16601806" y="16450880"/>
                </a:lnTo>
                <a:lnTo>
                  <a:pt x="0" y="164508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09284" y="1609202"/>
            <a:ext cx="15469431" cy="7813312"/>
            <a:chOff x="0" y="0"/>
            <a:chExt cx="20625908" cy="1041775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0625908" cy="10417750"/>
              <a:chOff x="0" y="0"/>
              <a:chExt cx="3955689" cy="199794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955688" cy="1997942"/>
              </a:xfrm>
              <a:custGeom>
                <a:avLst/>
                <a:gdLst/>
                <a:ahLst/>
                <a:cxnLst/>
                <a:rect r="r" b="b" t="t" l="l"/>
                <a:pathLst>
                  <a:path h="1997942" w="3955688">
                    <a:moveTo>
                      <a:pt x="387627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918524"/>
                    </a:lnTo>
                    <a:cubicBezTo>
                      <a:pt x="43699" y="1918524"/>
                      <a:pt x="79418" y="1953863"/>
                      <a:pt x="79418" y="1997942"/>
                    </a:cubicBezTo>
                    <a:lnTo>
                      <a:pt x="3876270" y="1997942"/>
                    </a:lnTo>
                    <a:cubicBezTo>
                      <a:pt x="3876270" y="1954243"/>
                      <a:pt x="3911609" y="1918524"/>
                      <a:pt x="3955688" y="1918524"/>
                    </a:cubicBezTo>
                    <a:lnTo>
                      <a:pt x="3955688" y="79418"/>
                    </a:lnTo>
                    <a:cubicBezTo>
                      <a:pt x="3911989" y="79418"/>
                      <a:pt x="3876270" y="44079"/>
                      <a:pt x="3876270" y="0"/>
                    </a:cubicBezTo>
                    <a:close/>
                  </a:path>
                </a:pathLst>
              </a:custGeom>
              <a:ln w="123825" cap="sq">
                <a:solidFill>
                  <a:srgbClr val="64050C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38100" y="0"/>
                <a:ext cx="3879489" cy="19598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390050" y="360355"/>
              <a:ext cx="19820409" cy="9697040"/>
              <a:chOff x="0" y="0"/>
              <a:chExt cx="3801208" cy="185972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801208" cy="1859723"/>
              </a:xfrm>
              <a:custGeom>
                <a:avLst/>
                <a:gdLst/>
                <a:ahLst/>
                <a:cxnLst/>
                <a:rect r="r" b="b" t="t" l="l"/>
                <a:pathLst>
                  <a:path h="1859723" w="3801208">
                    <a:moveTo>
                      <a:pt x="372179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780305"/>
                    </a:lnTo>
                    <a:cubicBezTo>
                      <a:pt x="43699" y="1780305"/>
                      <a:pt x="79418" y="1815644"/>
                      <a:pt x="79418" y="1859723"/>
                    </a:cubicBezTo>
                    <a:lnTo>
                      <a:pt x="3721790" y="1859723"/>
                    </a:lnTo>
                    <a:cubicBezTo>
                      <a:pt x="3721790" y="1816023"/>
                      <a:pt x="3757129" y="1780305"/>
                      <a:pt x="3801208" y="1780305"/>
                    </a:cubicBezTo>
                    <a:lnTo>
                      <a:pt x="3801208" y="79418"/>
                    </a:lnTo>
                    <a:cubicBezTo>
                      <a:pt x="3757509" y="79418"/>
                      <a:pt x="3721790" y="44079"/>
                      <a:pt x="3721790" y="0"/>
                    </a:cubicBezTo>
                    <a:close/>
                  </a:path>
                </a:pathLst>
              </a:custGeom>
              <a:ln w="66675" cap="sq">
                <a:solidFill>
                  <a:srgbClr val="C72228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38100" y="0"/>
                <a:ext cx="3725008" cy="18216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true" flipV="false" rot="0">
            <a:off x="-781992" y="8212199"/>
            <a:ext cx="2995824" cy="3102217"/>
          </a:xfrm>
          <a:custGeom>
            <a:avLst/>
            <a:gdLst/>
            <a:ahLst/>
            <a:cxnLst/>
            <a:rect r="r" b="b" t="t" l="l"/>
            <a:pathLst>
              <a:path h="3102217" w="2995824">
                <a:moveTo>
                  <a:pt x="2995824" y="0"/>
                </a:moveTo>
                <a:lnTo>
                  <a:pt x="0" y="0"/>
                </a:lnTo>
                <a:lnTo>
                  <a:pt x="0" y="3102217"/>
                </a:lnTo>
                <a:lnTo>
                  <a:pt x="2995824" y="3102217"/>
                </a:lnTo>
                <a:lnTo>
                  <a:pt x="29958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-41724" y="0"/>
            <a:ext cx="3511040" cy="2534333"/>
          </a:xfrm>
          <a:custGeom>
            <a:avLst/>
            <a:gdLst/>
            <a:ahLst/>
            <a:cxnLst/>
            <a:rect r="r" b="b" t="t" l="l"/>
            <a:pathLst>
              <a:path h="2534333" w="3511040">
                <a:moveTo>
                  <a:pt x="3511040" y="2534333"/>
                </a:moveTo>
                <a:lnTo>
                  <a:pt x="0" y="2534333"/>
                </a:lnTo>
                <a:lnTo>
                  <a:pt x="0" y="0"/>
                </a:lnTo>
                <a:lnTo>
                  <a:pt x="3511040" y="0"/>
                </a:lnTo>
                <a:lnTo>
                  <a:pt x="3511040" y="253433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5222013" y="8077786"/>
            <a:ext cx="3147843" cy="2209214"/>
          </a:xfrm>
          <a:custGeom>
            <a:avLst/>
            <a:gdLst/>
            <a:ahLst/>
            <a:cxnLst/>
            <a:rect r="r" b="b" t="t" l="l"/>
            <a:pathLst>
              <a:path h="2209214" w="3147843">
                <a:moveTo>
                  <a:pt x="3147843" y="0"/>
                </a:moveTo>
                <a:lnTo>
                  <a:pt x="0" y="0"/>
                </a:lnTo>
                <a:lnTo>
                  <a:pt x="0" y="2209214"/>
                </a:lnTo>
                <a:lnTo>
                  <a:pt x="3147843" y="2209214"/>
                </a:lnTo>
                <a:lnTo>
                  <a:pt x="314784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1474513">
            <a:off x="16261278" y="-962399"/>
            <a:ext cx="3127720" cy="3675597"/>
          </a:xfrm>
          <a:custGeom>
            <a:avLst/>
            <a:gdLst/>
            <a:ahLst/>
            <a:cxnLst/>
            <a:rect r="r" b="b" t="t" l="l"/>
            <a:pathLst>
              <a:path h="3675597" w="3127720">
                <a:moveTo>
                  <a:pt x="0" y="3675597"/>
                </a:moveTo>
                <a:lnTo>
                  <a:pt x="3127719" y="3675597"/>
                </a:lnTo>
                <a:lnTo>
                  <a:pt x="3127719" y="0"/>
                </a:lnTo>
                <a:lnTo>
                  <a:pt x="0" y="0"/>
                </a:lnTo>
                <a:lnTo>
                  <a:pt x="0" y="367559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338354" y="1790818"/>
            <a:ext cx="1408623" cy="1487030"/>
          </a:xfrm>
          <a:custGeom>
            <a:avLst/>
            <a:gdLst/>
            <a:ahLst/>
            <a:cxnLst/>
            <a:rect r="r" b="b" t="t" l="l"/>
            <a:pathLst>
              <a:path h="1487030" w="1408623">
                <a:moveTo>
                  <a:pt x="0" y="0"/>
                </a:moveTo>
                <a:lnTo>
                  <a:pt x="1408623" y="0"/>
                </a:lnTo>
                <a:lnTo>
                  <a:pt x="1408623" y="1487030"/>
                </a:lnTo>
                <a:lnTo>
                  <a:pt x="0" y="14870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4614110">
            <a:off x="17566900" y="6727958"/>
            <a:ext cx="1264825" cy="1196571"/>
          </a:xfrm>
          <a:custGeom>
            <a:avLst/>
            <a:gdLst/>
            <a:ahLst/>
            <a:cxnLst/>
            <a:rect r="r" b="b" t="t" l="l"/>
            <a:pathLst>
              <a:path h="1196571" w="1264825">
                <a:moveTo>
                  <a:pt x="0" y="0"/>
                </a:moveTo>
                <a:lnTo>
                  <a:pt x="1264825" y="0"/>
                </a:lnTo>
                <a:lnTo>
                  <a:pt x="1264825" y="1196571"/>
                </a:lnTo>
                <a:lnTo>
                  <a:pt x="0" y="119657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287824" y="2793660"/>
            <a:ext cx="9712351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CARACTERÍSTICAS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824329" y="3846638"/>
            <a:ext cx="13608531" cy="616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Satisfação do cliente.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Foco em e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ntregar valor contínuo ao usuário.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Ex: atualizações frequentes em um sistema automatizado conforme     feedback.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Mudanças são bem-vindas.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Sistemas são adaptáveis a novas necessidades.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Ex: ajust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 rápid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o em um script de automação após mudança no processo.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Entregas frequentes.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Pequenas entregas constantes usando automação.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Ex: deploy automático semanal via CI/CD.</a:t>
            </a:r>
          </a:p>
          <a:p>
            <a:pPr algn="l">
              <a:lnSpc>
                <a:spcPts val="4060"/>
              </a:lnSpc>
            </a:pPr>
          </a:p>
          <a:p>
            <a:pPr algn="l">
              <a:lnSpc>
                <a:spcPts val="4060"/>
              </a:lnSpc>
            </a:pPr>
          </a:p>
        </p:txBody>
      </p:sp>
      <p:grpSp>
        <p:nvGrpSpPr>
          <p:cNvPr name="Group 18" id="18"/>
          <p:cNvGrpSpPr/>
          <p:nvPr/>
        </p:nvGrpSpPr>
        <p:grpSpPr>
          <a:xfrm rot="-5400000">
            <a:off x="2898465" y="2317471"/>
            <a:ext cx="1306810" cy="982194"/>
            <a:chOff x="0" y="0"/>
            <a:chExt cx="344180" cy="25868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44180" cy="258685"/>
            </a:xfrm>
            <a:custGeom>
              <a:avLst/>
              <a:gdLst/>
              <a:ahLst/>
              <a:cxnLst/>
              <a:rect r="r" b="b" t="t" l="l"/>
              <a:pathLst>
                <a:path h="258685" w="344180">
                  <a:moveTo>
                    <a:pt x="344180" y="0"/>
                  </a:moveTo>
                  <a:lnTo>
                    <a:pt x="344180" y="144385"/>
                  </a:lnTo>
                  <a:lnTo>
                    <a:pt x="172090" y="258685"/>
                  </a:lnTo>
                  <a:lnTo>
                    <a:pt x="0" y="144385"/>
                  </a:lnTo>
                  <a:lnTo>
                    <a:pt x="0" y="0"/>
                  </a:lnTo>
                  <a:lnTo>
                    <a:pt x="344180" y="0"/>
                  </a:lnTo>
                  <a:close/>
                </a:path>
              </a:pathLst>
            </a:custGeom>
            <a:solidFill>
              <a:srgbClr val="64050C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44180" cy="182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766131" y="2155163"/>
            <a:ext cx="10755738" cy="1306810"/>
            <a:chOff x="0" y="0"/>
            <a:chExt cx="2832787" cy="3441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832787" cy="344180"/>
            </a:xfrm>
            <a:custGeom>
              <a:avLst/>
              <a:gdLst/>
              <a:ahLst/>
              <a:cxnLst/>
              <a:rect r="r" b="b" t="t" l="l"/>
              <a:pathLst>
                <a:path h="344180" w="2832787">
                  <a:moveTo>
                    <a:pt x="2832787" y="0"/>
                  </a:moveTo>
                  <a:lnTo>
                    <a:pt x="0" y="0"/>
                  </a:lnTo>
                  <a:lnTo>
                    <a:pt x="101600" y="172090"/>
                  </a:lnTo>
                  <a:lnTo>
                    <a:pt x="0" y="344180"/>
                  </a:lnTo>
                  <a:lnTo>
                    <a:pt x="2832787" y="344180"/>
                  </a:lnTo>
                  <a:lnTo>
                    <a:pt x="2731187" y="172090"/>
                  </a:lnTo>
                  <a:lnTo>
                    <a:pt x="2832787" y="0"/>
                  </a:lnTo>
                  <a:close/>
                </a:path>
              </a:pathLst>
            </a:custGeom>
            <a:solidFill>
              <a:srgbClr val="64050C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88900" y="-38100"/>
              <a:ext cx="2654987" cy="382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5400000">
            <a:off x="14082725" y="2317471"/>
            <a:ext cx="1306810" cy="982194"/>
            <a:chOff x="0" y="0"/>
            <a:chExt cx="344180" cy="25868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44180" cy="258685"/>
            </a:xfrm>
            <a:custGeom>
              <a:avLst/>
              <a:gdLst/>
              <a:ahLst/>
              <a:cxnLst/>
              <a:rect r="r" b="b" t="t" l="l"/>
              <a:pathLst>
                <a:path h="258685" w="344180">
                  <a:moveTo>
                    <a:pt x="344180" y="0"/>
                  </a:moveTo>
                  <a:lnTo>
                    <a:pt x="344180" y="144385"/>
                  </a:lnTo>
                  <a:lnTo>
                    <a:pt x="172090" y="258685"/>
                  </a:lnTo>
                  <a:lnTo>
                    <a:pt x="0" y="144385"/>
                  </a:lnTo>
                  <a:lnTo>
                    <a:pt x="0" y="0"/>
                  </a:lnTo>
                  <a:lnTo>
                    <a:pt x="344180" y="0"/>
                  </a:lnTo>
                  <a:close/>
                </a:path>
              </a:pathLst>
            </a:custGeom>
            <a:solidFill>
              <a:srgbClr val="64050C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344180" cy="182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4287824" y="2517663"/>
            <a:ext cx="9712351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CARACTERÍSTICAS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85654" y="-8225440"/>
            <a:ext cx="16601806" cy="16450880"/>
          </a:xfrm>
          <a:custGeom>
            <a:avLst/>
            <a:gdLst/>
            <a:ahLst/>
            <a:cxnLst/>
            <a:rect r="r" b="b" t="t" l="l"/>
            <a:pathLst>
              <a:path h="16450880" w="16601806">
                <a:moveTo>
                  <a:pt x="0" y="0"/>
                </a:moveTo>
                <a:lnTo>
                  <a:pt x="16601806" y="0"/>
                </a:lnTo>
                <a:lnTo>
                  <a:pt x="16601806" y="16450880"/>
                </a:lnTo>
                <a:lnTo>
                  <a:pt x="0" y="164508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781992" y="8212199"/>
            <a:ext cx="2995824" cy="3102217"/>
          </a:xfrm>
          <a:custGeom>
            <a:avLst/>
            <a:gdLst/>
            <a:ahLst/>
            <a:cxnLst/>
            <a:rect r="r" b="b" t="t" l="l"/>
            <a:pathLst>
              <a:path h="3102217" w="2995824">
                <a:moveTo>
                  <a:pt x="2995824" y="0"/>
                </a:moveTo>
                <a:lnTo>
                  <a:pt x="0" y="0"/>
                </a:lnTo>
                <a:lnTo>
                  <a:pt x="0" y="3102217"/>
                </a:lnTo>
                <a:lnTo>
                  <a:pt x="2995824" y="3102217"/>
                </a:lnTo>
                <a:lnTo>
                  <a:pt x="29958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41724" y="0"/>
            <a:ext cx="3511040" cy="2534333"/>
          </a:xfrm>
          <a:custGeom>
            <a:avLst/>
            <a:gdLst/>
            <a:ahLst/>
            <a:cxnLst/>
            <a:rect r="r" b="b" t="t" l="l"/>
            <a:pathLst>
              <a:path h="2534333" w="3511040">
                <a:moveTo>
                  <a:pt x="3511040" y="2534333"/>
                </a:moveTo>
                <a:lnTo>
                  <a:pt x="0" y="2534333"/>
                </a:lnTo>
                <a:lnTo>
                  <a:pt x="0" y="0"/>
                </a:lnTo>
                <a:lnTo>
                  <a:pt x="3511040" y="0"/>
                </a:lnTo>
                <a:lnTo>
                  <a:pt x="3511040" y="253433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5222013" y="8077786"/>
            <a:ext cx="3147843" cy="2209214"/>
          </a:xfrm>
          <a:custGeom>
            <a:avLst/>
            <a:gdLst/>
            <a:ahLst/>
            <a:cxnLst/>
            <a:rect r="r" b="b" t="t" l="l"/>
            <a:pathLst>
              <a:path h="2209214" w="3147843">
                <a:moveTo>
                  <a:pt x="3147843" y="0"/>
                </a:moveTo>
                <a:lnTo>
                  <a:pt x="0" y="0"/>
                </a:lnTo>
                <a:lnTo>
                  <a:pt x="0" y="2209214"/>
                </a:lnTo>
                <a:lnTo>
                  <a:pt x="3147843" y="2209214"/>
                </a:lnTo>
                <a:lnTo>
                  <a:pt x="314784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1474513">
            <a:off x="16261278" y="-962399"/>
            <a:ext cx="3127720" cy="3675597"/>
          </a:xfrm>
          <a:custGeom>
            <a:avLst/>
            <a:gdLst/>
            <a:ahLst/>
            <a:cxnLst/>
            <a:rect r="r" b="b" t="t" l="l"/>
            <a:pathLst>
              <a:path h="3675597" w="3127720">
                <a:moveTo>
                  <a:pt x="0" y="3675597"/>
                </a:moveTo>
                <a:lnTo>
                  <a:pt x="3127719" y="3675597"/>
                </a:lnTo>
                <a:lnTo>
                  <a:pt x="3127719" y="0"/>
                </a:lnTo>
                <a:lnTo>
                  <a:pt x="0" y="0"/>
                </a:lnTo>
                <a:lnTo>
                  <a:pt x="0" y="367559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38354" y="1790818"/>
            <a:ext cx="1408623" cy="1487030"/>
          </a:xfrm>
          <a:custGeom>
            <a:avLst/>
            <a:gdLst/>
            <a:ahLst/>
            <a:cxnLst/>
            <a:rect r="r" b="b" t="t" l="l"/>
            <a:pathLst>
              <a:path h="1487030" w="1408623">
                <a:moveTo>
                  <a:pt x="0" y="0"/>
                </a:moveTo>
                <a:lnTo>
                  <a:pt x="1408623" y="0"/>
                </a:lnTo>
                <a:lnTo>
                  <a:pt x="1408623" y="1487030"/>
                </a:lnTo>
                <a:lnTo>
                  <a:pt x="0" y="14870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4614110">
            <a:off x="17566900" y="6727958"/>
            <a:ext cx="1264825" cy="1196571"/>
          </a:xfrm>
          <a:custGeom>
            <a:avLst/>
            <a:gdLst/>
            <a:ahLst/>
            <a:cxnLst/>
            <a:rect r="r" b="b" t="t" l="l"/>
            <a:pathLst>
              <a:path h="1196571" w="1264825">
                <a:moveTo>
                  <a:pt x="0" y="0"/>
                </a:moveTo>
                <a:lnTo>
                  <a:pt x="1264825" y="0"/>
                </a:lnTo>
                <a:lnTo>
                  <a:pt x="1264825" y="1196571"/>
                </a:lnTo>
                <a:lnTo>
                  <a:pt x="0" y="119657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843379" y="3973106"/>
            <a:ext cx="14198527" cy="5136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Colaboração diária.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I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ntegração entre equipes técnicas e de negócio.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Ex: reuniões diárias entre Dev e Ops para alinhar automações.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Pe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ssoas motivadas.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Equ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ipes têm autonomia e confiança.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 Ex: tim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 resp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onsável decide melhorias em pipelines.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Comu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nicação direta.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I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nformações rápidas e claras.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Ex: uso de chats para resolver problemas em tempo real.</a:t>
            </a:r>
          </a:p>
          <a:p>
            <a:pPr algn="l">
              <a:lnSpc>
                <a:spcPts val="4060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-5400000">
            <a:off x="2898465" y="2317471"/>
            <a:ext cx="1306810" cy="982194"/>
            <a:chOff x="0" y="0"/>
            <a:chExt cx="344180" cy="25868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4180" cy="258685"/>
            </a:xfrm>
            <a:custGeom>
              <a:avLst/>
              <a:gdLst/>
              <a:ahLst/>
              <a:cxnLst/>
              <a:rect r="r" b="b" t="t" l="l"/>
              <a:pathLst>
                <a:path h="258685" w="344180">
                  <a:moveTo>
                    <a:pt x="344180" y="0"/>
                  </a:moveTo>
                  <a:lnTo>
                    <a:pt x="344180" y="144385"/>
                  </a:lnTo>
                  <a:lnTo>
                    <a:pt x="172090" y="258685"/>
                  </a:lnTo>
                  <a:lnTo>
                    <a:pt x="0" y="144385"/>
                  </a:lnTo>
                  <a:lnTo>
                    <a:pt x="0" y="0"/>
                  </a:lnTo>
                  <a:lnTo>
                    <a:pt x="344180" y="0"/>
                  </a:lnTo>
                  <a:close/>
                </a:path>
              </a:pathLst>
            </a:custGeom>
            <a:solidFill>
              <a:srgbClr val="64050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44180" cy="182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766131" y="2155163"/>
            <a:ext cx="10755738" cy="1306810"/>
            <a:chOff x="0" y="0"/>
            <a:chExt cx="2832787" cy="3441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32787" cy="344180"/>
            </a:xfrm>
            <a:custGeom>
              <a:avLst/>
              <a:gdLst/>
              <a:ahLst/>
              <a:cxnLst/>
              <a:rect r="r" b="b" t="t" l="l"/>
              <a:pathLst>
                <a:path h="344180" w="2832787">
                  <a:moveTo>
                    <a:pt x="2832787" y="0"/>
                  </a:moveTo>
                  <a:lnTo>
                    <a:pt x="0" y="0"/>
                  </a:lnTo>
                  <a:lnTo>
                    <a:pt x="101600" y="172090"/>
                  </a:lnTo>
                  <a:lnTo>
                    <a:pt x="0" y="344180"/>
                  </a:lnTo>
                  <a:lnTo>
                    <a:pt x="2832787" y="344180"/>
                  </a:lnTo>
                  <a:lnTo>
                    <a:pt x="2731187" y="172090"/>
                  </a:lnTo>
                  <a:lnTo>
                    <a:pt x="2832787" y="0"/>
                  </a:lnTo>
                  <a:close/>
                </a:path>
              </a:pathLst>
            </a:custGeom>
            <a:solidFill>
              <a:srgbClr val="64050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88900" y="-38100"/>
              <a:ext cx="2654987" cy="382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5400000">
            <a:off x="14082725" y="2317471"/>
            <a:ext cx="1306810" cy="982194"/>
            <a:chOff x="0" y="0"/>
            <a:chExt cx="344180" cy="25868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44180" cy="258685"/>
            </a:xfrm>
            <a:custGeom>
              <a:avLst/>
              <a:gdLst/>
              <a:ahLst/>
              <a:cxnLst/>
              <a:rect r="r" b="b" t="t" l="l"/>
              <a:pathLst>
                <a:path h="258685" w="344180">
                  <a:moveTo>
                    <a:pt x="344180" y="0"/>
                  </a:moveTo>
                  <a:lnTo>
                    <a:pt x="344180" y="144385"/>
                  </a:lnTo>
                  <a:lnTo>
                    <a:pt x="172090" y="258685"/>
                  </a:lnTo>
                  <a:lnTo>
                    <a:pt x="0" y="144385"/>
                  </a:lnTo>
                  <a:lnTo>
                    <a:pt x="0" y="0"/>
                  </a:lnTo>
                  <a:lnTo>
                    <a:pt x="344180" y="0"/>
                  </a:lnTo>
                  <a:close/>
                </a:path>
              </a:pathLst>
            </a:custGeom>
            <a:solidFill>
              <a:srgbClr val="64050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44180" cy="182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4287824" y="2517663"/>
            <a:ext cx="9712351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CARACTERÍSTICAS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409284" y="1609202"/>
            <a:ext cx="15469431" cy="7813312"/>
            <a:chOff x="0" y="0"/>
            <a:chExt cx="20625908" cy="1041775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20625908" cy="10417750"/>
              <a:chOff x="0" y="0"/>
              <a:chExt cx="3955689" cy="1997942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3955688" cy="1997942"/>
              </a:xfrm>
              <a:custGeom>
                <a:avLst/>
                <a:gdLst/>
                <a:ahLst/>
                <a:cxnLst/>
                <a:rect r="r" b="b" t="t" l="l"/>
                <a:pathLst>
                  <a:path h="1997942" w="3955688">
                    <a:moveTo>
                      <a:pt x="387627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918524"/>
                    </a:lnTo>
                    <a:cubicBezTo>
                      <a:pt x="43699" y="1918524"/>
                      <a:pt x="79418" y="1953863"/>
                      <a:pt x="79418" y="1997942"/>
                    </a:cubicBezTo>
                    <a:lnTo>
                      <a:pt x="3876270" y="1997942"/>
                    </a:lnTo>
                    <a:cubicBezTo>
                      <a:pt x="3876270" y="1954243"/>
                      <a:pt x="3911609" y="1918524"/>
                      <a:pt x="3955688" y="1918524"/>
                    </a:cubicBezTo>
                    <a:lnTo>
                      <a:pt x="3955688" y="79418"/>
                    </a:lnTo>
                    <a:cubicBezTo>
                      <a:pt x="3911989" y="79418"/>
                      <a:pt x="3876270" y="44079"/>
                      <a:pt x="3876270" y="0"/>
                    </a:cubicBezTo>
                    <a:close/>
                  </a:path>
                </a:pathLst>
              </a:custGeom>
              <a:ln w="123825" cap="sq">
                <a:solidFill>
                  <a:srgbClr val="64050C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38100" y="0"/>
                <a:ext cx="3879489" cy="19598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402750" y="360355"/>
              <a:ext cx="19820409" cy="9697040"/>
              <a:chOff x="0" y="0"/>
              <a:chExt cx="3801208" cy="1859723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3801208" cy="1859723"/>
              </a:xfrm>
              <a:custGeom>
                <a:avLst/>
                <a:gdLst/>
                <a:ahLst/>
                <a:cxnLst/>
                <a:rect r="r" b="b" t="t" l="l"/>
                <a:pathLst>
                  <a:path h="1859723" w="3801208">
                    <a:moveTo>
                      <a:pt x="372179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780305"/>
                    </a:lnTo>
                    <a:cubicBezTo>
                      <a:pt x="43699" y="1780305"/>
                      <a:pt x="79418" y="1815644"/>
                      <a:pt x="79418" y="1859723"/>
                    </a:cubicBezTo>
                    <a:lnTo>
                      <a:pt x="3721790" y="1859723"/>
                    </a:lnTo>
                    <a:cubicBezTo>
                      <a:pt x="3721790" y="1816023"/>
                      <a:pt x="3757129" y="1780305"/>
                      <a:pt x="3801208" y="1780305"/>
                    </a:cubicBezTo>
                    <a:lnTo>
                      <a:pt x="3801208" y="79418"/>
                    </a:lnTo>
                    <a:cubicBezTo>
                      <a:pt x="3757509" y="79418"/>
                      <a:pt x="3721790" y="44079"/>
                      <a:pt x="3721790" y="0"/>
                    </a:cubicBezTo>
                    <a:close/>
                  </a:path>
                </a:pathLst>
              </a:custGeom>
              <a:ln w="66675" cap="sq">
                <a:solidFill>
                  <a:srgbClr val="C72228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38100" y="0"/>
                <a:ext cx="3725008" cy="18216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27" id="2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85654" y="-8225440"/>
            <a:ext cx="16601806" cy="16450880"/>
          </a:xfrm>
          <a:custGeom>
            <a:avLst/>
            <a:gdLst/>
            <a:ahLst/>
            <a:cxnLst/>
            <a:rect r="r" b="b" t="t" l="l"/>
            <a:pathLst>
              <a:path h="16450880" w="16601806">
                <a:moveTo>
                  <a:pt x="0" y="0"/>
                </a:moveTo>
                <a:lnTo>
                  <a:pt x="16601806" y="0"/>
                </a:lnTo>
                <a:lnTo>
                  <a:pt x="16601806" y="16450880"/>
                </a:lnTo>
                <a:lnTo>
                  <a:pt x="0" y="164508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781992" y="8212199"/>
            <a:ext cx="2995824" cy="3102217"/>
          </a:xfrm>
          <a:custGeom>
            <a:avLst/>
            <a:gdLst/>
            <a:ahLst/>
            <a:cxnLst/>
            <a:rect r="r" b="b" t="t" l="l"/>
            <a:pathLst>
              <a:path h="3102217" w="2995824">
                <a:moveTo>
                  <a:pt x="2995824" y="0"/>
                </a:moveTo>
                <a:lnTo>
                  <a:pt x="0" y="0"/>
                </a:lnTo>
                <a:lnTo>
                  <a:pt x="0" y="3102217"/>
                </a:lnTo>
                <a:lnTo>
                  <a:pt x="2995824" y="3102217"/>
                </a:lnTo>
                <a:lnTo>
                  <a:pt x="29958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41724" y="0"/>
            <a:ext cx="3511040" cy="2534333"/>
          </a:xfrm>
          <a:custGeom>
            <a:avLst/>
            <a:gdLst/>
            <a:ahLst/>
            <a:cxnLst/>
            <a:rect r="r" b="b" t="t" l="l"/>
            <a:pathLst>
              <a:path h="2534333" w="3511040">
                <a:moveTo>
                  <a:pt x="3511040" y="2534333"/>
                </a:moveTo>
                <a:lnTo>
                  <a:pt x="0" y="2534333"/>
                </a:lnTo>
                <a:lnTo>
                  <a:pt x="0" y="0"/>
                </a:lnTo>
                <a:lnTo>
                  <a:pt x="3511040" y="0"/>
                </a:lnTo>
                <a:lnTo>
                  <a:pt x="3511040" y="253433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5222013" y="8077786"/>
            <a:ext cx="3147843" cy="2209214"/>
          </a:xfrm>
          <a:custGeom>
            <a:avLst/>
            <a:gdLst/>
            <a:ahLst/>
            <a:cxnLst/>
            <a:rect r="r" b="b" t="t" l="l"/>
            <a:pathLst>
              <a:path h="2209214" w="3147843">
                <a:moveTo>
                  <a:pt x="3147843" y="0"/>
                </a:moveTo>
                <a:lnTo>
                  <a:pt x="0" y="0"/>
                </a:lnTo>
                <a:lnTo>
                  <a:pt x="0" y="2209214"/>
                </a:lnTo>
                <a:lnTo>
                  <a:pt x="3147843" y="2209214"/>
                </a:lnTo>
                <a:lnTo>
                  <a:pt x="314784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1474513">
            <a:off x="16261278" y="-962399"/>
            <a:ext cx="3127720" cy="3675597"/>
          </a:xfrm>
          <a:custGeom>
            <a:avLst/>
            <a:gdLst/>
            <a:ahLst/>
            <a:cxnLst/>
            <a:rect r="r" b="b" t="t" l="l"/>
            <a:pathLst>
              <a:path h="3675597" w="3127720">
                <a:moveTo>
                  <a:pt x="0" y="3675597"/>
                </a:moveTo>
                <a:lnTo>
                  <a:pt x="3127719" y="3675597"/>
                </a:lnTo>
                <a:lnTo>
                  <a:pt x="3127719" y="0"/>
                </a:lnTo>
                <a:lnTo>
                  <a:pt x="0" y="0"/>
                </a:lnTo>
                <a:lnTo>
                  <a:pt x="0" y="367559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38354" y="1790818"/>
            <a:ext cx="1408623" cy="1487030"/>
          </a:xfrm>
          <a:custGeom>
            <a:avLst/>
            <a:gdLst/>
            <a:ahLst/>
            <a:cxnLst/>
            <a:rect r="r" b="b" t="t" l="l"/>
            <a:pathLst>
              <a:path h="1487030" w="1408623">
                <a:moveTo>
                  <a:pt x="0" y="0"/>
                </a:moveTo>
                <a:lnTo>
                  <a:pt x="1408623" y="0"/>
                </a:lnTo>
                <a:lnTo>
                  <a:pt x="1408623" y="1487030"/>
                </a:lnTo>
                <a:lnTo>
                  <a:pt x="0" y="14870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4614110">
            <a:off x="17566900" y="6727958"/>
            <a:ext cx="1264825" cy="1196571"/>
          </a:xfrm>
          <a:custGeom>
            <a:avLst/>
            <a:gdLst/>
            <a:ahLst/>
            <a:cxnLst/>
            <a:rect r="r" b="b" t="t" l="l"/>
            <a:pathLst>
              <a:path h="1196571" w="1264825">
                <a:moveTo>
                  <a:pt x="0" y="0"/>
                </a:moveTo>
                <a:lnTo>
                  <a:pt x="1264825" y="0"/>
                </a:lnTo>
                <a:lnTo>
                  <a:pt x="1264825" y="1196571"/>
                </a:lnTo>
                <a:lnTo>
                  <a:pt x="0" y="119657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616457" y="4055110"/>
            <a:ext cx="14198527" cy="5136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Software funcionando.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P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rioridade em sistemas operando corretamente.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Ex: automação rodando com suc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sso em produção.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itmo sustentável.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Trabalho equilibrado e contínuo.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Ex: d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eploys regulares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sem sobrecarga da equipe.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Excelê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ncia técnica.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Foco em qualidade e b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oas práticas.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Ex: testes automatizados bem estruturados.</a:t>
            </a:r>
          </a:p>
          <a:p>
            <a:pPr algn="l">
              <a:lnSpc>
                <a:spcPts val="4060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-5400000">
            <a:off x="2898465" y="2317471"/>
            <a:ext cx="1306810" cy="982194"/>
            <a:chOff x="0" y="0"/>
            <a:chExt cx="344180" cy="25868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4180" cy="258685"/>
            </a:xfrm>
            <a:custGeom>
              <a:avLst/>
              <a:gdLst/>
              <a:ahLst/>
              <a:cxnLst/>
              <a:rect r="r" b="b" t="t" l="l"/>
              <a:pathLst>
                <a:path h="258685" w="344180">
                  <a:moveTo>
                    <a:pt x="344180" y="0"/>
                  </a:moveTo>
                  <a:lnTo>
                    <a:pt x="344180" y="144385"/>
                  </a:lnTo>
                  <a:lnTo>
                    <a:pt x="172090" y="258685"/>
                  </a:lnTo>
                  <a:lnTo>
                    <a:pt x="0" y="144385"/>
                  </a:lnTo>
                  <a:lnTo>
                    <a:pt x="0" y="0"/>
                  </a:lnTo>
                  <a:lnTo>
                    <a:pt x="344180" y="0"/>
                  </a:lnTo>
                  <a:close/>
                </a:path>
              </a:pathLst>
            </a:custGeom>
            <a:solidFill>
              <a:srgbClr val="64050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44180" cy="182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766131" y="2155163"/>
            <a:ext cx="10755738" cy="1306810"/>
            <a:chOff x="0" y="0"/>
            <a:chExt cx="2832787" cy="3441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32787" cy="344180"/>
            </a:xfrm>
            <a:custGeom>
              <a:avLst/>
              <a:gdLst/>
              <a:ahLst/>
              <a:cxnLst/>
              <a:rect r="r" b="b" t="t" l="l"/>
              <a:pathLst>
                <a:path h="344180" w="2832787">
                  <a:moveTo>
                    <a:pt x="2832787" y="0"/>
                  </a:moveTo>
                  <a:lnTo>
                    <a:pt x="0" y="0"/>
                  </a:lnTo>
                  <a:lnTo>
                    <a:pt x="101600" y="172090"/>
                  </a:lnTo>
                  <a:lnTo>
                    <a:pt x="0" y="344180"/>
                  </a:lnTo>
                  <a:lnTo>
                    <a:pt x="2832787" y="344180"/>
                  </a:lnTo>
                  <a:lnTo>
                    <a:pt x="2731187" y="172090"/>
                  </a:lnTo>
                  <a:lnTo>
                    <a:pt x="2832787" y="0"/>
                  </a:lnTo>
                  <a:close/>
                </a:path>
              </a:pathLst>
            </a:custGeom>
            <a:solidFill>
              <a:srgbClr val="64050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88900" y="-38100"/>
              <a:ext cx="2654987" cy="382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5400000">
            <a:off x="14082725" y="2317471"/>
            <a:ext cx="1306810" cy="982194"/>
            <a:chOff x="0" y="0"/>
            <a:chExt cx="344180" cy="25868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44180" cy="258685"/>
            </a:xfrm>
            <a:custGeom>
              <a:avLst/>
              <a:gdLst/>
              <a:ahLst/>
              <a:cxnLst/>
              <a:rect r="r" b="b" t="t" l="l"/>
              <a:pathLst>
                <a:path h="258685" w="344180">
                  <a:moveTo>
                    <a:pt x="344180" y="0"/>
                  </a:moveTo>
                  <a:lnTo>
                    <a:pt x="344180" y="144385"/>
                  </a:lnTo>
                  <a:lnTo>
                    <a:pt x="172090" y="258685"/>
                  </a:lnTo>
                  <a:lnTo>
                    <a:pt x="0" y="144385"/>
                  </a:lnTo>
                  <a:lnTo>
                    <a:pt x="0" y="0"/>
                  </a:lnTo>
                  <a:lnTo>
                    <a:pt x="344180" y="0"/>
                  </a:lnTo>
                  <a:close/>
                </a:path>
              </a:pathLst>
            </a:custGeom>
            <a:solidFill>
              <a:srgbClr val="64050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44180" cy="182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4287824" y="2517663"/>
            <a:ext cx="9712351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CARACTERÍSTICAS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409284" y="1609202"/>
            <a:ext cx="15469431" cy="7813312"/>
            <a:chOff x="0" y="0"/>
            <a:chExt cx="20625908" cy="1041775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20625908" cy="10417750"/>
              <a:chOff x="0" y="0"/>
              <a:chExt cx="3955689" cy="1997942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3955688" cy="1997942"/>
              </a:xfrm>
              <a:custGeom>
                <a:avLst/>
                <a:gdLst/>
                <a:ahLst/>
                <a:cxnLst/>
                <a:rect r="r" b="b" t="t" l="l"/>
                <a:pathLst>
                  <a:path h="1997942" w="3955688">
                    <a:moveTo>
                      <a:pt x="387627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918524"/>
                    </a:lnTo>
                    <a:cubicBezTo>
                      <a:pt x="43699" y="1918524"/>
                      <a:pt x="79418" y="1953863"/>
                      <a:pt x="79418" y="1997942"/>
                    </a:cubicBezTo>
                    <a:lnTo>
                      <a:pt x="3876270" y="1997942"/>
                    </a:lnTo>
                    <a:cubicBezTo>
                      <a:pt x="3876270" y="1954243"/>
                      <a:pt x="3911609" y="1918524"/>
                      <a:pt x="3955688" y="1918524"/>
                    </a:cubicBezTo>
                    <a:lnTo>
                      <a:pt x="3955688" y="79418"/>
                    </a:lnTo>
                    <a:cubicBezTo>
                      <a:pt x="3911989" y="79418"/>
                      <a:pt x="3876270" y="44079"/>
                      <a:pt x="3876270" y="0"/>
                    </a:cubicBezTo>
                    <a:close/>
                  </a:path>
                </a:pathLst>
              </a:custGeom>
              <a:ln w="123825" cap="sq">
                <a:solidFill>
                  <a:srgbClr val="64050C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38100" y="0"/>
                <a:ext cx="3879489" cy="19598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390050" y="360355"/>
              <a:ext cx="19820409" cy="9697040"/>
              <a:chOff x="0" y="0"/>
              <a:chExt cx="3801208" cy="1859723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3801208" cy="1859723"/>
              </a:xfrm>
              <a:custGeom>
                <a:avLst/>
                <a:gdLst/>
                <a:ahLst/>
                <a:cxnLst/>
                <a:rect r="r" b="b" t="t" l="l"/>
                <a:pathLst>
                  <a:path h="1859723" w="3801208">
                    <a:moveTo>
                      <a:pt x="372179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780305"/>
                    </a:lnTo>
                    <a:cubicBezTo>
                      <a:pt x="43699" y="1780305"/>
                      <a:pt x="79418" y="1815644"/>
                      <a:pt x="79418" y="1859723"/>
                    </a:cubicBezTo>
                    <a:lnTo>
                      <a:pt x="3721790" y="1859723"/>
                    </a:lnTo>
                    <a:cubicBezTo>
                      <a:pt x="3721790" y="1816023"/>
                      <a:pt x="3757129" y="1780305"/>
                      <a:pt x="3801208" y="1780305"/>
                    </a:cubicBezTo>
                    <a:lnTo>
                      <a:pt x="3801208" y="79418"/>
                    </a:lnTo>
                    <a:cubicBezTo>
                      <a:pt x="3757509" y="79418"/>
                      <a:pt x="3721790" y="44079"/>
                      <a:pt x="3721790" y="0"/>
                    </a:cubicBezTo>
                    <a:close/>
                  </a:path>
                </a:pathLst>
              </a:custGeom>
              <a:ln w="66675" cap="sq">
                <a:solidFill>
                  <a:srgbClr val="C72228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38100" y="0"/>
                <a:ext cx="3725008" cy="18216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27" id="2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85654" y="-8225440"/>
            <a:ext cx="16601806" cy="16450880"/>
          </a:xfrm>
          <a:custGeom>
            <a:avLst/>
            <a:gdLst/>
            <a:ahLst/>
            <a:cxnLst/>
            <a:rect r="r" b="b" t="t" l="l"/>
            <a:pathLst>
              <a:path h="16450880" w="16601806">
                <a:moveTo>
                  <a:pt x="0" y="0"/>
                </a:moveTo>
                <a:lnTo>
                  <a:pt x="16601806" y="0"/>
                </a:lnTo>
                <a:lnTo>
                  <a:pt x="16601806" y="16450880"/>
                </a:lnTo>
                <a:lnTo>
                  <a:pt x="0" y="164508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09284" y="1609202"/>
            <a:ext cx="15469431" cy="7813312"/>
            <a:chOff x="0" y="0"/>
            <a:chExt cx="20625908" cy="1041775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0625908" cy="10417750"/>
              <a:chOff x="0" y="0"/>
              <a:chExt cx="3955689" cy="199794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955688" cy="1997942"/>
              </a:xfrm>
              <a:custGeom>
                <a:avLst/>
                <a:gdLst/>
                <a:ahLst/>
                <a:cxnLst/>
                <a:rect r="r" b="b" t="t" l="l"/>
                <a:pathLst>
                  <a:path h="1997942" w="3955688">
                    <a:moveTo>
                      <a:pt x="387627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918524"/>
                    </a:lnTo>
                    <a:cubicBezTo>
                      <a:pt x="43699" y="1918524"/>
                      <a:pt x="79418" y="1953863"/>
                      <a:pt x="79418" y="1997942"/>
                    </a:cubicBezTo>
                    <a:lnTo>
                      <a:pt x="3876270" y="1997942"/>
                    </a:lnTo>
                    <a:cubicBezTo>
                      <a:pt x="3876270" y="1954243"/>
                      <a:pt x="3911609" y="1918524"/>
                      <a:pt x="3955688" y="1918524"/>
                    </a:cubicBezTo>
                    <a:lnTo>
                      <a:pt x="3955688" y="79418"/>
                    </a:lnTo>
                    <a:cubicBezTo>
                      <a:pt x="3911989" y="79418"/>
                      <a:pt x="3876270" y="44079"/>
                      <a:pt x="3876270" y="0"/>
                    </a:cubicBezTo>
                    <a:close/>
                  </a:path>
                </a:pathLst>
              </a:custGeom>
              <a:ln w="123825" cap="sq">
                <a:solidFill>
                  <a:srgbClr val="64050C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38100" y="0"/>
                <a:ext cx="3879489" cy="19598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390050" y="360355"/>
              <a:ext cx="19820409" cy="9697040"/>
              <a:chOff x="0" y="0"/>
              <a:chExt cx="3801208" cy="185972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801208" cy="1859723"/>
              </a:xfrm>
              <a:custGeom>
                <a:avLst/>
                <a:gdLst/>
                <a:ahLst/>
                <a:cxnLst/>
                <a:rect r="r" b="b" t="t" l="l"/>
                <a:pathLst>
                  <a:path h="1859723" w="3801208">
                    <a:moveTo>
                      <a:pt x="372179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780305"/>
                    </a:lnTo>
                    <a:cubicBezTo>
                      <a:pt x="43699" y="1780305"/>
                      <a:pt x="79418" y="1815644"/>
                      <a:pt x="79418" y="1859723"/>
                    </a:cubicBezTo>
                    <a:lnTo>
                      <a:pt x="3721790" y="1859723"/>
                    </a:lnTo>
                    <a:cubicBezTo>
                      <a:pt x="3721790" y="1816023"/>
                      <a:pt x="3757129" y="1780305"/>
                      <a:pt x="3801208" y="1780305"/>
                    </a:cubicBezTo>
                    <a:lnTo>
                      <a:pt x="3801208" y="79418"/>
                    </a:lnTo>
                    <a:cubicBezTo>
                      <a:pt x="3757509" y="79418"/>
                      <a:pt x="3721790" y="44079"/>
                      <a:pt x="3721790" y="0"/>
                    </a:cubicBezTo>
                    <a:close/>
                  </a:path>
                </a:pathLst>
              </a:custGeom>
              <a:ln w="66675" cap="sq">
                <a:solidFill>
                  <a:srgbClr val="C72228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38100" y="0"/>
                <a:ext cx="3725008" cy="18216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true" flipV="false" rot="0">
            <a:off x="-781992" y="8212199"/>
            <a:ext cx="2995824" cy="3102217"/>
          </a:xfrm>
          <a:custGeom>
            <a:avLst/>
            <a:gdLst/>
            <a:ahLst/>
            <a:cxnLst/>
            <a:rect r="r" b="b" t="t" l="l"/>
            <a:pathLst>
              <a:path h="3102217" w="2995824">
                <a:moveTo>
                  <a:pt x="2995824" y="0"/>
                </a:moveTo>
                <a:lnTo>
                  <a:pt x="0" y="0"/>
                </a:lnTo>
                <a:lnTo>
                  <a:pt x="0" y="3102217"/>
                </a:lnTo>
                <a:lnTo>
                  <a:pt x="2995824" y="3102217"/>
                </a:lnTo>
                <a:lnTo>
                  <a:pt x="29958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-41724" y="0"/>
            <a:ext cx="3511040" cy="2534333"/>
          </a:xfrm>
          <a:custGeom>
            <a:avLst/>
            <a:gdLst/>
            <a:ahLst/>
            <a:cxnLst/>
            <a:rect r="r" b="b" t="t" l="l"/>
            <a:pathLst>
              <a:path h="2534333" w="3511040">
                <a:moveTo>
                  <a:pt x="3511040" y="2534333"/>
                </a:moveTo>
                <a:lnTo>
                  <a:pt x="0" y="2534333"/>
                </a:lnTo>
                <a:lnTo>
                  <a:pt x="0" y="0"/>
                </a:lnTo>
                <a:lnTo>
                  <a:pt x="3511040" y="0"/>
                </a:lnTo>
                <a:lnTo>
                  <a:pt x="3511040" y="253433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5222013" y="8077786"/>
            <a:ext cx="3147843" cy="2209214"/>
          </a:xfrm>
          <a:custGeom>
            <a:avLst/>
            <a:gdLst/>
            <a:ahLst/>
            <a:cxnLst/>
            <a:rect r="r" b="b" t="t" l="l"/>
            <a:pathLst>
              <a:path h="2209214" w="3147843">
                <a:moveTo>
                  <a:pt x="3147843" y="0"/>
                </a:moveTo>
                <a:lnTo>
                  <a:pt x="0" y="0"/>
                </a:lnTo>
                <a:lnTo>
                  <a:pt x="0" y="2209214"/>
                </a:lnTo>
                <a:lnTo>
                  <a:pt x="3147843" y="2209214"/>
                </a:lnTo>
                <a:lnTo>
                  <a:pt x="314784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1474513">
            <a:off x="16261278" y="-962399"/>
            <a:ext cx="3127720" cy="3675597"/>
          </a:xfrm>
          <a:custGeom>
            <a:avLst/>
            <a:gdLst/>
            <a:ahLst/>
            <a:cxnLst/>
            <a:rect r="r" b="b" t="t" l="l"/>
            <a:pathLst>
              <a:path h="3675597" w="3127720">
                <a:moveTo>
                  <a:pt x="0" y="3675597"/>
                </a:moveTo>
                <a:lnTo>
                  <a:pt x="3127719" y="3675597"/>
                </a:lnTo>
                <a:lnTo>
                  <a:pt x="3127719" y="0"/>
                </a:lnTo>
                <a:lnTo>
                  <a:pt x="0" y="0"/>
                </a:lnTo>
                <a:lnTo>
                  <a:pt x="0" y="367559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338354" y="1790818"/>
            <a:ext cx="1408623" cy="1487030"/>
          </a:xfrm>
          <a:custGeom>
            <a:avLst/>
            <a:gdLst/>
            <a:ahLst/>
            <a:cxnLst/>
            <a:rect r="r" b="b" t="t" l="l"/>
            <a:pathLst>
              <a:path h="1487030" w="1408623">
                <a:moveTo>
                  <a:pt x="0" y="0"/>
                </a:moveTo>
                <a:lnTo>
                  <a:pt x="1408623" y="0"/>
                </a:lnTo>
                <a:lnTo>
                  <a:pt x="1408623" y="1487030"/>
                </a:lnTo>
                <a:lnTo>
                  <a:pt x="0" y="14870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4614110">
            <a:off x="17566900" y="6727958"/>
            <a:ext cx="1264825" cy="1196571"/>
          </a:xfrm>
          <a:custGeom>
            <a:avLst/>
            <a:gdLst/>
            <a:ahLst/>
            <a:cxnLst/>
            <a:rect r="r" b="b" t="t" l="l"/>
            <a:pathLst>
              <a:path h="1196571" w="1264825">
                <a:moveTo>
                  <a:pt x="0" y="0"/>
                </a:moveTo>
                <a:lnTo>
                  <a:pt x="1264825" y="0"/>
                </a:lnTo>
                <a:lnTo>
                  <a:pt x="1264825" y="1196571"/>
                </a:lnTo>
                <a:lnTo>
                  <a:pt x="0" y="119657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606932" y="4045878"/>
            <a:ext cx="14198527" cy="5136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Simplicidade.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Evitar complexidade desnecessária.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Ex: scripts simples qu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 re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solvem o problema.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imes auto-organizáveis.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Equipes gerenciam seu próprio trabalho.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Ex: time d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ecide como impl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ementar automação.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Melhor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ia contínua.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Ajustes constantes n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os processos.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Ex: revisão de pipelines para otimizar performance.</a:t>
            </a:r>
          </a:p>
          <a:p>
            <a:pPr algn="l">
              <a:lnSpc>
                <a:spcPts val="4060"/>
              </a:lnSpc>
            </a:pPr>
          </a:p>
        </p:txBody>
      </p:sp>
      <p:grpSp>
        <p:nvGrpSpPr>
          <p:cNvPr name="Group 17" id="17"/>
          <p:cNvGrpSpPr/>
          <p:nvPr/>
        </p:nvGrpSpPr>
        <p:grpSpPr>
          <a:xfrm rot="-5400000">
            <a:off x="2898465" y="2317471"/>
            <a:ext cx="1306810" cy="982194"/>
            <a:chOff x="0" y="0"/>
            <a:chExt cx="344180" cy="25868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44180" cy="258685"/>
            </a:xfrm>
            <a:custGeom>
              <a:avLst/>
              <a:gdLst/>
              <a:ahLst/>
              <a:cxnLst/>
              <a:rect r="r" b="b" t="t" l="l"/>
              <a:pathLst>
                <a:path h="258685" w="344180">
                  <a:moveTo>
                    <a:pt x="344180" y="0"/>
                  </a:moveTo>
                  <a:lnTo>
                    <a:pt x="344180" y="144385"/>
                  </a:lnTo>
                  <a:lnTo>
                    <a:pt x="172090" y="258685"/>
                  </a:lnTo>
                  <a:lnTo>
                    <a:pt x="0" y="144385"/>
                  </a:lnTo>
                  <a:lnTo>
                    <a:pt x="0" y="0"/>
                  </a:lnTo>
                  <a:lnTo>
                    <a:pt x="344180" y="0"/>
                  </a:lnTo>
                  <a:close/>
                </a:path>
              </a:pathLst>
            </a:custGeom>
            <a:solidFill>
              <a:srgbClr val="64050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44180" cy="182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766131" y="2155163"/>
            <a:ext cx="10755738" cy="1306810"/>
            <a:chOff x="0" y="0"/>
            <a:chExt cx="2832787" cy="3441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832787" cy="344180"/>
            </a:xfrm>
            <a:custGeom>
              <a:avLst/>
              <a:gdLst/>
              <a:ahLst/>
              <a:cxnLst/>
              <a:rect r="r" b="b" t="t" l="l"/>
              <a:pathLst>
                <a:path h="344180" w="2832787">
                  <a:moveTo>
                    <a:pt x="2832787" y="0"/>
                  </a:moveTo>
                  <a:lnTo>
                    <a:pt x="0" y="0"/>
                  </a:lnTo>
                  <a:lnTo>
                    <a:pt x="101600" y="172090"/>
                  </a:lnTo>
                  <a:lnTo>
                    <a:pt x="0" y="344180"/>
                  </a:lnTo>
                  <a:lnTo>
                    <a:pt x="2832787" y="344180"/>
                  </a:lnTo>
                  <a:lnTo>
                    <a:pt x="2731187" y="172090"/>
                  </a:lnTo>
                  <a:lnTo>
                    <a:pt x="2832787" y="0"/>
                  </a:lnTo>
                  <a:close/>
                </a:path>
              </a:pathLst>
            </a:custGeom>
            <a:solidFill>
              <a:srgbClr val="64050C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88900" y="-38100"/>
              <a:ext cx="2654987" cy="382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5400000">
            <a:off x="14082725" y="2317471"/>
            <a:ext cx="1306810" cy="982194"/>
            <a:chOff x="0" y="0"/>
            <a:chExt cx="344180" cy="25868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44180" cy="258685"/>
            </a:xfrm>
            <a:custGeom>
              <a:avLst/>
              <a:gdLst/>
              <a:ahLst/>
              <a:cxnLst/>
              <a:rect r="r" b="b" t="t" l="l"/>
              <a:pathLst>
                <a:path h="258685" w="344180">
                  <a:moveTo>
                    <a:pt x="344180" y="0"/>
                  </a:moveTo>
                  <a:lnTo>
                    <a:pt x="344180" y="144385"/>
                  </a:lnTo>
                  <a:lnTo>
                    <a:pt x="172090" y="258685"/>
                  </a:lnTo>
                  <a:lnTo>
                    <a:pt x="0" y="144385"/>
                  </a:lnTo>
                  <a:lnTo>
                    <a:pt x="0" y="0"/>
                  </a:lnTo>
                  <a:lnTo>
                    <a:pt x="344180" y="0"/>
                  </a:lnTo>
                  <a:close/>
                </a:path>
              </a:pathLst>
            </a:custGeom>
            <a:solidFill>
              <a:srgbClr val="64050C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44180" cy="182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4287824" y="2517663"/>
            <a:ext cx="9712351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CARACTERÍSTICAS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85654" y="-8225440"/>
            <a:ext cx="16601806" cy="16450880"/>
          </a:xfrm>
          <a:custGeom>
            <a:avLst/>
            <a:gdLst/>
            <a:ahLst/>
            <a:cxnLst/>
            <a:rect r="r" b="b" t="t" l="l"/>
            <a:pathLst>
              <a:path h="16450880" w="16601806">
                <a:moveTo>
                  <a:pt x="0" y="0"/>
                </a:moveTo>
                <a:lnTo>
                  <a:pt x="16601806" y="0"/>
                </a:lnTo>
                <a:lnTo>
                  <a:pt x="16601806" y="16450880"/>
                </a:lnTo>
                <a:lnTo>
                  <a:pt x="0" y="164508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09284" y="1609202"/>
            <a:ext cx="15469431" cy="7813312"/>
            <a:chOff x="0" y="0"/>
            <a:chExt cx="20625908" cy="1041775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0625908" cy="10417750"/>
              <a:chOff x="0" y="0"/>
              <a:chExt cx="3955689" cy="199794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955688" cy="1997942"/>
              </a:xfrm>
              <a:custGeom>
                <a:avLst/>
                <a:gdLst/>
                <a:ahLst/>
                <a:cxnLst/>
                <a:rect r="r" b="b" t="t" l="l"/>
                <a:pathLst>
                  <a:path h="1997942" w="3955688">
                    <a:moveTo>
                      <a:pt x="387627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918524"/>
                    </a:lnTo>
                    <a:cubicBezTo>
                      <a:pt x="43699" y="1918524"/>
                      <a:pt x="79418" y="1953863"/>
                      <a:pt x="79418" y="1997942"/>
                    </a:cubicBezTo>
                    <a:lnTo>
                      <a:pt x="3876270" y="1997942"/>
                    </a:lnTo>
                    <a:cubicBezTo>
                      <a:pt x="3876270" y="1954243"/>
                      <a:pt x="3911609" y="1918524"/>
                      <a:pt x="3955688" y="1918524"/>
                    </a:cubicBezTo>
                    <a:lnTo>
                      <a:pt x="3955688" y="79418"/>
                    </a:lnTo>
                    <a:cubicBezTo>
                      <a:pt x="3911989" y="79418"/>
                      <a:pt x="3876270" y="44079"/>
                      <a:pt x="3876270" y="0"/>
                    </a:cubicBezTo>
                    <a:close/>
                  </a:path>
                </a:pathLst>
              </a:custGeom>
              <a:ln w="123825" cap="sq">
                <a:solidFill>
                  <a:srgbClr val="64050C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38100" y="0"/>
                <a:ext cx="3879489" cy="19598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390050" y="360355"/>
              <a:ext cx="19820409" cy="9697040"/>
              <a:chOff x="0" y="0"/>
              <a:chExt cx="3801208" cy="185972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801208" cy="1859723"/>
              </a:xfrm>
              <a:custGeom>
                <a:avLst/>
                <a:gdLst/>
                <a:ahLst/>
                <a:cxnLst/>
                <a:rect r="r" b="b" t="t" l="l"/>
                <a:pathLst>
                  <a:path h="1859723" w="3801208">
                    <a:moveTo>
                      <a:pt x="372179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780305"/>
                    </a:lnTo>
                    <a:cubicBezTo>
                      <a:pt x="43699" y="1780305"/>
                      <a:pt x="79418" y="1815644"/>
                      <a:pt x="79418" y="1859723"/>
                    </a:cubicBezTo>
                    <a:lnTo>
                      <a:pt x="3721790" y="1859723"/>
                    </a:lnTo>
                    <a:cubicBezTo>
                      <a:pt x="3721790" y="1816023"/>
                      <a:pt x="3757129" y="1780305"/>
                      <a:pt x="3801208" y="1780305"/>
                    </a:cubicBezTo>
                    <a:lnTo>
                      <a:pt x="3801208" y="79418"/>
                    </a:lnTo>
                    <a:cubicBezTo>
                      <a:pt x="3757509" y="79418"/>
                      <a:pt x="3721790" y="44079"/>
                      <a:pt x="3721790" y="0"/>
                    </a:cubicBezTo>
                    <a:close/>
                  </a:path>
                </a:pathLst>
              </a:custGeom>
              <a:ln w="66675" cap="sq">
                <a:solidFill>
                  <a:srgbClr val="C72228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38100" y="0"/>
                <a:ext cx="3725008" cy="18216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true" flipV="false" rot="0">
            <a:off x="-781992" y="8212199"/>
            <a:ext cx="2995824" cy="3102217"/>
          </a:xfrm>
          <a:custGeom>
            <a:avLst/>
            <a:gdLst/>
            <a:ahLst/>
            <a:cxnLst/>
            <a:rect r="r" b="b" t="t" l="l"/>
            <a:pathLst>
              <a:path h="3102217" w="2995824">
                <a:moveTo>
                  <a:pt x="2995824" y="0"/>
                </a:moveTo>
                <a:lnTo>
                  <a:pt x="0" y="0"/>
                </a:lnTo>
                <a:lnTo>
                  <a:pt x="0" y="3102217"/>
                </a:lnTo>
                <a:lnTo>
                  <a:pt x="2995824" y="3102217"/>
                </a:lnTo>
                <a:lnTo>
                  <a:pt x="29958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-41724" y="0"/>
            <a:ext cx="3511040" cy="2534333"/>
          </a:xfrm>
          <a:custGeom>
            <a:avLst/>
            <a:gdLst/>
            <a:ahLst/>
            <a:cxnLst/>
            <a:rect r="r" b="b" t="t" l="l"/>
            <a:pathLst>
              <a:path h="2534333" w="3511040">
                <a:moveTo>
                  <a:pt x="3511040" y="2534333"/>
                </a:moveTo>
                <a:lnTo>
                  <a:pt x="0" y="2534333"/>
                </a:lnTo>
                <a:lnTo>
                  <a:pt x="0" y="0"/>
                </a:lnTo>
                <a:lnTo>
                  <a:pt x="3511040" y="0"/>
                </a:lnTo>
                <a:lnTo>
                  <a:pt x="3511040" y="253433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5222013" y="8077786"/>
            <a:ext cx="3147843" cy="2209214"/>
          </a:xfrm>
          <a:custGeom>
            <a:avLst/>
            <a:gdLst/>
            <a:ahLst/>
            <a:cxnLst/>
            <a:rect r="r" b="b" t="t" l="l"/>
            <a:pathLst>
              <a:path h="2209214" w="3147843">
                <a:moveTo>
                  <a:pt x="3147843" y="0"/>
                </a:moveTo>
                <a:lnTo>
                  <a:pt x="0" y="0"/>
                </a:lnTo>
                <a:lnTo>
                  <a:pt x="0" y="2209214"/>
                </a:lnTo>
                <a:lnTo>
                  <a:pt x="3147843" y="2209214"/>
                </a:lnTo>
                <a:lnTo>
                  <a:pt x="314784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1474513">
            <a:off x="16261278" y="-962399"/>
            <a:ext cx="3127720" cy="3675597"/>
          </a:xfrm>
          <a:custGeom>
            <a:avLst/>
            <a:gdLst/>
            <a:ahLst/>
            <a:cxnLst/>
            <a:rect r="r" b="b" t="t" l="l"/>
            <a:pathLst>
              <a:path h="3675597" w="3127720">
                <a:moveTo>
                  <a:pt x="0" y="3675597"/>
                </a:moveTo>
                <a:lnTo>
                  <a:pt x="3127719" y="3675597"/>
                </a:lnTo>
                <a:lnTo>
                  <a:pt x="3127719" y="0"/>
                </a:lnTo>
                <a:lnTo>
                  <a:pt x="0" y="0"/>
                </a:lnTo>
                <a:lnTo>
                  <a:pt x="0" y="367559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338354" y="1790818"/>
            <a:ext cx="1408623" cy="1487030"/>
          </a:xfrm>
          <a:custGeom>
            <a:avLst/>
            <a:gdLst/>
            <a:ahLst/>
            <a:cxnLst/>
            <a:rect r="r" b="b" t="t" l="l"/>
            <a:pathLst>
              <a:path h="1487030" w="1408623">
                <a:moveTo>
                  <a:pt x="0" y="0"/>
                </a:moveTo>
                <a:lnTo>
                  <a:pt x="1408623" y="0"/>
                </a:lnTo>
                <a:lnTo>
                  <a:pt x="1408623" y="1487030"/>
                </a:lnTo>
                <a:lnTo>
                  <a:pt x="0" y="14870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4614110">
            <a:off x="17566900" y="6727958"/>
            <a:ext cx="1264825" cy="1196571"/>
          </a:xfrm>
          <a:custGeom>
            <a:avLst/>
            <a:gdLst/>
            <a:ahLst/>
            <a:cxnLst/>
            <a:rect r="r" b="b" t="t" l="l"/>
            <a:pathLst>
              <a:path h="1196571" w="1264825">
                <a:moveTo>
                  <a:pt x="0" y="0"/>
                </a:moveTo>
                <a:lnTo>
                  <a:pt x="1264825" y="0"/>
                </a:lnTo>
                <a:lnTo>
                  <a:pt x="1264825" y="1196571"/>
                </a:lnTo>
                <a:lnTo>
                  <a:pt x="0" y="119657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3060773" y="2155163"/>
            <a:ext cx="12166455" cy="1306810"/>
            <a:chOff x="0" y="0"/>
            <a:chExt cx="16221940" cy="1742413"/>
          </a:xfrm>
        </p:grpSpPr>
        <p:grpSp>
          <p:nvGrpSpPr>
            <p:cNvPr name="Group 17" id="17"/>
            <p:cNvGrpSpPr/>
            <p:nvPr/>
          </p:nvGrpSpPr>
          <p:grpSpPr>
            <a:xfrm rot="-5400000">
              <a:off x="-216410" y="216410"/>
              <a:ext cx="1742413" cy="1309592"/>
              <a:chOff x="0" y="0"/>
              <a:chExt cx="344180" cy="25868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44180" cy="258685"/>
              </a:xfrm>
              <a:custGeom>
                <a:avLst/>
                <a:gdLst/>
                <a:ahLst/>
                <a:cxnLst/>
                <a:rect r="r" b="b" t="t" l="l"/>
                <a:pathLst>
                  <a:path h="258685" w="344180">
                    <a:moveTo>
                      <a:pt x="344180" y="0"/>
                    </a:moveTo>
                    <a:lnTo>
                      <a:pt x="344180" y="144385"/>
                    </a:lnTo>
                    <a:lnTo>
                      <a:pt x="172090" y="258685"/>
                    </a:lnTo>
                    <a:lnTo>
                      <a:pt x="0" y="144385"/>
                    </a:lnTo>
                    <a:lnTo>
                      <a:pt x="0" y="0"/>
                    </a:lnTo>
                    <a:lnTo>
                      <a:pt x="344180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344180" cy="1824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940478" y="0"/>
              <a:ext cx="14340984" cy="1742413"/>
              <a:chOff x="0" y="0"/>
              <a:chExt cx="2832787" cy="34418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832787" cy="344180"/>
              </a:xfrm>
              <a:custGeom>
                <a:avLst/>
                <a:gdLst/>
                <a:ahLst/>
                <a:cxnLst/>
                <a:rect r="r" b="b" t="t" l="l"/>
                <a:pathLst>
                  <a:path h="344180" w="2832787">
                    <a:moveTo>
                      <a:pt x="2832787" y="0"/>
                    </a:moveTo>
                    <a:lnTo>
                      <a:pt x="0" y="0"/>
                    </a:lnTo>
                    <a:lnTo>
                      <a:pt x="101600" y="172090"/>
                    </a:lnTo>
                    <a:lnTo>
                      <a:pt x="0" y="344180"/>
                    </a:lnTo>
                    <a:lnTo>
                      <a:pt x="2832787" y="344180"/>
                    </a:lnTo>
                    <a:lnTo>
                      <a:pt x="2731187" y="172090"/>
                    </a:lnTo>
                    <a:lnTo>
                      <a:pt x="2832787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88900" y="-38100"/>
                <a:ext cx="2654987" cy="3822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5400000">
              <a:off x="14695937" y="216410"/>
              <a:ext cx="1742413" cy="1309592"/>
              <a:chOff x="0" y="0"/>
              <a:chExt cx="344180" cy="25868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344180" cy="258685"/>
              </a:xfrm>
              <a:custGeom>
                <a:avLst/>
                <a:gdLst/>
                <a:ahLst/>
                <a:cxnLst/>
                <a:rect r="r" b="b" t="t" l="l"/>
                <a:pathLst>
                  <a:path h="258685" w="344180">
                    <a:moveTo>
                      <a:pt x="344180" y="0"/>
                    </a:moveTo>
                    <a:lnTo>
                      <a:pt x="344180" y="144385"/>
                    </a:lnTo>
                    <a:lnTo>
                      <a:pt x="172090" y="258685"/>
                    </a:lnTo>
                    <a:lnTo>
                      <a:pt x="0" y="144385"/>
                    </a:lnTo>
                    <a:lnTo>
                      <a:pt x="0" y="0"/>
                    </a:lnTo>
                    <a:lnTo>
                      <a:pt x="344180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344180" cy="1824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1622928" y="508733"/>
              <a:ext cx="12949802" cy="880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VANTAGENS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587882" y="4045878"/>
            <a:ext cx="14198527" cy="5136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Satisfação do cliente.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Cl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iente recebe soluções mais úteis.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Ex: sistema automatizado evolui conforme necessidade.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Mudanças são b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em-vindas.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Maior flexibilidade no projeto.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Ex: alteração ráp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ida sem interromp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er produção.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Entreg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as frequen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tes.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Resultados mai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s rápidos.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Ex: novas funcionalidades liberadas continuamente.</a:t>
            </a:r>
          </a:p>
          <a:p>
            <a:pPr algn="l">
              <a:lnSpc>
                <a:spcPts val="4060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</a:p>
        </p:txBody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85654" y="-8225440"/>
            <a:ext cx="16601806" cy="16450880"/>
          </a:xfrm>
          <a:custGeom>
            <a:avLst/>
            <a:gdLst/>
            <a:ahLst/>
            <a:cxnLst/>
            <a:rect r="r" b="b" t="t" l="l"/>
            <a:pathLst>
              <a:path h="16450880" w="16601806">
                <a:moveTo>
                  <a:pt x="0" y="0"/>
                </a:moveTo>
                <a:lnTo>
                  <a:pt x="16601806" y="0"/>
                </a:lnTo>
                <a:lnTo>
                  <a:pt x="16601806" y="16450880"/>
                </a:lnTo>
                <a:lnTo>
                  <a:pt x="0" y="164508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09284" y="1609202"/>
            <a:ext cx="15469431" cy="7813312"/>
            <a:chOff x="0" y="0"/>
            <a:chExt cx="20625908" cy="1041775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0625908" cy="10417750"/>
              <a:chOff x="0" y="0"/>
              <a:chExt cx="3955689" cy="199794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955688" cy="1997942"/>
              </a:xfrm>
              <a:custGeom>
                <a:avLst/>
                <a:gdLst/>
                <a:ahLst/>
                <a:cxnLst/>
                <a:rect r="r" b="b" t="t" l="l"/>
                <a:pathLst>
                  <a:path h="1997942" w="3955688">
                    <a:moveTo>
                      <a:pt x="387627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918524"/>
                    </a:lnTo>
                    <a:cubicBezTo>
                      <a:pt x="43699" y="1918524"/>
                      <a:pt x="79418" y="1953863"/>
                      <a:pt x="79418" y="1997942"/>
                    </a:cubicBezTo>
                    <a:lnTo>
                      <a:pt x="3876270" y="1997942"/>
                    </a:lnTo>
                    <a:cubicBezTo>
                      <a:pt x="3876270" y="1954243"/>
                      <a:pt x="3911609" y="1918524"/>
                      <a:pt x="3955688" y="1918524"/>
                    </a:cubicBezTo>
                    <a:lnTo>
                      <a:pt x="3955688" y="79418"/>
                    </a:lnTo>
                    <a:cubicBezTo>
                      <a:pt x="3911989" y="79418"/>
                      <a:pt x="3876270" y="44079"/>
                      <a:pt x="3876270" y="0"/>
                    </a:cubicBezTo>
                    <a:close/>
                  </a:path>
                </a:pathLst>
              </a:custGeom>
              <a:ln w="123825" cap="sq">
                <a:solidFill>
                  <a:srgbClr val="64050C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38100" y="0"/>
                <a:ext cx="3879489" cy="19598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390050" y="360355"/>
              <a:ext cx="19820409" cy="9697040"/>
              <a:chOff x="0" y="0"/>
              <a:chExt cx="3801208" cy="185972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801208" cy="1859723"/>
              </a:xfrm>
              <a:custGeom>
                <a:avLst/>
                <a:gdLst/>
                <a:ahLst/>
                <a:cxnLst/>
                <a:rect r="r" b="b" t="t" l="l"/>
                <a:pathLst>
                  <a:path h="1859723" w="3801208">
                    <a:moveTo>
                      <a:pt x="372179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780305"/>
                    </a:lnTo>
                    <a:cubicBezTo>
                      <a:pt x="43699" y="1780305"/>
                      <a:pt x="79418" y="1815644"/>
                      <a:pt x="79418" y="1859723"/>
                    </a:cubicBezTo>
                    <a:lnTo>
                      <a:pt x="3721790" y="1859723"/>
                    </a:lnTo>
                    <a:cubicBezTo>
                      <a:pt x="3721790" y="1816023"/>
                      <a:pt x="3757129" y="1780305"/>
                      <a:pt x="3801208" y="1780305"/>
                    </a:cubicBezTo>
                    <a:lnTo>
                      <a:pt x="3801208" y="79418"/>
                    </a:lnTo>
                    <a:cubicBezTo>
                      <a:pt x="3757509" y="79418"/>
                      <a:pt x="3721790" y="44079"/>
                      <a:pt x="3721790" y="0"/>
                    </a:cubicBezTo>
                    <a:close/>
                  </a:path>
                </a:pathLst>
              </a:custGeom>
              <a:ln w="66675" cap="sq">
                <a:solidFill>
                  <a:srgbClr val="C72228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38100" y="0"/>
                <a:ext cx="3725008" cy="18216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true" flipV="false" rot="0">
            <a:off x="-781992" y="8212199"/>
            <a:ext cx="2995824" cy="3102217"/>
          </a:xfrm>
          <a:custGeom>
            <a:avLst/>
            <a:gdLst/>
            <a:ahLst/>
            <a:cxnLst/>
            <a:rect r="r" b="b" t="t" l="l"/>
            <a:pathLst>
              <a:path h="3102217" w="2995824">
                <a:moveTo>
                  <a:pt x="2995824" y="0"/>
                </a:moveTo>
                <a:lnTo>
                  <a:pt x="0" y="0"/>
                </a:lnTo>
                <a:lnTo>
                  <a:pt x="0" y="3102217"/>
                </a:lnTo>
                <a:lnTo>
                  <a:pt x="2995824" y="3102217"/>
                </a:lnTo>
                <a:lnTo>
                  <a:pt x="29958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-41724" y="0"/>
            <a:ext cx="3511040" cy="2534333"/>
          </a:xfrm>
          <a:custGeom>
            <a:avLst/>
            <a:gdLst/>
            <a:ahLst/>
            <a:cxnLst/>
            <a:rect r="r" b="b" t="t" l="l"/>
            <a:pathLst>
              <a:path h="2534333" w="3511040">
                <a:moveTo>
                  <a:pt x="3511040" y="2534333"/>
                </a:moveTo>
                <a:lnTo>
                  <a:pt x="0" y="2534333"/>
                </a:lnTo>
                <a:lnTo>
                  <a:pt x="0" y="0"/>
                </a:lnTo>
                <a:lnTo>
                  <a:pt x="3511040" y="0"/>
                </a:lnTo>
                <a:lnTo>
                  <a:pt x="3511040" y="253433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5222013" y="8077786"/>
            <a:ext cx="3147843" cy="2209214"/>
          </a:xfrm>
          <a:custGeom>
            <a:avLst/>
            <a:gdLst/>
            <a:ahLst/>
            <a:cxnLst/>
            <a:rect r="r" b="b" t="t" l="l"/>
            <a:pathLst>
              <a:path h="2209214" w="3147843">
                <a:moveTo>
                  <a:pt x="3147843" y="0"/>
                </a:moveTo>
                <a:lnTo>
                  <a:pt x="0" y="0"/>
                </a:lnTo>
                <a:lnTo>
                  <a:pt x="0" y="2209214"/>
                </a:lnTo>
                <a:lnTo>
                  <a:pt x="3147843" y="2209214"/>
                </a:lnTo>
                <a:lnTo>
                  <a:pt x="314784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1474513">
            <a:off x="16261278" y="-962399"/>
            <a:ext cx="3127720" cy="3675597"/>
          </a:xfrm>
          <a:custGeom>
            <a:avLst/>
            <a:gdLst/>
            <a:ahLst/>
            <a:cxnLst/>
            <a:rect r="r" b="b" t="t" l="l"/>
            <a:pathLst>
              <a:path h="3675597" w="3127720">
                <a:moveTo>
                  <a:pt x="0" y="3675597"/>
                </a:moveTo>
                <a:lnTo>
                  <a:pt x="3127719" y="3675597"/>
                </a:lnTo>
                <a:lnTo>
                  <a:pt x="3127719" y="0"/>
                </a:lnTo>
                <a:lnTo>
                  <a:pt x="0" y="0"/>
                </a:lnTo>
                <a:lnTo>
                  <a:pt x="0" y="367559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338354" y="1790818"/>
            <a:ext cx="1408623" cy="1487030"/>
          </a:xfrm>
          <a:custGeom>
            <a:avLst/>
            <a:gdLst/>
            <a:ahLst/>
            <a:cxnLst/>
            <a:rect r="r" b="b" t="t" l="l"/>
            <a:pathLst>
              <a:path h="1487030" w="1408623">
                <a:moveTo>
                  <a:pt x="0" y="0"/>
                </a:moveTo>
                <a:lnTo>
                  <a:pt x="1408623" y="0"/>
                </a:lnTo>
                <a:lnTo>
                  <a:pt x="1408623" y="1487030"/>
                </a:lnTo>
                <a:lnTo>
                  <a:pt x="0" y="14870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4614110">
            <a:off x="17566900" y="6727958"/>
            <a:ext cx="1264825" cy="1196571"/>
          </a:xfrm>
          <a:custGeom>
            <a:avLst/>
            <a:gdLst/>
            <a:ahLst/>
            <a:cxnLst/>
            <a:rect r="r" b="b" t="t" l="l"/>
            <a:pathLst>
              <a:path h="1196571" w="1264825">
                <a:moveTo>
                  <a:pt x="0" y="0"/>
                </a:moveTo>
                <a:lnTo>
                  <a:pt x="1264825" y="0"/>
                </a:lnTo>
                <a:lnTo>
                  <a:pt x="1264825" y="1196571"/>
                </a:lnTo>
                <a:lnTo>
                  <a:pt x="0" y="119657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3060773" y="2155163"/>
            <a:ext cx="12166455" cy="1306810"/>
            <a:chOff x="0" y="0"/>
            <a:chExt cx="16221940" cy="1742413"/>
          </a:xfrm>
        </p:grpSpPr>
        <p:grpSp>
          <p:nvGrpSpPr>
            <p:cNvPr name="Group 17" id="17"/>
            <p:cNvGrpSpPr/>
            <p:nvPr/>
          </p:nvGrpSpPr>
          <p:grpSpPr>
            <a:xfrm rot="-5400000">
              <a:off x="-216410" y="216410"/>
              <a:ext cx="1742413" cy="1309592"/>
              <a:chOff x="0" y="0"/>
              <a:chExt cx="344180" cy="25868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44180" cy="258685"/>
              </a:xfrm>
              <a:custGeom>
                <a:avLst/>
                <a:gdLst/>
                <a:ahLst/>
                <a:cxnLst/>
                <a:rect r="r" b="b" t="t" l="l"/>
                <a:pathLst>
                  <a:path h="258685" w="344180">
                    <a:moveTo>
                      <a:pt x="344180" y="0"/>
                    </a:moveTo>
                    <a:lnTo>
                      <a:pt x="344180" y="144385"/>
                    </a:lnTo>
                    <a:lnTo>
                      <a:pt x="172090" y="258685"/>
                    </a:lnTo>
                    <a:lnTo>
                      <a:pt x="0" y="144385"/>
                    </a:lnTo>
                    <a:lnTo>
                      <a:pt x="0" y="0"/>
                    </a:lnTo>
                    <a:lnTo>
                      <a:pt x="344180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344180" cy="1824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940478" y="0"/>
              <a:ext cx="14340984" cy="1742413"/>
              <a:chOff x="0" y="0"/>
              <a:chExt cx="2832787" cy="34418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832787" cy="344180"/>
              </a:xfrm>
              <a:custGeom>
                <a:avLst/>
                <a:gdLst/>
                <a:ahLst/>
                <a:cxnLst/>
                <a:rect r="r" b="b" t="t" l="l"/>
                <a:pathLst>
                  <a:path h="344180" w="2832787">
                    <a:moveTo>
                      <a:pt x="2832787" y="0"/>
                    </a:moveTo>
                    <a:lnTo>
                      <a:pt x="0" y="0"/>
                    </a:lnTo>
                    <a:lnTo>
                      <a:pt x="101600" y="172090"/>
                    </a:lnTo>
                    <a:lnTo>
                      <a:pt x="0" y="344180"/>
                    </a:lnTo>
                    <a:lnTo>
                      <a:pt x="2832787" y="344180"/>
                    </a:lnTo>
                    <a:lnTo>
                      <a:pt x="2731187" y="172090"/>
                    </a:lnTo>
                    <a:lnTo>
                      <a:pt x="2832787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88900" y="-38100"/>
                <a:ext cx="2654987" cy="3822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5400000">
              <a:off x="14695937" y="216410"/>
              <a:ext cx="1742413" cy="1309592"/>
              <a:chOff x="0" y="0"/>
              <a:chExt cx="344180" cy="25868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344180" cy="258685"/>
              </a:xfrm>
              <a:custGeom>
                <a:avLst/>
                <a:gdLst/>
                <a:ahLst/>
                <a:cxnLst/>
                <a:rect r="r" b="b" t="t" l="l"/>
                <a:pathLst>
                  <a:path h="258685" w="344180">
                    <a:moveTo>
                      <a:pt x="344180" y="0"/>
                    </a:moveTo>
                    <a:lnTo>
                      <a:pt x="344180" y="144385"/>
                    </a:lnTo>
                    <a:lnTo>
                      <a:pt x="172090" y="258685"/>
                    </a:lnTo>
                    <a:lnTo>
                      <a:pt x="0" y="144385"/>
                    </a:lnTo>
                    <a:lnTo>
                      <a:pt x="0" y="0"/>
                    </a:lnTo>
                    <a:lnTo>
                      <a:pt x="344180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344180" cy="1824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1622928" y="508733"/>
              <a:ext cx="12949802" cy="880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VANTAGENS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587882" y="4045878"/>
            <a:ext cx="14198527" cy="5136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Colaboração diária.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M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enos erros de comunicação.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Ex: alinhamento constante evita retrabalho.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Pe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ssoas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motivadas.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Maior produtividade da equipe.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Ex: time engajado entreg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a mais rápi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do.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Comunic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ação dire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ta.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Decisões mai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s ágeis.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Ex: solução rápida de falhas no sistema.</a:t>
            </a:r>
          </a:p>
          <a:p>
            <a:pPr algn="l">
              <a:lnSpc>
                <a:spcPts val="4060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13</a:t>
            </a:r>
          </a:p>
        </p:txBody>
      </p: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85654" y="-8225440"/>
            <a:ext cx="16601806" cy="16450880"/>
          </a:xfrm>
          <a:custGeom>
            <a:avLst/>
            <a:gdLst/>
            <a:ahLst/>
            <a:cxnLst/>
            <a:rect r="r" b="b" t="t" l="l"/>
            <a:pathLst>
              <a:path h="16450880" w="16601806">
                <a:moveTo>
                  <a:pt x="0" y="0"/>
                </a:moveTo>
                <a:lnTo>
                  <a:pt x="16601806" y="0"/>
                </a:lnTo>
                <a:lnTo>
                  <a:pt x="16601806" y="16450880"/>
                </a:lnTo>
                <a:lnTo>
                  <a:pt x="0" y="164508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09284" y="1609202"/>
            <a:ext cx="15469431" cy="7813312"/>
            <a:chOff x="0" y="0"/>
            <a:chExt cx="20625908" cy="1041775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0625908" cy="10417750"/>
              <a:chOff x="0" y="0"/>
              <a:chExt cx="3955689" cy="199794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955688" cy="1997942"/>
              </a:xfrm>
              <a:custGeom>
                <a:avLst/>
                <a:gdLst/>
                <a:ahLst/>
                <a:cxnLst/>
                <a:rect r="r" b="b" t="t" l="l"/>
                <a:pathLst>
                  <a:path h="1997942" w="3955688">
                    <a:moveTo>
                      <a:pt x="387627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918524"/>
                    </a:lnTo>
                    <a:cubicBezTo>
                      <a:pt x="43699" y="1918524"/>
                      <a:pt x="79418" y="1953863"/>
                      <a:pt x="79418" y="1997942"/>
                    </a:cubicBezTo>
                    <a:lnTo>
                      <a:pt x="3876270" y="1997942"/>
                    </a:lnTo>
                    <a:cubicBezTo>
                      <a:pt x="3876270" y="1954243"/>
                      <a:pt x="3911609" y="1918524"/>
                      <a:pt x="3955688" y="1918524"/>
                    </a:cubicBezTo>
                    <a:lnTo>
                      <a:pt x="3955688" y="79418"/>
                    </a:lnTo>
                    <a:cubicBezTo>
                      <a:pt x="3911989" y="79418"/>
                      <a:pt x="3876270" y="44079"/>
                      <a:pt x="3876270" y="0"/>
                    </a:cubicBezTo>
                    <a:close/>
                  </a:path>
                </a:pathLst>
              </a:custGeom>
              <a:ln w="123825" cap="sq">
                <a:solidFill>
                  <a:srgbClr val="64050C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38100" y="0"/>
                <a:ext cx="3879489" cy="19598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390050" y="360355"/>
              <a:ext cx="19820409" cy="9697040"/>
              <a:chOff x="0" y="0"/>
              <a:chExt cx="3801208" cy="185972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801208" cy="1859723"/>
              </a:xfrm>
              <a:custGeom>
                <a:avLst/>
                <a:gdLst/>
                <a:ahLst/>
                <a:cxnLst/>
                <a:rect r="r" b="b" t="t" l="l"/>
                <a:pathLst>
                  <a:path h="1859723" w="3801208">
                    <a:moveTo>
                      <a:pt x="372179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780305"/>
                    </a:lnTo>
                    <a:cubicBezTo>
                      <a:pt x="43699" y="1780305"/>
                      <a:pt x="79418" y="1815644"/>
                      <a:pt x="79418" y="1859723"/>
                    </a:cubicBezTo>
                    <a:lnTo>
                      <a:pt x="3721790" y="1859723"/>
                    </a:lnTo>
                    <a:cubicBezTo>
                      <a:pt x="3721790" y="1816023"/>
                      <a:pt x="3757129" y="1780305"/>
                      <a:pt x="3801208" y="1780305"/>
                    </a:cubicBezTo>
                    <a:lnTo>
                      <a:pt x="3801208" y="79418"/>
                    </a:lnTo>
                    <a:cubicBezTo>
                      <a:pt x="3757509" y="79418"/>
                      <a:pt x="3721790" y="44079"/>
                      <a:pt x="3721790" y="0"/>
                    </a:cubicBezTo>
                    <a:close/>
                  </a:path>
                </a:pathLst>
              </a:custGeom>
              <a:ln w="66675" cap="sq">
                <a:solidFill>
                  <a:srgbClr val="C72228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38100" y="0"/>
                <a:ext cx="3725008" cy="18216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true" flipV="false" rot="0">
            <a:off x="-781992" y="8212199"/>
            <a:ext cx="2995824" cy="3102217"/>
          </a:xfrm>
          <a:custGeom>
            <a:avLst/>
            <a:gdLst/>
            <a:ahLst/>
            <a:cxnLst/>
            <a:rect r="r" b="b" t="t" l="l"/>
            <a:pathLst>
              <a:path h="3102217" w="2995824">
                <a:moveTo>
                  <a:pt x="2995824" y="0"/>
                </a:moveTo>
                <a:lnTo>
                  <a:pt x="0" y="0"/>
                </a:lnTo>
                <a:lnTo>
                  <a:pt x="0" y="3102217"/>
                </a:lnTo>
                <a:lnTo>
                  <a:pt x="2995824" y="3102217"/>
                </a:lnTo>
                <a:lnTo>
                  <a:pt x="29958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38354" y="1790818"/>
            <a:ext cx="1408623" cy="1487030"/>
          </a:xfrm>
          <a:custGeom>
            <a:avLst/>
            <a:gdLst/>
            <a:ahLst/>
            <a:cxnLst/>
            <a:rect r="r" b="b" t="t" l="l"/>
            <a:pathLst>
              <a:path h="1487030" w="1408623">
                <a:moveTo>
                  <a:pt x="0" y="0"/>
                </a:moveTo>
                <a:lnTo>
                  <a:pt x="1408623" y="0"/>
                </a:lnTo>
                <a:lnTo>
                  <a:pt x="1408623" y="1487030"/>
                </a:lnTo>
                <a:lnTo>
                  <a:pt x="0" y="14870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4614110">
            <a:off x="17566900" y="6727958"/>
            <a:ext cx="1264825" cy="1196571"/>
          </a:xfrm>
          <a:custGeom>
            <a:avLst/>
            <a:gdLst/>
            <a:ahLst/>
            <a:cxnLst/>
            <a:rect r="r" b="b" t="t" l="l"/>
            <a:pathLst>
              <a:path h="1196571" w="1264825">
                <a:moveTo>
                  <a:pt x="0" y="0"/>
                </a:moveTo>
                <a:lnTo>
                  <a:pt x="1264825" y="0"/>
                </a:lnTo>
                <a:lnTo>
                  <a:pt x="1264825" y="1196571"/>
                </a:lnTo>
                <a:lnTo>
                  <a:pt x="0" y="11965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3060773" y="2155163"/>
            <a:ext cx="12166455" cy="1306810"/>
            <a:chOff x="0" y="0"/>
            <a:chExt cx="16221940" cy="1742413"/>
          </a:xfrm>
        </p:grpSpPr>
        <p:grpSp>
          <p:nvGrpSpPr>
            <p:cNvPr name="Group 14" id="14"/>
            <p:cNvGrpSpPr/>
            <p:nvPr/>
          </p:nvGrpSpPr>
          <p:grpSpPr>
            <a:xfrm rot="-5400000">
              <a:off x="-216410" y="216410"/>
              <a:ext cx="1742413" cy="1309592"/>
              <a:chOff x="0" y="0"/>
              <a:chExt cx="344180" cy="258685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344180" cy="258685"/>
              </a:xfrm>
              <a:custGeom>
                <a:avLst/>
                <a:gdLst/>
                <a:ahLst/>
                <a:cxnLst/>
                <a:rect r="r" b="b" t="t" l="l"/>
                <a:pathLst>
                  <a:path h="258685" w="344180">
                    <a:moveTo>
                      <a:pt x="344180" y="0"/>
                    </a:moveTo>
                    <a:lnTo>
                      <a:pt x="344180" y="144385"/>
                    </a:lnTo>
                    <a:lnTo>
                      <a:pt x="172090" y="258685"/>
                    </a:lnTo>
                    <a:lnTo>
                      <a:pt x="0" y="144385"/>
                    </a:lnTo>
                    <a:lnTo>
                      <a:pt x="0" y="0"/>
                    </a:lnTo>
                    <a:lnTo>
                      <a:pt x="344180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344180" cy="1824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940478" y="0"/>
              <a:ext cx="14340984" cy="1742413"/>
              <a:chOff x="0" y="0"/>
              <a:chExt cx="2832787" cy="34418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832787" cy="344180"/>
              </a:xfrm>
              <a:custGeom>
                <a:avLst/>
                <a:gdLst/>
                <a:ahLst/>
                <a:cxnLst/>
                <a:rect r="r" b="b" t="t" l="l"/>
                <a:pathLst>
                  <a:path h="344180" w="2832787">
                    <a:moveTo>
                      <a:pt x="2832787" y="0"/>
                    </a:moveTo>
                    <a:lnTo>
                      <a:pt x="0" y="0"/>
                    </a:lnTo>
                    <a:lnTo>
                      <a:pt x="101600" y="172090"/>
                    </a:lnTo>
                    <a:lnTo>
                      <a:pt x="0" y="344180"/>
                    </a:lnTo>
                    <a:lnTo>
                      <a:pt x="2832787" y="344180"/>
                    </a:lnTo>
                    <a:lnTo>
                      <a:pt x="2731187" y="172090"/>
                    </a:lnTo>
                    <a:lnTo>
                      <a:pt x="2832787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88900" y="-38100"/>
                <a:ext cx="2654987" cy="3822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5400000">
              <a:off x="14695937" y="216410"/>
              <a:ext cx="1742413" cy="1309592"/>
              <a:chOff x="0" y="0"/>
              <a:chExt cx="344180" cy="258685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344180" cy="258685"/>
              </a:xfrm>
              <a:custGeom>
                <a:avLst/>
                <a:gdLst/>
                <a:ahLst/>
                <a:cxnLst/>
                <a:rect r="r" b="b" t="t" l="l"/>
                <a:pathLst>
                  <a:path h="258685" w="344180">
                    <a:moveTo>
                      <a:pt x="344180" y="0"/>
                    </a:moveTo>
                    <a:lnTo>
                      <a:pt x="344180" y="144385"/>
                    </a:lnTo>
                    <a:lnTo>
                      <a:pt x="172090" y="258685"/>
                    </a:lnTo>
                    <a:lnTo>
                      <a:pt x="0" y="144385"/>
                    </a:lnTo>
                    <a:lnTo>
                      <a:pt x="0" y="0"/>
                    </a:lnTo>
                    <a:lnTo>
                      <a:pt x="344180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344180" cy="1824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1622928" y="508733"/>
              <a:ext cx="12949802" cy="880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VANTAGENS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597407" y="4039781"/>
            <a:ext cx="14198527" cy="5136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Software funcionando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E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ntrega de valor real.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Ex: automação funcionando gera resultados imediatos.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Ritmo sustentável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Menos e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stresse e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mais qualidade.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Ex: equipe m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antém produtividade constante.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Excelência técnica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Menos f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alhas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o sis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tema.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Ex: testes a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utomatizados evitam bugs.</a:t>
            </a:r>
          </a:p>
          <a:p>
            <a:pPr algn="l">
              <a:lnSpc>
                <a:spcPts val="4060"/>
              </a:lnSpc>
            </a:pPr>
          </a:p>
        </p:txBody>
      </p:sp>
      <p:sp>
        <p:nvSpPr>
          <p:cNvPr name="Freeform 25" id="25"/>
          <p:cNvSpPr/>
          <p:nvPr/>
        </p:nvSpPr>
        <p:spPr>
          <a:xfrm flipH="true" flipV="true" rot="0">
            <a:off x="-41724" y="0"/>
            <a:ext cx="3511040" cy="2534333"/>
          </a:xfrm>
          <a:custGeom>
            <a:avLst/>
            <a:gdLst/>
            <a:ahLst/>
            <a:cxnLst/>
            <a:rect r="r" b="b" t="t" l="l"/>
            <a:pathLst>
              <a:path h="2534333" w="3511040">
                <a:moveTo>
                  <a:pt x="3511040" y="2534333"/>
                </a:moveTo>
                <a:lnTo>
                  <a:pt x="0" y="2534333"/>
                </a:lnTo>
                <a:lnTo>
                  <a:pt x="0" y="0"/>
                </a:lnTo>
                <a:lnTo>
                  <a:pt x="3511040" y="0"/>
                </a:lnTo>
                <a:lnTo>
                  <a:pt x="3511040" y="2534333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true" flipV="false" rot="0">
            <a:off x="15222013" y="8077786"/>
            <a:ext cx="3147843" cy="2209214"/>
          </a:xfrm>
          <a:custGeom>
            <a:avLst/>
            <a:gdLst/>
            <a:ahLst/>
            <a:cxnLst/>
            <a:rect r="r" b="b" t="t" l="l"/>
            <a:pathLst>
              <a:path h="2209214" w="3147843">
                <a:moveTo>
                  <a:pt x="3147843" y="0"/>
                </a:moveTo>
                <a:lnTo>
                  <a:pt x="0" y="0"/>
                </a:lnTo>
                <a:lnTo>
                  <a:pt x="0" y="2209214"/>
                </a:lnTo>
                <a:lnTo>
                  <a:pt x="3147843" y="2209214"/>
                </a:lnTo>
                <a:lnTo>
                  <a:pt x="3147843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true" rot="1474513">
            <a:off x="16261278" y="-962399"/>
            <a:ext cx="3127720" cy="3675597"/>
          </a:xfrm>
          <a:custGeom>
            <a:avLst/>
            <a:gdLst/>
            <a:ahLst/>
            <a:cxnLst/>
            <a:rect r="r" b="b" t="t" l="l"/>
            <a:pathLst>
              <a:path h="3675597" w="3127720">
                <a:moveTo>
                  <a:pt x="0" y="3675597"/>
                </a:moveTo>
                <a:lnTo>
                  <a:pt x="3127719" y="3675597"/>
                </a:lnTo>
                <a:lnTo>
                  <a:pt x="3127719" y="0"/>
                </a:lnTo>
                <a:lnTo>
                  <a:pt x="0" y="0"/>
                </a:lnTo>
                <a:lnTo>
                  <a:pt x="0" y="3675597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14</a:t>
            </a:r>
          </a:p>
        </p:txBody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85654" y="-8225440"/>
            <a:ext cx="16601806" cy="16450880"/>
          </a:xfrm>
          <a:custGeom>
            <a:avLst/>
            <a:gdLst/>
            <a:ahLst/>
            <a:cxnLst/>
            <a:rect r="r" b="b" t="t" l="l"/>
            <a:pathLst>
              <a:path h="16450880" w="16601806">
                <a:moveTo>
                  <a:pt x="0" y="0"/>
                </a:moveTo>
                <a:lnTo>
                  <a:pt x="16601806" y="0"/>
                </a:lnTo>
                <a:lnTo>
                  <a:pt x="16601806" y="16450880"/>
                </a:lnTo>
                <a:lnTo>
                  <a:pt x="0" y="164508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09284" y="1609202"/>
            <a:ext cx="15469431" cy="7813312"/>
            <a:chOff x="0" y="0"/>
            <a:chExt cx="20625908" cy="1041775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390050" y="360355"/>
              <a:ext cx="19820409" cy="9697040"/>
              <a:chOff x="0" y="0"/>
              <a:chExt cx="3801208" cy="185972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801208" cy="1859723"/>
              </a:xfrm>
              <a:custGeom>
                <a:avLst/>
                <a:gdLst/>
                <a:ahLst/>
                <a:cxnLst/>
                <a:rect r="r" b="b" t="t" l="l"/>
                <a:pathLst>
                  <a:path h="1859723" w="3801208">
                    <a:moveTo>
                      <a:pt x="372179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780305"/>
                    </a:lnTo>
                    <a:cubicBezTo>
                      <a:pt x="43699" y="1780305"/>
                      <a:pt x="79418" y="1815644"/>
                      <a:pt x="79418" y="1859723"/>
                    </a:cubicBezTo>
                    <a:lnTo>
                      <a:pt x="3721790" y="1859723"/>
                    </a:lnTo>
                    <a:cubicBezTo>
                      <a:pt x="3721790" y="1816023"/>
                      <a:pt x="3757129" y="1780305"/>
                      <a:pt x="3801208" y="1780305"/>
                    </a:cubicBezTo>
                    <a:lnTo>
                      <a:pt x="3801208" y="79418"/>
                    </a:lnTo>
                    <a:cubicBezTo>
                      <a:pt x="3757509" y="79418"/>
                      <a:pt x="3721790" y="44079"/>
                      <a:pt x="3721790" y="0"/>
                    </a:cubicBezTo>
                    <a:close/>
                  </a:path>
                </a:pathLst>
              </a:custGeom>
              <a:ln w="66675" cap="sq">
                <a:solidFill>
                  <a:srgbClr val="C72228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38100" y="0"/>
                <a:ext cx="3725008" cy="18216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20625908" cy="10417750"/>
              <a:chOff x="0" y="0"/>
              <a:chExt cx="3955689" cy="1997942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955688" cy="1997942"/>
              </a:xfrm>
              <a:custGeom>
                <a:avLst/>
                <a:gdLst/>
                <a:ahLst/>
                <a:cxnLst/>
                <a:rect r="r" b="b" t="t" l="l"/>
                <a:pathLst>
                  <a:path h="1997942" w="3955688">
                    <a:moveTo>
                      <a:pt x="387627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918524"/>
                    </a:lnTo>
                    <a:cubicBezTo>
                      <a:pt x="43699" y="1918524"/>
                      <a:pt x="79418" y="1953863"/>
                      <a:pt x="79418" y="1997942"/>
                    </a:cubicBezTo>
                    <a:lnTo>
                      <a:pt x="3876270" y="1997942"/>
                    </a:lnTo>
                    <a:cubicBezTo>
                      <a:pt x="3876270" y="1954243"/>
                      <a:pt x="3911609" y="1918524"/>
                      <a:pt x="3955688" y="1918524"/>
                    </a:cubicBezTo>
                    <a:lnTo>
                      <a:pt x="3955688" y="79418"/>
                    </a:lnTo>
                    <a:cubicBezTo>
                      <a:pt x="3911989" y="79418"/>
                      <a:pt x="3876270" y="44079"/>
                      <a:pt x="3876270" y="0"/>
                    </a:cubicBezTo>
                    <a:close/>
                  </a:path>
                </a:pathLst>
              </a:custGeom>
              <a:ln w="123825" cap="sq">
                <a:solidFill>
                  <a:srgbClr val="64050C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38100" y="0"/>
                <a:ext cx="3879489" cy="19598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true" flipV="false" rot="0">
            <a:off x="-781992" y="8212199"/>
            <a:ext cx="2995824" cy="3102217"/>
          </a:xfrm>
          <a:custGeom>
            <a:avLst/>
            <a:gdLst/>
            <a:ahLst/>
            <a:cxnLst/>
            <a:rect r="r" b="b" t="t" l="l"/>
            <a:pathLst>
              <a:path h="3102217" w="2995824">
                <a:moveTo>
                  <a:pt x="2995824" y="0"/>
                </a:moveTo>
                <a:lnTo>
                  <a:pt x="0" y="0"/>
                </a:lnTo>
                <a:lnTo>
                  <a:pt x="0" y="3102217"/>
                </a:lnTo>
                <a:lnTo>
                  <a:pt x="2995824" y="3102217"/>
                </a:lnTo>
                <a:lnTo>
                  <a:pt x="29958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-41724" y="0"/>
            <a:ext cx="3511040" cy="2534333"/>
          </a:xfrm>
          <a:custGeom>
            <a:avLst/>
            <a:gdLst/>
            <a:ahLst/>
            <a:cxnLst/>
            <a:rect r="r" b="b" t="t" l="l"/>
            <a:pathLst>
              <a:path h="2534333" w="3511040">
                <a:moveTo>
                  <a:pt x="3511040" y="2534333"/>
                </a:moveTo>
                <a:lnTo>
                  <a:pt x="0" y="2534333"/>
                </a:lnTo>
                <a:lnTo>
                  <a:pt x="0" y="0"/>
                </a:lnTo>
                <a:lnTo>
                  <a:pt x="3511040" y="0"/>
                </a:lnTo>
                <a:lnTo>
                  <a:pt x="3511040" y="253433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5222013" y="8077786"/>
            <a:ext cx="3147843" cy="2209214"/>
          </a:xfrm>
          <a:custGeom>
            <a:avLst/>
            <a:gdLst/>
            <a:ahLst/>
            <a:cxnLst/>
            <a:rect r="r" b="b" t="t" l="l"/>
            <a:pathLst>
              <a:path h="2209214" w="3147843">
                <a:moveTo>
                  <a:pt x="3147843" y="0"/>
                </a:moveTo>
                <a:lnTo>
                  <a:pt x="0" y="0"/>
                </a:lnTo>
                <a:lnTo>
                  <a:pt x="0" y="2209214"/>
                </a:lnTo>
                <a:lnTo>
                  <a:pt x="3147843" y="2209214"/>
                </a:lnTo>
                <a:lnTo>
                  <a:pt x="314784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1474513">
            <a:off x="16261278" y="-962399"/>
            <a:ext cx="3127720" cy="3675597"/>
          </a:xfrm>
          <a:custGeom>
            <a:avLst/>
            <a:gdLst/>
            <a:ahLst/>
            <a:cxnLst/>
            <a:rect r="r" b="b" t="t" l="l"/>
            <a:pathLst>
              <a:path h="3675597" w="3127720">
                <a:moveTo>
                  <a:pt x="0" y="3675597"/>
                </a:moveTo>
                <a:lnTo>
                  <a:pt x="3127719" y="3675597"/>
                </a:lnTo>
                <a:lnTo>
                  <a:pt x="3127719" y="0"/>
                </a:lnTo>
                <a:lnTo>
                  <a:pt x="0" y="0"/>
                </a:lnTo>
                <a:lnTo>
                  <a:pt x="0" y="367559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338354" y="1790818"/>
            <a:ext cx="1408623" cy="1487030"/>
          </a:xfrm>
          <a:custGeom>
            <a:avLst/>
            <a:gdLst/>
            <a:ahLst/>
            <a:cxnLst/>
            <a:rect r="r" b="b" t="t" l="l"/>
            <a:pathLst>
              <a:path h="1487030" w="1408623">
                <a:moveTo>
                  <a:pt x="0" y="0"/>
                </a:moveTo>
                <a:lnTo>
                  <a:pt x="1408623" y="0"/>
                </a:lnTo>
                <a:lnTo>
                  <a:pt x="1408623" y="1487030"/>
                </a:lnTo>
                <a:lnTo>
                  <a:pt x="0" y="14870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4614110">
            <a:off x="17566900" y="6727958"/>
            <a:ext cx="1264825" cy="1196571"/>
          </a:xfrm>
          <a:custGeom>
            <a:avLst/>
            <a:gdLst/>
            <a:ahLst/>
            <a:cxnLst/>
            <a:rect r="r" b="b" t="t" l="l"/>
            <a:pathLst>
              <a:path h="1196571" w="1264825">
                <a:moveTo>
                  <a:pt x="0" y="0"/>
                </a:moveTo>
                <a:lnTo>
                  <a:pt x="1264825" y="0"/>
                </a:lnTo>
                <a:lnTo>
                  <a:pt x="1264825" y="1196571"/>
                </a:lnTo>
                <a:lnTo>
                  <a:pt x="0" y="119657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3060773" y="2155163"/>
            <a:ext cx="12166455" cy="1306810"/>
            <a:chOff x="0" y="0"/>
            <a:chExt cx="16221940" cy="1742413"/>
          </a:xfrm>
        </p:grpSpPr>
        <p:grpSp>
          <p:nvGrpSpPr>
            <p:cNvPr name="Group 17" id="17"/>
            <p:cNvGrpSpPr/>
            <p:nvPr/>
          </p:nvGrpSpPr>
          <p:grpSpPr>
            <a:xfrm rot="-5400000">
              <a:off x="-216410" y="216410"/>
              <a:ext cx="1742413" cy="1309592"/>
              <a:chOff x="0" y="0"/>
              <a:chExt cx="344180" cy="25868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44180" cy="258685"/>
              </a:xfrm>
              <a:custGeom>
                <a:avLst/>
                <a:gdLst/>
                <a:ahLst/>
                <a:cxnLst/>
                <a:rect r="r" b="b" t="t" l="l"/>
                <a:pathLst>
                  <a:path h="258685" w="344180">
                    <a:moveTo>
                      <a:pt x="344180" y="0"/>
                    </a:moveTo>
                    <a:lnTo>
                      <a:pt x="344180" y="144385"/>
                    </a:lnTo>
                    <a:lnTo>
                      <a:pt x="172090" y="258685"/>
                    </a:lnTo>
                    <a:lnTo>
                      <a:pt x="0" y="144385"/>
                    </a:lnTo>
                    <a:lnTo>
                      <a:pt x="0" y="0"/>
                    </a:lnTo>
                    <a:lnTo>
                      <a:pt x="344180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344180" cy="1824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940478" y="0"/>
              <a:ext cx="14340984" cy="1742413"/>
              <a:chOff x="0" y="0"/>
              <a:chExt cx="2832787" cy="34418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832787" cy="344180"/>
              </a:xfrm>
              <a:custGeom>
                <a:avLst/>
                <a:gdLst/>
                <a:ahLst/>
                <a:cxnLst/>
                <a:rect r="r" b="b" t="t" l="l"/>
                <a:pathLst>
                  <a:path h="344180" w="2832787">
                    <a:moveTo>
                      <a:pt x="2832787" y="0"/>
                    </a:moveTo>
                    <a:lnTo>
                      <a:pt x="0" y="0"/>
                    </a:lnTo>
                    <a:lnTo>
                      <a:pt x="101600" y="172090"/>
                    </a:lnTo>
                    <a:lnTo>
                      <a:pt x="0" y="344180"/>
                    </a:lnTo>
                    <a:lnTo>
                      <a:pt x="2832787" y="344180"/>
                    </a:lnTo>
                    <a:lnTo>
                      <a:pt x="2731187" y="172090"/>
                    </a:lnTo>
                    <a:lnTo>
                      <a:pt x="2832787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88900" y="-38100"/>
                <a:ext cx="2654987" cy="3822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5400000">
              <a:off x="14695937" y="216410"/>
              <a:ext cx="1742413" cy="1309592"/>
              <a:chOff x="0" y="0"/>
              <a:chExt cx="344180" cy="25868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344180" cy="258685"/>
              </a:xfrm>
              <a:custGeom>
                <a:avLst/>
                <a:gdLst/>
                <a:ahLst/>
                <a:cxnLst/>
                <a:rect r="r" b="b" t="t" l="l"/>
                <a:pathLst>
                  <a:path h="258685" w="344180">
                    <a:moveTo>
                      <a:pt x="344180" y="0"/>
                    </a:moveTo>
                    <a:lnTo>
                      <a:pt x="344180" y="144385"/>
                    </a:lnTo>
                    <a:lnTo>
                      <a:pt x="172090" y="258685"/>
                    </a:lnTo>
                    <a:lnTo>
                      <a:pt x="0" y="144385"/>
                    </a:lnTo>
                    <a:lnTo>
                      <a:pt x="0" y="0"/>
                    </a:lnTo>
                    <a:lnTo>
                      <a:pt x="344180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344180" cy="1824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1622928" y="508733"/>
              <a:ext cx="12949802" cy="880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VANTAGENS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597407" y="4034783"/>
            <a:ext cx="14198527" cy="5136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Simplicidade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Facilidad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 de manutenção.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Ex: código simples é mais fácil de corrigir.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Time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s au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to-organizáveis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Mais autonomia e eficiência.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Ex: equipe resolve problem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as sem depen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der de gestores.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Melhoria contínu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Evolução cons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tante do sistema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Ex: automação fica cada vez mais eficiente.</a:t>
            </a:r>
          </a:p>
          <a:p>
            <a:pPr algn="l">
              <a:lnSpc>
                <a:spcPts val="4060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15</a:t>
            </a:r>
          </a:p>
        </p:txBody>
      </p:sp>
    </p:spTree>
  </p:cSld>
  <p:clrMapOvr>
    <a:masterClrMapping/>
  </p:clrMapOvr>
  <p:transition spd="slow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85654" y="-8225440"/>
            <a:ext cx="16601806" cy="16450880"/>
          </a:xfrm>
          <a:custGeom>
            <a:avLst/>
            <a:gdLst/>
            <a:ahLst/>
            <a:cxnLst/>
            <a:rect r="r" b="b" t="t" l="l"/>
            <a:pathLst>
              <a:path h="16450880" w="16601806">
                <a:moveTo>
                  <a:pt x="0" y="0"/>
                </a:moveTo>
                <a:lnTo>
                  <a:pt x="16601806" y="0"/>
                </a:lnTo>
                <a:lnTo>
                  <a:pt x="16601806" y="16450880"/>
                </a:lnTo>
                <a:lnTo>
                  <a:pt x="0" y="164508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09284" y="1609202"/>
            <a:ext cx="15469431" cy="7813312"/>
            <a:chOff x="0" y="0"/>
            <a:chExt cx="20625908" cy="1041775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390050" y="360355"/>
              <a:ext cx="19820409" cy="9697040"/>
              <a:chOff x="0" y="0"/>
              <a:chExt cx="3801208" cy="185972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801208" cy="1859723"/>
              </a:xfrm>
              <a:custGeom>
                <a:avLst/>
                <a:gdLst/>
                <a:ahLst/>
                <a:cxnLst/>
                <a:rect r="r" b="b" t="t" l="l"/>
                <a:pathLst>
                  <a:path h="1859723" w="3801208">
                    <a:moveTo>
                      <a:pt x="372179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780305"/>
                    </a:lnTo>
                    <a:cubicBezTo>
                      <a:pt x="43699" y="1780305"/>
                      <a:pt x="79418" y="1815644"/>
                      <a:pt x="79418" y="1859723"/>
                    </a:cubicBezTo>
                    <a:lnTo>
                      <a:pt x="3721790" y="1859723"/>
                    </a:lnTo>
                    <a:cubicBezTo>
                      <a:pt x="3721790" y="1816023"/>
                      <a:pt x="3757129" y="1780305"/>
                      <a:pt x="3801208" y="1780305"/>
                    </a:cubicBezTo>
                    <a:lnTo>
                      <a:pt x="3801208" y="79418"/>
                    </a:lnTo>
                    <a:cubicBezTo>
                      <a:pt x="3757509" y="79418"/>
                      <a:pt x="3721790" y="44079"/>
                      <a:pt x="3721790" y="0"/>
                    </a:cubicBezTo>
                    <a:close/>
                  </a:path>
                </a:pathLst>
              </a:custGeom>
              <a:ln w="66675" cap="sq">
                <a:solidFill>
                  <a:srgbClr val="C72228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38100" y="0"/>
                <a:ext cx="3725008" cy="18216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20625908" cy="10417750"/>
              <a:chOff x="0" y="0"/>
              <a:chExt cx="3955689" cy="1997942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955688" cy="1997942"/>
              </a:xfrm>
              <a:custGeom>
                <a:avLst/>
                <a:gdLst/>
                <a:ahLst/>
                <a:cxnLst/>
                <a:rect r="r" b="b" t="t" l="l"/>
                <a:pathLst>
                  <a:path h="1997942" w="3955688">
                    <a:moveTo>
                      <a:pt x="387627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918524"/>
                    </a:lnTo>
                    <a:cubicBezTo>
                      <a:pt x="43699" y="1918524"/>
                      <a:pt x="79418" y="1953863"/>
                      <a:pt x="79418" y="1997942"/>
                    </a:cubicBezTo>
                    <a:lnTo>
                      <a:pt x="3876270" y="1997942"/>
                    </a:lnTo>
                    <a:cubicBezTo>
                      <a:pt x="3876270" y="1954243"/>
                      <a:pt x="3911609" y="1918524"/>
                      <a:pt x="3955688" y="1918524"/>
                    </a:cubicBezTo>
                    <a:lnTo>
                      <a:pt x="3955688" y="79418"/>
                    </a:lnTo>
                    <a:cubicBezTo>
                      <a:pt x="3911989" y="79418"/>
                      <a:pt x="3876270" y="44079"/>
                      <a:pt x="3876270" y="0"/>
                    </a:cubicBezTo>
                    <a:close/>
                  </a:path>
                </a:pathLst>
              </a:custGeom>
              <a:ln w="123825" cap="sq">
                <a:solidFill>
                  <a:srgbClr val="64050C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38100" y="0"/>
                <a:ext cx="3879489" cy="19598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true" flipV="false" rot="0">
            <a:off x="-781992" y="8212199"/>
            <a:ext cx="2995824" cy="3102217"/>
          </a:xfrm>
          <a:custGeom>
            <a:avLst/>
            <a:gdLst/>
            <a:ahLst/>
            <a:cxnLst/>
            <a:rect r="r" b="b" t="t" l="l"/>
            <a:pathLst>
              <a:path h="3102217" w="2995824">
                <a:moveTo>
                  <a:pt x="2995824" y="0"/>
                </a:moveTo>
                <a:lnTo>
                  <a:pt x="0" y="0"/>
                </a:lnTo>
                <a:lnTo>
                  <a:pt x="0" y="3102217"/>
                </a:lnTo>
                <a:lnTo>
                  <a:pt x="2995824" y="3102217"/>
                </a:lnTo>
                <a:lnTo>
                  <a:pt x="29958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-41724" y="0"/>
            <a:ext cx="3511040" cy="2534333"/>
          </a:xfrm>
          <a:custGeom>
            <a:avLst/>
            <a:gdLst/>
            <a:ahLst/>
            <a:cxnLst/>
            <a:rect r="r" b="b" t="t" l="l"/>
            <a:pathLst>
              <a:path h="2534333" w="3511040">
                <a:moveTo>
                  <a:pt x="3511040" y="2534333"/>
                </a:moveTo>
                <a:lnTo>
                  <a:pt x="0" y="2534333"/>
                </a:lnTo>
                <a:lnTo>
                  <a:pt x="0" y="0"/>
                </a:lnTo>
                <a:lnTo>
                  <a:pt x="3511040" y="0"/>
                </a:lnTo>
                <a:lnTo>
                  <a:pt x="3511040" y="253433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5222013" y="8077786"/>
            <a:ext cx="3147843" cy="2209214"/>
          </a:xfrm>
          <a:custGeom>
            <a:avLst/>
            <a:gdLst/>
            <a:ahLst/>
            <a:cxnLst/>
            <a:rect r="r" b="b" t="t" l="l"/>
            <a:pathLst>
              <a:path h="2209214" w="3147843">
                <a:moveTo>
                  <a:pt x="3147843" y="0"/>
                </a:moveTo>
                <a:lnTo>
                  <a:pt x="0" y="0"/>
                </a:lnTo>
                <a:lnTo>
                  <a:pt x="0" y="2209214"/>
                </a:lnTo>
                <a:lnTo>
                  <a:pt x="3147843" y="2209214"/>
                </a:lnTo>
                <a:lnTo>
                  <a:pt x="314784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1474513">
            <a:off x="16261278" y="-962399"/>
            <a:ext cx="3127720" cy="3675597"/>
          </a:xfrm>
          <a:custGeom>
            <a:avLst/>
            <a:gdLst/>
            <a:ahLst/>
            <a:cxnLst/>
            <a:rect r="r" b="b" t="t" l="l"/>
            <a:pathLst>
              <a:path h="3675597" w="3127720">
                <a:moveTo>
                  <a:pt x="0" y="3675597"/>
                </a:moveTo>
                <a:lnTo>
                  <a:pt x="3127719" y="3675597"/>
                </a:lnTo>
                <a:lnTo>
                  <a:pt x="3127719" y="0"/>
                </a:lnTo>
                <a:lnTo>
                  <a:pt x="0" y="0"/>
                </a:lnTo>
                <a:lnTo>
                  <a:pt x="0" y="367559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338354" y="1790818"/>
            <a:ext cx="1408623" cy="1487030"/>
          </a:xfrm>
          <a:custGeom>
            <a:avLst/>
            <a:gdLst/>
            <a:ahLst/>
            <a:cxnLst/>
            <a:rect r="r" b="b" t="t" l="l"/>
            <a:pathLst>
              <a:path h="1487030" w="1408623">
                <a:moveTo>
                  <a:pt x="0" y="0"/>
                </a:moveTo>
                <a:lnTo>
                  <a:pt x="1408623" y="0"/>
                </a:lnTo>
                <a:lnTo>
                  <a:pt x="1408623" y="1487030"/>
                </a:lnTo>
                <a:lnTo>
                  <a:pt x="0" y="14870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4614110">
            <a:off x="17566900" y="6727958"/>
            <a:ext cx="1264825" cy="1196571"/>
          </a:xfrm>
          <a:custGeom>
            <a:avLst/>
            <a:gdLst/>
            <a:ahLst/>
            <a:cxnLst/>
            <a:rect r="r" b="b" t="t" l="l"/>
            <a:pathLst>
              <a:path h="1196571" w="1264825">
                <a:moveTo>
                  <a:pt x="0" y="0"/>
                </a:moveTo>
                <a:lnTo>
                  <a:pt x="1264825" y="0"/>
                </a:lnTo>
                <a:lnTo>
                  <a:pt x="1264825" y="1196571"/>
                </a:lnTo>
                <a:lnTo>
                  <a:pt x="0" y="119657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3060773" y="2155163"/>
            <a:ext cx="12166455" cy="1306810"/>
            <a:chOff x="0" y="0"/>
            <a:chExt cx="16221940" cy="1742413"/>
          </a:xfrm>
        </p:grpSpPr>
        <p:grpSp>
          <p:nvGrpSpPr>
            <p:cNvPr name="Group 17" id="17"/>
            <p:cNvGrpSpPr/>
            <p:nvPr/>
          </p:nvGrpSpPr>
          <p:grpSpPr>
            <a:xfrm rot="-5400000">
              <a:off x="-216410" y="216410"/>
              <a:ext cx="1742413" cy="1309592"/>
              <a:chOff x="0" y="0"/>
              <a:chExt cx="344180" cy="25868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44180" cy="258685"/>
              </a:xfrm>
              <a:custGeom>
                <a:avLst/>
                <a:gdLst/>
                <a:ahLst/>
                <a:cxnLst/>
                <a:rect r="r" b="b" t="t" l="l"/>
                <a:pathLst>
                  <a:path h="258685" w="344180">
                    <a:moveTo>
                      <a:pt x="344180" y="0"/>
                    </a:moveTo>
                    <a:lnTo>
                      <a:pt x="344180" y="144385"/>
                    </a:lnTo>
                    <a:lnTo>
                      <a:pt x="172090" y="258685"/>
                    </a:lnTo>
                    <a:lnTo>
                      <a:pt x="0" y="144385"/>
                    </a:lnTo>
                    <a:lnTo>
                      <a:pt x="0" y="0"/>
                    </a:lnTo>
                    <a:lnTo>
                      <a:pt x="344180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344180" cy="1824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940478" y="0"/>
              <a:ext cx="14340984" cy="1742413"/>
              <a:chOff x="0" y="0"/>
              <a:chExt cx="2832787" cy="34418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832787" cy="344180"/>
              </a:xfrm>
              <a:custGeom>
                <a:avLst/>
                <a:gdLst/>
                <a:ahLst/>
                <a:cxnLst/>
                <a:rect r="r" b="b" t="t" l="l"/>
                <a:pathLst>
                  <a:path h="344180" w="2832787">
                    <a:moveTo>
                      <a:pt x="2832787" y="0"/>
                    </a:moveTo>
                    <a:lnTo>
                      <a:pt x="0" y="0"/>
                    </a:lnTo>
                    <a:lnTo>
                      <a:pt x="101600" y="172090"/>
                    </a:lnTo>
                    <a:lnTo>
                      <a:pt x="0" y="344180"/>
                    </a:lnTo>
                    <a:lnTo>
                      <a:pt x="2832787" y="344180"/>
                    </a:lnTo>
                    <a:lnTo>
                      <a:pt x="2731187" y="172090"/>
                    </a:lnTo>
                    <a:lnTo>
                      <a:pt x="2832787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88900" y="-38100"/>
                <a:ext cx="2654987" cy="3822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5400000">
              <a:off x="14695937" y="216410"/>
              <a:ext cx="1742413" cy="1309592"/>
              <a:chOff x="0" y="0"/>
              <a:chExt cx="344180" cy="25868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344180" cy="258685"/>
              </a:xfrm>
              <a:custGeom>
                <a:avLst/>
                <a:gdLst/>
                <a:ahLst/>
                <a:cxnLst/>
                <a:rect r="r" b="b" t="t" l="l"/>
                <a:pathLst>
                  <a:path h="258685" w="344180">
                    <a:moveTo>
                      <a:pt x="344180" y="0"/>
                    </a:moveTo>
                    <a:lnTo>
                      <a:pt x="344180" y="144385"/>
                    </a:lnTo>
                    <a:lnTo>
                      <a:pt x="172090" y="258685"/>
                    </a:lnTo>
                    <a:lnTo>
                      <a:pt x="0" y="144385"/>
                    </a:lnTo>
                    <a:lnTo>
                      <a:pt x="0" y="0"/>
                    </a:lnTo>
                    <a:lnTo>
                      <a:pt x="344180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344180" cy="1824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1622928" y="508733"/>
              <a:ext cx="12949802" cy="880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DESAFIOS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587882" y="4036353"/>
            <a:ext cx="14198527" cy="5136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Satisfação do cliente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Exige f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eedback constante.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Ex: cliente não participa do processo.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Mudança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s são be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m-vindas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Pode ger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ar falta de controle.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Ex: mudanças frequentes bagunç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am o planejament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o.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Entreg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as frequen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tes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Necessita automação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bem estruturada.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Ex: falhas no pipeline atrasam entregas.</a:t>
            </a:r>
          </a:p>
          <a:p>
            <a:pPr algn="l">
              <a:lnSpc>
                <a:spcPts val="4060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r>
          </a:p>
        </p:txBody>
      </p:sp>
    </p:spTree>
  </p:cSld>
  <p:clrMapOvr>
    <a:masterClrMapping/>
  </p:clrMapOvr>
  <p:transition spd="slow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85654" y="-8225440"/>
            <a:ext cx="16601806" cy="16450880"/>
          </a:xfrm>
          <a:custGeom>
            <a:avLst/>
            <a:gdLst/>
            <a:ahLst/>
            <a:cxnLst/>
            <a:rect r="r" b="b" t="t" l="l"/>
            <a:pathLst>
              <a:path h="16450880" w="16601806">
                <a:moveTo>
                  <a:pt x="0" y="0"/>
                </a:moveTo>
                <a:lnTo>
                  <a:pt x="16601806" y="0"/>
                </a:lnTo>
                <a:lnTo>
                  <a:pt x="16601806" y="16450880"/>
                </a:lnTo>
                <a:lnTo>
                  <a:pt x="0" y="164508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09284" y="1609202"/>
            <a:ext cx="15469431" cy="7813312"/>
            <a:chOff x="0" y="0"/>
            <a:chExt cx="20625908" cy="1041775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0625908" cy="10417750"/>
              <a:chOff x="0" y="0"/>
              <a:chExt cx="3955689" cy="199794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955688" cy="1997942"/>
              </a:xfrm>
              <a:custGeom>
                <a:avLst/>
                <a:gdLst/>
                <a:ahLst/>
                <a:cxnLst/>
                <a:rect r="r" b="b" t="t" l="l"/>
                <a:pathLst>
                  <a:path h="1997942" w="3955688">
                    <a:moveTo>
                      <a:pt x="387627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918524"/>
                    </a:lnTo>
                    <a:cubicBezTo>
                      <a:pt x="43699" y="1918524"/>
                      <a:pt x="79418" y="1953863"/>
                      <a:pt x="79418" y="1997942"/>
                    </a:cubicBezTo>
                    <a:lnTo>
                      <a:pt x="3876270" y="1997942"/>
                    </a:lnTo>
                    <a:cubicBezTo>
                      <a:pt x="3876270" y="1954243"/>
                      <a:pt x="3911609" y="1918524"/>
                      <a:pt x="3955688" y="1918524"/>
                    </a:cubicBezTo>
                    <a:lnTo>
                      <a:pt x="3955688" y="79418"/>
                    </a:lnTo>
                    <a:cubicBezTo>
                      <a:pt x="3911989" y="79418"/>
                      <a:pt x="3876270" y="44079"/>
                      <a:pt x="3876270" y="0"/>
                    </a:cubicBezTo>
                    <a:close/>
                  </a:path>
                </a:pathLst>
              </a:custGeom>
              <a:ln w="123825" cap="sq">
                <a:solidFill>
                  <a:srgbClr val="64050C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38100" y="0"/>
                <a:ext cx="3879489" cy="19598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390050" y="360355"/>
              <a:ext cx="19820409" cy="9697040"/>
              <a:chOff x="0" y="0"/>
              <a:chExt cx="3801208" cy="185972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801208" cy="1859723"/>
              </a:xfrm>
              <a:custGeom>
                <a:avLst/>
                <a:gdLst/>
                <a:ahLst/>
                <a:cxnLst/>
                <a:rect r="r" b="b" t="t" l="l"/>
                <a:pathLst>
                  <a:path h="1859723" w="3801208">
                    <a:moveTo>
                      <a:pt x="372179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780305"/>
                    </a:lnTo>
                    <a:cubicBezTo>
                      <a:pt x="43699" y="1780305"/>
                      <a:pt x="79418" y="1815644"/>
                      <a:pt x="79418" y="1859723"/>
                    </a:cubicBezTo>
                    <a:lnTo>
                      <a:pt x="3721790" y="1859723"/>
                    </a:lnTo>
                    <a:cubicBezTo>
                      <a:pt x="3721790" y="1816023"/>
                      <a:pt x="3757129" y="1780305"/>
                      <a:pt x="3801208" y="1780305"/>
                    </a:cubicBezTo>
                    <a:lnTo>
                      <a:pt x="3801208" y="79418"/>
                    </a:lnTo>
                    <a:cubicBezTo>
                      <a:pt x="3757509" y="79418"/>
                      <a:pt x="3721790" y="44079"/>
                      <a:pt x="3721790" y="0"/>
                    </a:cubicBezTo>
                    <a:close/>
                  </a:path>
                </a:pathLst>
              </a:custGeom>
              <a:ln w="66675" cap="sq">
                <a:solidFill>
                  <a:srgbClr val="C72228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38100" y="0"/>
                <a:ext cx="3725008" cy="18216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true" flipV="false" rot="0">
            <a:off x="-781992" y="8212199"/>
            <a:ext cx="2995824" cy="3102217"/>
          </a:xfrm>
          <a:custGeom>
            <a:avLst/>
            <a:gdLst/>
            <a:ahLst/>
            <a:cxnLst/>
            <a:rect r="r" b="b" t="t" l="l"/>
            <a:pathLst>
              <a:path h="3102217" w="2995824">
                <a:moveTo>
                  <a:pt x="2995824" y="0"/>
                </a:moveTo>
                <a:lnTo>
                  <a:pt x="0" y="0"/>
                </a:lnTo>
                <a:lnTo>
                  <a:pt x="0" y="3102217"/>
                </a:lnTo>
                <a:lnTo>
                  <a:pt x="2995824" y="3102217"/>
                </a:lnTo>
                <a:lnTo>
                  <a:pt x="29958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-41724" y="0"/>
            <a:ext cx="3511040" cy="2534333"/>
          </a:xfrm>
          <a:custGeom>
            <a:avLst/>
            <a:gdLst/>
            <a:ahLst/>
            <a:cxnLst/>
            <a:rect r="r" b="b" t="t" l="l"/>
            <a:pathLst>
              <a:path h="2534333" w="3511040">
                <a:moveTo>
                  <a:pt x="3511040" y="2534333"/>
                </a:moveTo>
                <a:lnTo>
                  <a:pt x="0" y="2534333"/>
                </a:lnTo>
                <a:lnTo>
                  <a:pt x="0" y="0"/>
                </a:lnTo>
                <a:lnTo>
                  <a:pt x="3511040" y="0"/>
                </a:lnTo>
                <a:lnTo>
                  <a:pt x="3511040" y="253433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5222013" y="8077786"/>
            <a:ext cx="3147843" cy="2209214"/>
          </a:xfrm>
          <a:custGeom>
            <a:avLst/>
            <a:gdLst/>
            <a:ahLst/>
            <a:cxnLst/>
            <a:rect r="r" b="b" t="t" l="l"/>
            <a:pathLst>
              <a:path h="2209214" w="3147843">
                <a:moveTo>
                  <a:pt x="3147843" y="0"/>
                </a:moveTo>
                <a:lnTo>
                  <a:pt x="0" y="0"/>
                </a:lnTo>
                <a:lnTo>
                  <a:pt x="0" y="2209214"/>
                </a:lnTo>
                <a:lnTo>
                  <a:pt x="3147843" y="2209214"/>
                </a:lnTo>
                <a:lnTo>
                  <a:pt x="314784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1474513">
            <a:off x="16261278" y="-962399"/>
            <a:ext cx="3127720" cy="3675597"/>
          </a:xfrm>
          <a:custGeom>
            <a:avLst/>
            <a:gdLst/>
            <a:ahLst/>
            <a:cxnLst/>
            <a:rect r="r" b="b" t="t" l="l"/>
            <a:pathLst>
              <a:path h="3675597" w="3127720">
                <a:moveTo>
                  <a:pt x="0" y="3675597"/>
                </a:moveTo>
                <a:lnTo>
                  <a:pt x="3127719" y="3675597"/>
                </a:lnTo>
                <a:lnTo>
                  <a:pt x="3127719" y="0"/>
                </a:lnTo>
                <a:lnTo>
                  <a:pt x="0" y="0"/>
                </a:lnTo>
                <a:lnTo>
                  <a:pt x="0" y="367559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338354" y="1790818"/>
            <a:ext cx="1408623" cy="1487030"/>
          </a:xfrm>
          <a:custGeom>
            <a:avLst/>
            <a:gdLst/>
            <a:ahLst/>
            <a:cxnLst/>
            <a:rect r="r" b="b" t="t" l="l"/>
            <a:pathLst>
              <a:path h="1487030" w="1408623">
                <a:moveTo>
                  <a:pt x="0" y="0"/>
                </a:moveTo>
                <a:lnTo>
                  <a:pt x="1408623" y="0"/>
                </a:lnTo>
                <a:lnTo>
                  <a:pt x="1408623" y="1487030"/>
                </a:lnTo>
                <a:lnTo>
                  <a:pt x="0" y="14870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4614110">
            <a:off x="17566900" y="6727958"/>
            <a:ext cx="1264825" cy="1196571"/>
          </a:xfrm>
          <a:custGeom>
            <a:avLst/>
            <a:gdLst/>
            <a:ahLst/>
            <a:cxnLst/>
            <a:rect r="r" b="b" t="t" l="l"/>
            <a:pathLst>
              <a:path h="1196571" w="1264825">
                <a:moveTo>
                  <a:pt x="0" y="0"/>
                </a:moveTo>
                <a:lnTo>
                  <a:pt x="1264825" y="0"/>
                </a:lnTo>
                <a:lnTo>
                  <a:pt x="1264825" y="1196571"/>
                </a:lnTo>
                <a:lnTo>
                  <a:pt x="0" y="119657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3060773" y="2155163"/>
            <a:ext cx="12166455" cy="1306810"/>
            <a:chOff x="0" y="0"/>
            <a:chExt cx="16221940" cy="1742413"/>
          </a:xfrm>
        </p:grpSpPr>
        <p:grpSp>
          <p:nvGrpSpPr>
            <p:cNvPr name="Group 17" id="17"/>
            <p:cNvGrpSpPr/>
            <p:nvPr/>
          </p:nvGrpSpPr>
          <p:grpSpPr>
            <a:xfrm rot="-5400000">
              <a:off x="-216410" y="216410"/>
              <a:ext cx="1742413" cy="1309592"/>
              <a:chOff x="0" y="0"/>
              <a:chExt cx="344180" cy="25868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44180" cy="258685"/>
              </a:xfrm>
              <a:custGeom>
                <a:avLst/>
                <a:gdLst/>
                <a:ahLst/>
                <a:cxnLst/>
                <a:rect r="r" b="b" t="t" l="l"/>
                <a:pathLst>
                  <a:path h="258685" w="344180">
                    <a:moveTo>
                      <a:pt x="344180" y="0"/>
                    </a:moveTo>
                    <a:lnTo>
                      <a:pt x="344180" y="144385"/>
                    </a:lnTo>
                    <a:lnTo>
                      <a:pt x="172090" y="258685"/>
                    </a:lnTo>
                    <a:lnTo>
                      <a:pt x="0" y="144385"/>
                    </a:lnTo>
                    <a:lnTo>
                      <a:pt x="0" y="0"/>
                    </a:lnTo>
                    <a:lnTo>
                      <a:pt x="344180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344180" cy="1824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940478" y="0"/>
              <a:ext cx="14340984" cy="1742413"/>
              <a:chOff x="0" y="0"/>
              <a:chExt cx="2832787" cy="34418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832787" cy="344180"/>
              </a:xfrm>
              <a:custGeom>
                <a:avLst/>
                <a:gdLst/>
                <a:ahLst/>
                <a:cxnLst/>
                <a:rect r="r" b="b" t="t" l="l"/>
                <a:pathLst>
                  <a:path h="344180" w="2832787">
                    <a:moveTo>
                      <a:pt x="2832787" y="0"/>
                    </a:moveTo>
                    <a:lnTo>
                      <a:pt x="0" y="0"/>
                    </a:lnTo>
                    <a:lnTo>
                      <a:pt x="101600" y="172090"/>
                    </a:lnTo>
                    <a:lnTo>
                      <a:pt x="0" y="344180"/>
                    </a:lnTo>
                    <a:lnTo>
                      <a:pt x="2832787" y="344180"/>
                    </a:lnTo>
                    <a:lnTo>
                      <a:pt x="2731187" y="172090"/>
                    </a:lnTo>
                    <a:lnTo>
                      <a:pt x="2832787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88900" y="-38100"/>
                <a:ext cx="2654987" cy="3822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5400000">
              <a:off x="14695937" y="216410"/>
              <a:ext cx="1742413" cy="1309592"/>
              <a:chOff x="0" y="0"/>
              <a:chExt cx="344180" cy="25868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344180" cy="258685"/>
              </a:xfrm>
              <a:custGeom>
                <a:avLst/>
                <a:gdLst/>
                <a:ahLst/>
                <a:cxnLst/>
                <a:rect r="r" b="b" t="t" l="l"/>
                <a:pathLst>
                  <a:path h="258685" w="344180">
                    <a:moveTo>
                      <a:pt x="344180" y="0"/>
                    </a:moveTo>
                    <a:lnTo>
                      <a:pt x="344180" y="144385"/>
                    </a:lnTo>
                    <a:lnTo>
                      <a:pt x="172090" y="258685"/>
                    </a:lnTo>
                    <a:lnTo>
                      <a:pt x="0" y="144385"/>
                    </a:lnTo>
                    <a:lnTo>
                      <a:pt x="0" y="0"/>
                    </a:lnTo>
                    <a:lnTo>
                      <a:pt x="344180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344180" cy="1824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1622928" y="508733"/>
              <a:ext cx="12949802" cy="880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DESAFIOS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568196" y="4030256"/>
            <a:ext cx="14198527" cy="5136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Colaboração diária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Difícil manter alinham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ento sempre.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Ex: equipes não se comunicam corretamente.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Pe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ssoas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motivadas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Depende d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o perfil da equipe.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Ex: falta de engajamento reduz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desempenh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o.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Comunic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ação dire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ta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Pode gerar excesso de mensa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gens.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Ex: informações importantes se perdem.</a:t>
            </a:r>
          </a:p>
          <a:p>
            <a:pPr algn="l">
              <a:lnSpc>
                <a:spcPts val="4060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17</a:t>
            </a:r>
          </a:p>
        </p:txBody>
      </p:sp>
    </p:spTree>
  </p:cSld>
  <p:clrMapOvr>
    <a:masterClrMapping/>
  </p:clrMapOvr>
  <p:transition spd="slow">
    <p:push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85654" y="-8225440"/>
            <a:ext cx="16601806" cy="16450880"/>
          </a:xfrm>
          <a:custGeom>
            <a:avLst/>
            <a:gdLst/>
            <a:ahLst/>
            <a:cxnLst/>
            <a:rect r="r" b="b" t="t" l="l"/>
            <a:pathLst>
              <a:path h="16450880" w="16601806">
                <a:moveTo>
                  <a:pt x="0" y="0"/>
                </a:moveTo>
                <a:lnTo>
                  <a:pt x="16601806" y="0"/>
                </a:lnTo>
                <a:lnTo>
                  <a:pt x="16601806" y="16450880"/>
                </a:lnTo>
                <a:lnTo>
                  <a:pt x="0" y="164508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09284" y="1609202"/>
            <a:ext cx="15469431" cy="7813312"/>
            <a:chOff x="0" y="0"/>
            <a:chExt cx="20625908" cy="1041775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0625908" cy="10417750"/>
              <a:chOff x="0" y="0"/>
              <a:chExt cx="3955689" cy="199794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955688" cy="1997942"/>
              </a:xfrm>
              <a:custGeom>
                <a:avLst/>
                <a:gdLst/>
                <a:ahLst/>
                <a:cxnLst/>
                <a:rect r="r" b="b" t="t" l="l"/>
                <a:pathLst>
                  <a:path h="1997942" w="3955688">
                    <a:moveTo>
                      <a:pt x="387627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918524"/>
                    </a:lnTo>
                    <a:cubicBezTo>
                      <a:pt x="43699" y="1918524"/>
                      <a:pt x="79418" y="1953863"/>
                      <a:pt x="79418" y="1997942"/>
                    </a:cubicBezTo>
                    <a:lnTo>
                      <a:pt x="3876270" y="1997942"/>
                    </a:lnTo>
                    <a:cubicBezTo>
                      <a:pt x="3876270" y="1954243"/>
                      <a:pt x="3911609" y="1918524"/>
                      <a:pt x="3955688" y="1918524"/>
                    </a:cubicBezTo>
                    <a:lnTo>
                      <a:pt x="3955688" y="79418"/>
                    </a:lnTo>
                    <a:cubicBezTo>
                      <a:pt x="3911989" y="79418"/>
                      <a:pt x="3876270" y="44079"/>
                      <a:pt x="3876270" y="0"/>
                    </a:cubicBezTo>
                    <a:close/>
                  </a:path>
                </a:pathLst>
              </a:custGeom>
              <a:ln w="123825" cap="sq">
                <a:solidFill>
                  <a:srgbClr val="64050C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38100" y="0"/>
                <a:ext cx="3879489" cy="19598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390050" y="360355"/>
              <a:ext cx="19820409" cy="9697040"/>
              <a:chOff x="0" y="0"/>
              <a:chExt cx="3801208" cy="185972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801208" cy="1859723"/>
              </a:xfrm>
              <a:custGeom>
                <a:avLst/>
                <a:gdLst/>
                <a:ahLst/>
                <a:cxnLst/>
                <a:rect r="r" b="b" t="t" l="l"/>
                <a:pathLst>
                  <a:path h="1859723" w="3801208">
                    <a:moveTo>
                      <a:pt x="372179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780305"/>
                    </a:lnTo>
                    <a:cubicBezTo>
                      <a:pt x="43699" y="1780305"/>
                      <a:pt x="79418" y="1815644"/>
                      <a:pt x="79418" y="1859723"/>
                    </a:cubicBezTo>
                    <a:lnTo>
                      <a:pt x="3721790" y="1859723"/>
                    </a:lnTo>
                    <a:cubicBezTo>
                      <a:pt x="3721790" y="1816023"/>
                      <a:pt x="3757129" y="1780305"/>
                      <a:pt x="3801208" y="1780305"/>
                    </a:cubicBezTo>
                    <a:lnTo>
                      <a:pt x="3801208" y="79418"/>
                    </a:lnTo>
                    <a:cubicBezTo>
                      <a:pt x="3757509" y="79418"/>
                      <a:pt x="3721790" y="44079"/>
                      <a:pt x="3721790" y="0"/>
                    </a:cubicBezTo>
                    <a:close/>
                  </a:path>
                </a:pathLst>
              </a:custGeom>
              <a:ln w="66675" cap="sq">
                <a:solidFill>
                  <a:srgbClr val="C72228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38100" y="0"/>
                <a:ext cx="3725008" cy="18216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true" flipV="false" rot="0">
            <a:off x="-781992" y="8212199"/>
            <a:ext cx="2995824" cy="3102217"/>
          </a:xfrm>
          <a:custGeom>
            <a:avLst/>
            <a:gdLst/>
            <a:ahLst/>
            <a:cxnLst/>
            <a:rect r="r" b="b" t="t" l="l"/>
            <a:pathLst>
              <a:path h="3102217" w="2995824">
                <a:moveTo>
                  <a:pt x="2995824" y="0"/>
                </a:moveTo>
                <a:lnTo>
                  <a:pt x="0" y="0"/>
                </a:lnTo>
                <a:lnTo>
                  <a:pt x="0" y="3102217"/>
                </a:lnTo>
                <a:lnTo>
                  <a:pt x="2995824" y="3102217"/>
                </a:lnTo>
                <a:lnTo>
                  <a:pt x="29958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-41724" y="0"/>
            <a:ext cx="3511040" cy="2534333"/>
          </a:xfrm>
          <a:custGeom>
            <a:avLst/>
            <a:gdLst/>
            <a:ahLst/>
            <a:cxnLst/>
            <a:rect r="r" b="b" t="t" l="l"/>
            <a:pathLst>
              <a:path h="2534333" w="3511040">
                <a:moveTo>
                  <a:pt x="3511040" y="2534333"/>
                </a:moveTo>
                <a:lnTo>
                  <a:pt x="0" y="2534333"/>
                </a:lnTo>
                <a:lnTo>
                  <a:pt x="0" y="0"/>
                </a:lnTo>
                <a:lnTo>
                  <a:pt x="3511040" y="0"/>
                </a:lnTo>
                <a:lnTo>
                  <a:pt x="3511040" y="253433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5222013" y="8077786"/>
            <a:ext cx="3147843" cy="2209214"/>
          </a:xfrm>
          <a:custGeom>
            <a:avLst/>
            <a:gdLst/>
            <a:ahLst/>
            <a:cxnLst/>
            <a:rect r="r" b="b" t="t" l="l"/>
            <a:pathLst>
              <a:path h="2209214" w="3147843">
                <a:moveTo>
                  <a:pt x="3147843" y="0"/>
                </a:moveTo>
                <a:lnTo>
                  <a:pt x="0" y="0"/>
                </a:lnTo>
                <a:lnTo>
                  <a:pt x="0" y="2209214"/>
                </a:lnTo>
                <a:lnTo>
                  <a:pt x="3147843" y="2209214"/>
                </a:lnTo>
                <a:lnTo>
                  <a:pt x="314784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1474513">
            <a:off x="16261278" y="-962399"/>
            <a:ext cx="3127720" cy="3675597"/>
          </a:xfrm>
          <a:custGeom>
            <a:avLst/>
            <a:gdLst/>
            <a:ahLst/>
            <a:cxnLst/>
            <a:rect r="r" b="b" t="t" l="l"/>
            <a:pathLst>
              <a:path h="3675597" w="3127720">
                <a:moveTo>
                  <a:pt x="0" y="3675597"/>
                </a:moveTo>
                <a:lnTo>
                  <a:pt x="3127719" y="3675597"/>
                </a:lnTo>
                <a:lnTo>
                  <a:pt x="3127719" y="0"/>
                </a:lnTo>
                <a:lnTo>
                  <a:pt x="0" y="0"/>
                </a:lnTo>
                <a:lnTo>
                  <a:pt x="0" y="367559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338354" y="1790818"/>
            <a:ext cx="1408623" cy="1487030"/>
          </a:xfrm>
          <a:custGeom>
            <a:avLst/>
            <a:gdLst/>
            <a:ahLst/>
            <a:cxnLst/>
            <a:rect r="r" b="b" t="t" l="l"/>
            <a:pathLst>
              <a:path h="1487030" w="1408623">
                <a:moveTo>
                  <a:pt x="0" y="0"/>
                </a:moveTo>
                <a:lnTo>
                  <a:pt x="1408623" y="0"/>
                </a:lnTo>
                <a:lnTo>
                  <a:pt x="1408623" y="1487030"/>
                </a:lnTo>
                <a:lnTo>
                  <a:pt x="0" y="14870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4614110">
            <a:off x="17566900" y="6727958"/>
            <a:ext cx="1264825" cy="1196571"/>
          </a:xfrm>
          <a:custGeom>
            <a:avLst/>
            <a:gdLst/>
            <a:ahLst/>
            <a:cxnLst/>
            <a:rect r="r" b="b" t="t" l="l"/>
            <a:pathLst>
              <a:path h="1196571" w="1264825">
                <a:moveTo>
                  <a:pt x="0" y="0"/>
                </a:moveTo>
                <a:lnTo>
                  <a:pt x="1264825" y="0"/>
                </a:lnTo>
                <a:lnTo>
                  <a:pt x="1264825" y="1196571"/>
                </a:lnTo>
                <a:lnTo>
                  <a:pt x="0" y="119657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3060773" y="2155163"/>
            <a:ext cx="12166455" cy="1306810"/>
            <a:chOff x="0" y="0"/>
            <a:chExt cx="16221940" cy="1742413"/>
          </a:xfrm>
        </p:grpSpPr>
        <p:grpSp>
          <p:nvGrpSpPr>
            <p:cNvPr name="Group 17" id="17"/>
            <p:cNvGrpSpPr/>
            <p:nvPr/>
          </p:nvGrpSpPr>
          <p:grpSpPr>
            <a:xfrm rot="-5400000">
              <a:off x="-216410" y="216410"/>
              <a:ext cx="1742413" cy="1309592"/>
              <a:chOff x="0" y="0"/>
              <a:chExt cx="344180" cy="25868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44180" cy="258685"/>
              </a:xfrm>
              <a:custGeom>
                <a:avLst/>
                <a:gdLst/>
                <a:ahLst/>
                <a:cxnLst/>
                <a:rect r="r" b="b" t="t" l="l"/>
                <a:pathLst>
                  <a:path h="258685" w="344180">
                    <a:moveTo>
                      <a:pt x="344180" y="0"/>
                    </a:moveTo>
                    <a:lnTo>
                      <a:pt x="344180" y="144385"/>
                    </a:lnTo>
                    <a:lnTo>
                      <a:pt x="172090" y="258685"/>
                    </a:lnTo>
                    <a:lnTo>
                      <a:pt x="0" y="144385"/>
                    </a:lnTo>
                    <a:lnTo>
                      <a:pt x="0" y="0"/>
                    </a:lnTo>
                    <a:lnTo>
                      <a:pt x="344180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344180" cy="1824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940478" y="0"/>
              <a:ext cx="14340984" cy="1742413"/>
              <a:chOff x="0" y="0"/>
              <a:chExt cx="2832787" cy="34418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832787" cy="344180"/>
              </a:xfrm>
              <a:custGeom>
                <a:avLst/>
                <a:gdLst/>
                <a:ahLst/>
                <a:cxnLst/>
                <a:rect r="r" b="b" t="t" l="l"/>
                <a:pathLst>
                  <a:path h="344180" w="2832787">
                    <a:moveTo>
                      <a:pt x="2832787" y="0"/>
                    </a:moveTo>
                    <a:lnTo>
                      <a:pt x="0" y="0"/>
                    </a:lnTo>
                    <a:lnTo>
                      <a:pt x="101600" y="172090"/>
                    </a:lnTo>
                    <a:lnTo>
                      <a:pt x="0" y="344180"/>
                    </a:lnTo>
                    <a:lnTo>
                      <a:pt x="2832787" y="344180"/>
                    </a:lnTo>
                    <a:lnTo>
                      <a:pt x="2731187" y="172090"/>
                    </a:lnTo>
                    <a:lnTo>
                      <a:pt x="2832787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88900" y="-38100"/>
                <a:ext cx="2654987" cy="3822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5400000">
              <a:off x="14695937" y="216410"/>
              <a:ext cx="1742413" cy="1309592"/>
              <a:chOff x="0" y="0"/>
              <a:chExt cx="344180" cy="25868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344180" cy="258685"/>
              </a:xfrm>
              <a:custGeom>
                <a:avLst/>
                <a:gdLst/>
                <a:ahLst/>
                <a:cxnLst/>
                <a:rect r="r" b="b" t="t" l="l"/>
                <a:pathLst>
                  <a:path h="258685" w="344180">
                    <a:moveTo>
                      <a:pt x="344180" y="0"/>
                    </a:moveTo>
                    <a:lnTo>
                      <a:pt x="344180" y="144385"/>
                    </a:lnTo>
                    <a:lnTo>
                      <a:pt x="172090" y="258685"/>
                    </a:lnTo>
                    <a:lnTo>
                      <a:pt x="0" y="144385"/>
                    </a:lnTo>
                    <a:lnTo>
                      <a:pt x="0" y="0"/>
                    </a:lnTo>
                    <a:lnTo>
                      <a:pt x="344180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344180" cy="1824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1622928" y="508733"/>
              <a:ext cx="12949802" cy="880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DESAFIOS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578357" y="4039781"/>
            <a:ext cx="14198527" cy="5136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Software funcionando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Pod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 ignorar documentação.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Ex: sistema funciona, mas não está bem documentado.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Rit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mo sustentável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Difícil m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anter constância.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Ex: prazos apert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ados causam s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obrecarga.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Excelênci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técnica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Exige alto nível de conhecim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ento.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Ex: equipe sem experiência gera código ruim.</a:t>
            </a:r>
          </a:p>
          <a:p>
            <a:pPr algn="l">
              <a:lnSpc>
                <a:spcPts val="4060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18</a:t>
            </a:r>
          </a:p>
        </p:txBody>
      </p:sp>
    </p:spTree>
  </p:cSld>
  <p:clrMapOvr>
    <a:masterClrMapping/>
  </p:clrMapOvr>
  <p:transition spd="slow">
    <p:push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05826" y="-7865065"/>
            <a:ext cx="16601806" cy="16450880"/>
          </a:xfrm>
          <a:custGeom>
            <a:avLst/>
            <a:gdLst/>
            <a:ahLst/>
            <a:cxnLst/>
            <a:rect r="r" b="b" t="t" l="l"/>
            <a:pathLst>
              <a:path h="16450880" w="16601806">
                <a:moveTo>
                  <a:pt x="0" y="0"/>
                </a:moveTo>
                <a:lnTo>
                  <a:pt x="16601806" y="0"/>
                </a:lnTo>
                <a:lnTo>
                  <a:pt x="16601806" y="16450880"/>
                </a:lnTo>
                <a:lnTo>
                  <a:pt x="0" y="164508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09284" y="1609202"/>
            <a:ext cx="15469431" cy="7813312"/>
            <a:chOff x="0" y="0"/>
            <a:chExt cx="20625908" cy="1041775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0625908" cy="10417750"/>
              <a:chOff x="0" y="0"/>
              <a:chExt cx="3955689" cy="199794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955688" cy="1997942"/>
              </a:xfrm>
              <a:custGeom>
                <a:avLst/>
                <a:gdLst/>
                <a:ahLst/>
                <a:cxnLst/>
                <a:rect r="r" b="b" t="t" l="l"/>
                <a:pathLst>
                  <a:path h="1997942" w="3955688">
                    <a:moveTo>
                      <a:pt x="387627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918524"/>
                    </a:lnTo>
                    <a:cubicBezTo>
                      <a:pt x="43699" y="1918524"/>
                      <a:pt x="79418" y="1953863"/>
                      <a:pt x="79418" y="1997942"/>
                    </a:cubicBezTo>
                    <a:lnTo>
                      <a:pt x="3876270" y="1997942"/>
                    </a:lnTo>
                    <a:cubicBezTo>
                      <a:pt x="3876270" y="1954243"/>
                      <a:pt x="3911609" y="1918524"/>
                      <a:pt x="3955688" y="1918524"/>
                    </a:cubicBezTo>
                    <a:lnTo>
                      <a:pt x="3955688" y="79418"/>
                    </a:lnTo>
                    <a:cubicBezTo>
                      <a:pt x="3911989" y="79418"/>
                      <a:pt x="3876270" y="44079"/>
                      <a:pt x="3876270" y="0"/>
                    </a:cubicBezTo>
                    <a:close/>
                  </a:path>
                </a:pathLst>
              </a:custGeom>
              <a:ln w="123825" cap="sq">
                <a:solidFill>
                  <a:srgbClr val="64050C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38100" y="0"/>
                <a:ext cx="3879489" cy="19598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390050" y="360355"/>
              <a:ext cx="19820409" cy="9697040"/>
              <a:chOff x="0" y="0"/>
              <a:chExt cx="3801208" cy="185972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801208" cy="1859723"/>
              </a:xfrm>
              <a:custGeom>
                <a:avLst/>
                <a:gdLst/>
                <a:ahLst/>
                <a:cxnLst/>
                <a:rect r="r" b="b" t="t" l="l"/>
                <a:pathLst>
                  <a:path h="1859723" w="3801208">
                    <a:moveTo>
                      <a:pt x="372179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780305"/>
                    </a:lnTo>
                    <a:cubicBezTo>
                      <a:pt x="43699" y="1780305"/>
                      <a:pt x="79418" y="1815644"/>
                      <a:pt x="79418" y="1859723"/>
                    </a:cubicBezTo>
                    <a:lnTo>
                      <a:pt x="3721790" y="1859723"/>
                    </a:lnTo>
                    <a:cubicBezTo>
                      <a:pt x="3721790" y="1816023"/>
                      <a:pt x="3757129" y="1780305"/>
                      <a:pt x="3801208" y="1780305"/>
                    </a:cubicBezTo>
                    <a:lnTo>
                      <a:pt x="3801208" y="79418"/>
                    </a:lnTo>
                    <a:cubicBezTo>
                      <a:pt x="3757509" y="79418"/>
                      <a:pt x="3721790" y="44079"/>
                      <a:pt x="3721790" y="0"/>
                    </a:cubicBezTo>
                    <a:close/>
                  </a:path>
                </a:pathLst>
              </a:custGeom>
              <a:ln w="66675" cap="sq">
                <a:solidFill>
                  <a:srgbClr val="C72228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38100" y="0"/>
                <a:ext cx="3725008" cy="18216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true" flipV="false" rot="0">
            <a:off x="-781992" y="8212199"/>
            <a:ext cx="2995824" cy="3102217"/>
          </a:xfrm>
          <a:custGeom>
            <a:avLst/>
            <a:gdLst/>
            <a:ahLst/>
            <a:cxnLst/>
            <a:rect r="r" b="b" t="t" l="l"/>
            <a:pathLst>
              <a:path h="3102217" w="2995824">
                <a:moveTo>
                  <a:pt x="2995824" y="0"/>
                </a:moveTo>
                <a:lnTo>
                  <a:pt x="0" y="0"/>
                </a:lnTo>
                <a:lnTo>
                  <a:pt x="0" y="3102217"/>
                </a:lnTo>
                <a:lnTo>
                  <a:pt x="2995824" y="3102217"/>
                </a:lnTo>
                <a:lnTo>
                  <a:pt x="29958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-41724" y="0"/>
            <a:ext cx="3511040" cy="2534333"/>
          </a:xfrm>
          <a:custGeom>
            <a:avLst/>
            <a:gdLst/>
            <a:ahLst/>
            <a:cxnLst/>
            <a:rect r="r" b="b" t="t" l="l"/>
            <a:pathLst>
              <a:path h="2534333" w="3511040">
                <a:moveTo>
                  <a:pt x="3511040" y="2534333"/>
                </a:moveTo>
                <a:lnTo>
                  <a:pt x="0" y="2534333"/>
                </a:lnTo>
                <a:lnTo>
                  <a:pt x="0" y="0"/>
                </a:lnTo>
                <a:lnTo>
                  <a:pt x="3511040" y="0"/>
                </a:lnTo>
                <a:lnTo>
                  <a:pt x="3511040" y="253433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5222013" y="8077786"/>
            <a:ext cx="3147843" cy="2209214"/>
          </a:xfrm>
          <a:custGeom>
            <a:avLst/>
            <a:gdLst/>
            <a:ahLst/>
            <a:cxnLst/>
            <a:rect r="r" b="b" t="t" l="l"/>
            <a:pathLst>
              <a:path h="2209214" w="3147843">
                <a:moveTo>
                  <a:pt x="3147843" y="0"/>
                </a:moveTo>
                <a:lnTo>
                  <a:pt x="0" y="0"/>
                </a:lnTo>
                <a:lnTo>
                  <a:pt x="0" y="2209214"/>
                </a:lnTo>
                <a:lnTo>
                  <a:pt x="3147843" y="2209214"/>
                </a:lnTo>
                <a:lnTo>
                  <a:pt x="314784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1474513">
            <a:off x="16261278" y="-962399"/>
            <a:ext cx="3127720" cy="3675597"/>
          </a:xfrm>
          <a:custGeom>
            <a:avLst/>
            <a:gdLst/>
            <a:ahLst/>
            <a:cxnLst/>
            <a:rect r="r" b="b" t="t" l="l"/>
            <a:pathLst>
              <a:path h="3675597" w="3127720">
                <a:moveTo>
                  <a:pt x="0" y="3675597"/>
                </a:moveTo>
                <a:lnTo>
                  <a:pt x="3127719" y="3675597"/>
                </a:lnTo>
                <a:lnTo>
                  <a:pt x="3127719" y="0"/>
                </a:lnTo>
                <a:lnTo>
                  <a:pt x="0" y="0"/>
                </a:lnTo>
                <a:lnTo>
                  <a:pt x="0" y="367559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338354" y="1790818"/>
            <a:ext cx="1408623" cy="1487030"/>
          </a:xfrm>
          <a:custGeom>
            <a:avLst/>
            <a:gdLst/>
            <a:ahLst/>
            <a:cxnLst/>
            <a:rect r="r" b="b" t="t" l="l"/>
            <a:pathLst>
              <a:path h="1487030" w="1408623">
                <a:moveTo>
                  <a:pt x="0" y="0"/>
                </a:moveTo>
                <a:lnTo>
                  <a:pt x="1408623" y="0"/>
                </a:lnTo>
                <a:lnTo>
                  <a:pt x="1408623" y="1487030"/>
                </a:lnTo>
                <a:lnTo>
                  <a:pt x="0" y="14870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4614110">
            <a:off x="17566900" y="6727958"/>
            <a:ext cx="1264825" cy="1196571"/>
          </a:xfrm>
          <a:custGeom>
            <a:avLst/>
            <a:gdLst/>
            <a:ahLst/>
            <a:cxnLst/>
            <a:rect r="r" b="b" t="t" l="l"/>
            <a:pathLst>
              <a:path h="1196571" w="1264825">
                <a:moveTo>
                  <a:pt x="0" y="0"/>
                </a:moveTo>
                <a:lnTo>
                  <a:pt x="1264825" y="0"/>
                </a:lnTo>
                <a:lnTo>
                  <a:pt x="1264825" y="1196571"/>
                </a:lnTo>
                <a:lnTo>
                  <a:pt x="0" y="119657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3060773" y="2155163"/>
            <a:ext cx="12166455" cy="1306810"/>
            <a:chOff x="0" y="0"/>
            <a:chExt cx="16221940" cy="1742413"/>
          </a:xfrm>
        </p:grpSpPr>
        <p:grpSp>
          <p:nvGrpSpPr>
            <p:cNvPr name="Group 17" id="17"/>
            <p:cNvGrpSpPr/>
            <p:nvPr/>
          </p:nvGrpSpPr>
          <p:grpSpPr>
            <a:xfrm rot="-5400000">
              <a:off x="-216410" y="216410"/>
              <a:ext cx="1742413" cy="1309592"/>
              <a:chOff x="0" y="0"/>
              <a:chExt cx="344180" cy="25868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44180" cy="258685"/>
              </a:xfrm>
              <a:custGeom>
                <a:avLst/>
                <a:gdLst/>
                <a:ahLst/>
                <a:cxnLst/>
                <a:rect r="r" b="b" t="t" l="l"/>
                <a:pathLst>
                  <a:path h="258685" w="344180">
                    <a:moveTo>
                      <a:pt x="344180" y="0"/>
                    </a:moveTo>
                    <a:lnTo>
                      <a:pt x="344180" y="144385"/>
                    </a:lnTo>
                    <a:lnTo>
                      <a:pt x="172090" y="258685"/>
                    </a:lnTo>
                    <a:lnTo>
                      <a:pt x="0" y="144385"/>
                    </a:lnTo>
                    <a:lnTo>
                      <a:pt x="0" y="0"/>
                    </a:lnTo>
                    <a:lnTo>
                      <a:pt x="344180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344180" cy="1824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940478" y="0"/>
              <a:ext cx="14340984" cy="1742413"/>
              <a:chOff x="0" y="0"/>
              <a:chExt cx="2832787" cy="34418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832787" cy="344180"/>
              </a:xfrm>
              <a:custGeom>
                <a:avLst/>
                <a:gdLst/>
                <a:ahLst/>
                <a:cxnLst/>
                <a:rect r="r" b="b" t="t" l="l"/>
                <a:pathLst>
                  <a:path h="344180" w="2832787">
                    <a:moveTo>
                      <a:pt x="2832787" y="0"/>
                    </a:moveTo>
                    <a:lnTo>
                      <a:pt x="0" y="0"/>
                    </a:lnTo>
                    <a:lnTo>
                      <a:pt x="101600" y="172090"/>
                    </a:lnTo>
                    <a:lnTo>
                      <a:pt x="0" y="344180"/>
                    </a:lnTo>
                    <a:lnTo>
                      <a:pt x="2832787" y="344180"/>
                    </a:lnTo>
                    <a:lnTo>
                      <a:pt x="2731187" y="172090"/>
                    </a:lnTo>
                    <a:lnTo>
                      <a:pt x="2832787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88900" y="-38100"/>
                <a:ext cx="2654987" cy="3822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5400000">
              <a:off x="14695937" y="216410"/>
              <a:ext cx="1742413" cy="1309592"/>
              <a:chOff x="0" y="0"/>
              <a:chExt cx="344180" cy="25868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344180" cy="258685"/>
              </a:xfrm>
              <a:custGeom>
                <a:avLst/>
                <a:gdLst/>
                <a:ahLst/>
                <a:cxnLst/>
                <a:rect r="r" b="b" t="t" l="l"/>
                <a:pathLst>
                  <a:path h="258685" w="344180">
                    <a:moveTo>
                      <a:pt x="344180" y="0"/>
                    </a:moveTo>
                    <a:lnTo>
                      <a:pt x="344180" y="144385"/>
                    </a:lnTo>
                    <a:lnTo>
                      <a:pt x="172090" y="258685"/>
                    </a:lnTo>
                    <a:lnTo>
                      <a:pt x="0" y="144385"/>
                    </a:lnTo>
                    <a:lnTo>
                      <a:pt x="0" y="0"/>
                    </a:lnTo>
                    <a:lnTo>
                      <a:pt x="344180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344180" cy="1824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1622928" y="508733"/>
              <a:ext cx="12949802" cy="880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DESAFIOS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744290" y="4045878"/>
            <a:ext cx="14198527" cy="5136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Simplicidade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Ri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sco de simplificar demais.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Ex: solução simples não atende todo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s os requ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isitos.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imes auto-organizáveis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Pode faltar liderança.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Ex: equipe sem direção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clara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Melhori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a con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tínua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Exige di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sciplina constante.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Ex: equipe não revisa processos regularmente.</a:t>
            </a:r>
          </a:p>
          <a:p>
            <a:pPr algn="l">
              <a:lnSpc>
                <a:spcPts val="4060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19</a:t>
            </a:r>
          </a:p>
        </p:txBody>
      </p:sp>
    </p:spTree>
  </p:cSld>
  <p:clrMapOvr>
    <a:masterClrMapping/>
  </p:clrMapOvr>
  <p:transition spd="slow">
    <p:push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094555" y="-1446314"/>
            <a:ext cx="16601806" cy="16450880"/>
          </a:xfrm>
          <a:custGeom>
            <a:avLst/>
            <a:gdLst/>
            <a:ahLst/>
            <a:cxnLst/>
            <a:rect r="r" b="b" t="t" l="l"/>
            <a:pathLst>
              <a:path h="16450880" w="16601806">
                <a:moveTo>
                  <a:pt x="0" y="0"/>
                </a:moveTo>
                <a:lnTo>
                  <a:pt x="16601806" y="0"/>
                </a:lnTo>
                <a:lnTo>
                  <a:pt x="16601806" y="16450880"/>
                </a:lnTo>
                <a:lnTo>
                  <a:pt x="0" y="164508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781992" y="8212199"/>
            <a:ext cx="2995824" cy="3102217"/>
          </a:xfrm>
          <a:custGeom>
            <a:avLst/>
            <a:gdLst/>
            <a:ahLst/>
            <a:cxnLst/>
            <a:rect r="r" b="b" t="t" l="l"/>
            <a:pathLst>
              <a:path h="3102217" w="2995824">
                <a:moveTo>
                  <a:pt x="2995824" y="0"/>
                </a:moveTo>
                <a:lnTo>
                  <a:pt x="0" y="0"/>
                </a:lnTo>
                <a:lnTo>
                  <a:pt x="0" y="3102217"/>
                </a:lnTo>
                <a:lnTo>
                  <a:pt x="2995824" y="3102217"/>
                </a:lnTo>
                <a:lnTo>
                  <a:pt x="29958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41724" y="0"/>
            <a:ext cx="3511040" cy="2534333"/>
          </a:xfrm>
          <a:custGeom>
            <a:avLst/>
            <a:gdLst/>
            <a:ahLst/>
            <a:cxnLst/>
            <a:rect r="r" b="b" t="t" l="l"/>
            <a:pathLst>
              <a:path h="2534333" w="3511040">
                <a:moveTo>
                  <a:pt x="3511040" y="2534333"/>
                </a:moveTo>
                <a:lnTo>
                  <a:pt x="0" y="2534333"/>
                </a:lnTo>
                <a:lnTo>
                  <a:pt x="0" y="0"/>
                </a:lnTo>
                <a:lnTo>
                  <a:pt x="3511040" y="0"/>
                </a:lnTo>
                <a:lnTo>
                  <a:pt x="3511040" y="253433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5222013" y="8077786"/>
            <a:ext cx="3147843" cy="2209214"/>
          </a:xfrm>
          <a:custGeom>
            <a:avLst/>
            <a:gdLst/>
            <a:ahLst/>
            <a:cxnLst/>
            <a:rect r="r" b="b" t="t" l="l"/>
            <a:pathLst>
              <a:path h="2209214" w="3147843">
                <a:moveTo>
                  <a:pt x="3147843" y="0"/>
                </a:moveTo>
                <a:lnTo>
                  <a:pt x="0" y="0"/>
                </a:lnTo>
                <a:lnTo>
                  <a:pt x="0" y="2209214"/>
                </a:lnTo>
                <a:lnTo>
                  <a:pt x="3147843" y="2209214"/>
                </a:lnTo>
                <a:lnTo>
                  <a:pt x="314784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1474513">
            <a:off x="16261278" y="-962399"/>
            <a:ext cx="3127720" cy="3675597"/>
          </a:xfrm>
          <a:custGeom>
            <a:avLst/>
            <a:gdLst/>
            <a:ahLst/>
            <a:cxnLst/>
            <a:rect r="r" b="b" t="t" l="l"/>
            <a:pathLst>
              <a:path h="3675597" w="3127720">
                <a:moveTo>
                  <a:pt x="0" y="3675597"/>
                </a:moveTo>
                <a:lnTo>
                  <a:pt x="3127719" y="3675597"/>
                </a:lnTo>
                <a:lnTo>
                  <a:pt x="3127719" y="0"/>
                </a:lnTo>
                <a:lnTo>
                  <a:pt x="0" y="0"/>
                </a:lnTo>
                <a:lnTo>
                  <a:pt x="0" y="367559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38354" y="1790818"/>
            <a:ext cx="1408623" cy="1487030"/>
          </a:xfrm>
          <a:custGeom>
            <a:avLst/>
            <a:gdLst/>
            <a:ahLst/>
            <a:cxnLst/>
            <a:rect r="r" b="b" t="t" l="l"/>
            <a:pathLst>
              <a:path h="1487030" w="1408623">
                <a:moveTo>
                  <a:pt x="0" y="0"/>
                </a:moveTo>
                <a:lnTo>
                  <a:pt x="1408623" y="0"/>
                </a:lnTo>
                <a:lnTo>
                  <a:pt x="1408623" y="1487030"/>
                </a:lnTo>
                <a:lnTo>
                  <a:pt x="0" y="14870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4614110">
            <a:off x="17566900" y="6727958"/>
            <a:ext cx="1264825" cy="1196571"/>
          </a:xfrm>
          <a:custGeom>
            <a:avLst/>
            <a:gdLst/>
            <a:ahLst/>
            <a:cxnLst/>
            <a:rect r="r" b="b" t="t" l="l"/>
            <a:pathLst>
              <a:path h="1196571" w="1264825">
                <a:moveTo>
                  <a:pt x="0" y="0"/>
                </a:moveTo>
                <a:lnTo>
                  <a:pt x="1264825" y="0"/>
                </a:lnTo>
                <a:lnTo>
                  <a:pt x="1264825" y="1196571"/>
                </a:lnTo>
                <a:lnTo>
                  <a:pt x="0" y="119657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09284" y="1609202"/>
            <a:ext cx="15469431" cy="7813312"/>
            <a:chOff x="0" y="0"/>
            <a:chExt cx="20625908" cy="1041775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0625908" cy="10417750"/>
              <a:chOff x="0" y="0"/>
              <a:chExt cx="3955689" cy="199794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955688" cy="1997942"/>
              </a:xfrm>
              <a:custGeom>
                <a:avLst/>
                <a:gdLst/>
                <a:ahLst/>
                <a:cxnLst/>
                <a:rect r="r" b="b" t="t" l="l"/>
                <a:pathLst>
                  <a:path h="1997942" w="3955688">
                    <a:moveTo>
                      <a:pt x="387627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918524"/>
                    </a:lnTo>
                    <a:cubicBezTo>
                      <a:pt x="43699" y="1918524"/>
                      <a:pt x="79418" y="1953863"/>
                      <a:pt x="79418" y="1997942"/>
                    </a:cubicBezTo>
                    <a:lnTo>
                      <a:pt x="3876270" y="1997942"/>
                    </a:lnTo>
                    <a:cubicBezTo>
                      <a:pt x="3876270" y="1954243"/>
                      <a:pt x="3911609" y="1918524"/>
                      <a:pt x="3955688" y="1918524"/>
                    </a:cubicBezTo>
                    <a:lnTo>
                      <a:pt x="3955688" y="79418"/>
                    </a:lnTo>
                    <a:cubicBezTo>
                      <a:pt x="3911989" y="79418"/>
                      <a:pt x="3876270" y="44079"/>
                      <a:pt x="3876270" y="0"/>
                    </a:cubicBezTo>
                    <a:close/>
                  </a:path>
                </a:pathLst>
              </a:custGeom>
              <a:ln w="123825" cap="sq">
                <a:solidFill>
                  <a:srgbClr val="64050C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38100" y="0"/>
                <a:ext cx="3879489" cy="19598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390050" y="360355"/>
              <a:ext cx="19820409" cy="9697040"/>
              <a:chOff x="0" y="0"/>
              <a:chExt cx="3801208" cy="185972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801208" cy="1859723"/>
              </a:xfrm>
              <a:custGeom>
                <a:avLst/>
                <a:gdLst/>
                <a:ahLst/>
                <a:cxnLst/>
                <a:rect r="r" b="b" t="t" l="l"/>
                <a:pathLst>
                  <a:path h="1859723" w="3801208">
                    <a:moveTo>
                      <a:pt x="372179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780305"/>
                    </a:lnTo>
                    <a:cubicBezTo>
                      <a:pt x="43699" y="1780305"/>
                      <a:pt x="79418" y="1815644"/>
                      <a:pt x="79418" y="1859723"/>
                    </a:cubicBezTo>
                    <a:lnTo>
                      <a:pt x="3721790" y="1859723"/>
                    </a:lnTo>
                    <a:cubicBezTo>
                      <a:pt x="3721790" y="1816023"/>
                      <a:pt x="3757129" y="1780305"/>
                      <a:pt x="3801208" y="1780305"/>
                    </a:cubicBezTo>
                    <a:lnTo>
                      <a:pt x="3801208" y="79418"/>
                    </a:lnTo>
                    <a:cubicBezTo>
                      <a:pt x="3757509" y="79418"/>
                      <a:pt x="3721790" y="44079"/>
                      <a:pt x="3721790" y="0"/>
                    </a:cubicBezTo>
                    <a:close/>
                  </a:path>
                </a:pathLst>
              </a:custGeom>
              <a:ln w="66675" cap="sq">
                <a:solidFill>
                  <a:srgbClr val="C72228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38100" y="0"/>
                <a:ext cx="3725008" cy="18216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0">
            <a:off x="3060773" y="5016596"/>
            <a:ext cx="12166455" cy="1386830"/>
            <a:chOff x="0" y="0"/>
            <a:chExt cx="16221940" cy="1849107"/>
          </a:xfrm>
        </p:grpSpPr>
        <p:grpSp>
          <p:nvGrpSpPr>
            <p:cNvPr name="Group 17" id="17"/>
            <p:cNvGrpSpPr/>
            <p:nvPr/>
          </p:nvGrpSpPr>
          <p:grpSpPr>
            <a:xfrm rot="-5400000">
              <a:off x="-216410" y="216410"/>
              <a:ext cx="1742413" cy="1309592"/>
              <a:chOff x="0" y="0"/>
              <a:chExt cx="344180" cy="25868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44180" cy="258685"/>
              </a:xfrm>
              <a:custGeom>
                <a:avLst/>
                <a:gdLst/>
                <a:ahLst/>
                <a:cxnLst/>
                <a:rect r="r" b="b" t="t" l="l"/>
                <a:pathLst>
                  <a:path h="258685" w="344180">
                    <a:moveTo>
                      <a:pt x="344180" y="0"/>
                    </a:moveTo>
                    <a:lnTo>
                      <a:pt x="344180" y="144385"/>
                    </a:lnTo>
                    <a:lnTo>
                      <a:pt x="172090" y="258685"/>
                    </a:lnTo>
                    <a:lnTo>
                      <a:pt x="0" y="144385"/>
                    </a:lnTo>
                    <a:lnTo>
                      <a:pt x="0" y="0"/>
                    </a:lnTo>
                    <a:lnTo>
                      <a:pt x="344180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344180" cy="1824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940478" y="0"/>
              <a:ext cx="14340984" cy="1742413"/>
              <a:chOff x="0" y="0"/>
              <a:chExt cx="2832787" cy="34418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832787" cy="344180"/>
              </a:xfrm>
              <a:custGeom>
                <a:avLst/>
                <a:gdLst/>
                <a:ahLst/>
                <a:cxnLst/>
                <a:rect r="r" b="b" t="t" l="l"/>
                <a:pathLst>
                  <a:path h="344180" w="2832787">
                    <a:moveTo>
                      <a:pt x="2832787" y="0"/>
                    </a:moveTo>
                    <a:lnTo>
                      <a:pt x="0" y="0"/>
                    </a:lnTo>
                    <a:lnTo>
                      <a:pt x="101600" y="172090"/>
                    </a:lnTo>
                    <a:lnTo>
                      <a:pt x="0" y="344180"/>
                    </a:lnTo>
                    <a:lnTo>
                      <a:pt x="2832787" y="344180"/>
                    </a:lnTo>
                    <a:lnTo>
                      <a:pt x="2731187" y="172090"/>
                    </a:lnTo>
                    <a:lnTo>
                      <a:pt x="2832787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88900" y="-38100"/>
                <a:ext cx="2654987" cy="3822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5400000">
              <a:off x="14695937" y="216410"/>
              <a:ext cx="1742413" cy="1309592"/>
              <a:chOff x="0" y="0"/>
              <a:chExt cx="344180" cy="25868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344180" cy="258685"/>
              </a:xfrm>
              <a:custGeom>
                <a:avLst/>
                <a:gdLst/>
                <a:ahLst/>
                <a:cxnLst/>
                <a:rect r="r" b="b" t="t" l="l"/>
                <a:pathLst>
                  <a:path h="258685" w="344180">
                    <a:moveTo>
                      <a:pt x="344180" y="0"/>
                    </a:moveTo>
                    <a:lnTo>
                      <a:pt x="344180" y="144385"/>
                    </a:lnTo>
                    <a:lnTo>
                      <a:pt x="172090" y="258685"/>
                    </a:lnTo>
                    <a:lnTo>
                      <a:pt x="0" y="144385"/>
                    </a:lnTo>
                    <a:lnTo>
                      <a:pt x="0" y="0"/>
                    </a:lnTo>
                    <a:lnTo>
                      <a:pt x="344180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344180" cy="1824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1636069" y="28773"/>
              <a:ext cx="12949802" cy="18203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CARACTERÍSTICAS, VANTAGENS E DESAFIOS DOS 4 VALORES 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20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5070462" y="2119604"/>
            <a:ext cx="785722" cy="829457"/>
          </a:xfrm>
          <a:custGeom>
            <a:avLst/>
            <a:gdLst/>
            <a:ahLst/>
            <a:cxnLst/>
            <a:rect r="r" b="b" t="t" l="l"/>
            <a:pathLst>
              <a:path h="829457" w="785722">
                <a:moveTo>
                  <a:pt x="0" y="0"/>
                </a:moveTo>
                <a:lnTo>
                  <a:pt x="785722" y="0"/>
                </a:lnTo>
                <a:lnTo>
                  <a:pt x="785722" y="829457"/>
                </a:lnTo>
                <a:lnTo>
                  <a:pt x="0" y="8294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2010530" y="8298985"/>
            <a:ext cx="963320" cy="1016941"/>
          </a:xfrm>
          <a:custGeom>
            <a:avLst/>
            <a:gdLst/>
            <a:ahLst/>
            <a:cxnLst/>
            <a:rect r="r" b="b" t="t" l="l"/>
            <a:pathLst>
              <a:path h="1016941" w="963320">
                <a:moveTo>
                  <a:pt x="0" y="0"/>
                </a:moveTo>
                <a:lnTo>
                  <a:pt x="963320" y="0"/>
                </a:lnTo>
                <a:lnTo>
                  <a:pt x="963320" y="1016941"/>
                </a:lnTo>
                <a:lnTo>
                  <a:pt x="0" y="101694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752236" y="8077786"/>
            <a:ext cx="963320" cy="1016941"/>
          </a:xfrm>
          <a:custGeom>
            <a:avLst/>
            <a:gdLst/>
            <a:ahLst/>
            <a:cxnLst/>
            <a:rect r="r" b="b" t="t" l="l"/>
            <a:pathLst>
              <a:path h="1016941" w="963320">
                <a:moveTo>
                  <a:pt x="0" y="0"/>
                </a:moveTo>
                <a:lnTo>
                  <a:pt x="963320" y="0"/>
                </a:lnTo>
                <a:lnTo>
                  <a:pt x="963320" y="1016941"/>
                </a:lnTo>
                <a:lnTo>
                  <a:pt x="0" y="101694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453814" y="8298985"/>
            <a:ext cx="963320" cy="1016941"/>
          </a:xfrm>
          <a:custGeom>
            <a:avLst/>
            <a:gdLst/>
            <a:ahLst/>
            <a:cxnLst/>
            <a:rect r="r" b="b" t="t" l="l"/>
            <a:pathLst>
              <a:path h="1016941" w="963320">
                <a:moveTo>
                  <a:pt x="0" y="0"/>
                </a:moveTo>
                <a:lnTo>
                  <a:pt x="963320" y="0"/>
                </a:lnTo>
                <a:lnTo>
                  <a:pt x="963320" y="1016941"/>
                </a:lnTo>
                <a:lnTo>
                  <a:pt x="0" y="101694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05826" y="-7865065"/>
            <a:ext cx="16601806" cy="16450880"/>
          </a:xfrm>
          <a:custGeom>
            <a:avLst/>
            <a:gdLst/>
            <a:ahLst/>
            <a:cxnLst/>
            <a:rect r="r" b="b" t="t" l="l"/>
            <a:pathLst>
              <a:path h="16450880" w="16601806">
                <a:moveTo>
                  <a:pt x="0" y="0"/>
                </a:moveTo>
                <a:lnTo>
                  <a:pt x="16601806" y="0"/>
                </a:lnTo>
                <a:lnTo>
                  <a:pt x="16601806" y="16450880"/>
                </a:lnTo>
                <a:lnTo>
                  <a:pt x="0" y="164508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09284" y="1609202"/>
            <a:ext cx="15469431" cy="7813312"/>
            <a:chOff x="0" y="0"/>
            <a:chExt cx="20625908" cy="1041775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0625908" cy="10417750"/>
              <a:chOff x="0" y="0"/>
              <a:chExt cx="3955689" cy="199794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955688" cy="1997942"/>
              </a:xfrm>
              <a:custGeom>
                <a:avLst/>
                <a:gdLst/>
                <a:ahLst/>
                <a:cxnLst/>
                <a:rect r="r" b="b" t="t" l="l"/>
                <a:pathLst>
                  <a:path h="1997942" w="3955688">
                    <a:moveTo>
                      <a:pt x="387627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918524"/>
                    </a:lnTo>
                    <a:cubicBezTo>
                      <a:pt x="43699" y="1918524"/>
                      <a:pt x="79418" y="1953863"/>
                      <a:pt x="79418" y="1997942"/>
                    </a:cubicBezTo>
                    <a:lnTo>
                      <a:pt x="3876270" y="1997942"/>
                    </a:lnTo>
                    <a:cubicBezTo>
                      <a:pt x="3876270" y="1954243"/>
                      <a:pt x="3911609" y="1918524"/>
                      <a:pt x="3955688" y="1918524"/>
                    </a:cubicBezTo>
                    <a:lnTo>
                      <a:pt x="3955688" y="79418"/>
                    </a:lnTo>
                    <a:cubicBezTo>
                      <a:pt x="3911989" y="79418"/>
                      <a:pt x="3876270" y="44079"/>
                      <a:pt x="3876270" y="0"/>
                    </a:cubicBezTo>
                    <a:close/>
                  </a:path>
                </a:pathLst>
              </a:custGeom>
              <a:ln w="123825" cap="sq">
                <a:solidFill>
                  <a:srgbClr val="64050C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38100" y="0"/>
                <a:ext cx="3879489" cy="19598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390050" y="360355"/>
              <a:ext cx="19820409" cy="9697040"/>
              <a:chOff x="0" y="0"/>
              <a:chExt cx="3801208" cy="185972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801208" cy="1859723"/>
              </a:xfrm>
              <a:custGeom>
                <a:avLst/>
                <a:gdLst/>
                <a:ahLst/>
                <a:cxnLst/>
                <a:rect r="r" b="b" t="t" l="l"/>
                <a:pathLst>
                  <a:path h="1859723" w="3801208">
                    <a:moveTo>
                      <a:pt x="372179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780305"/>
                    </a:lnTo>
                    <a:cubicBezTo>
                      <a:pt x="43699" y="1780305"/>
                      <a:pt x="79418" y="1815644"/>
                      <a:pt x="79418" y="1859723"/>
                    </a:cubicBezTo>
                    <a:lnTo>
                      <a:pt x="3721790" y="1859723"/>
                    </a:lnTo>
                    <a:cubicBezTo>
                      <a:pt x="3721790" y="1816023"/>
                      <a:pt x="3757129" y="1780305"/>
                      <a:pt x="3801208" y="1780305"/>
                    </a:cubicBezTo>
                    <a:lnTo>
                      <a:pt x="3801208" y="79418"/>
                    </a:lnTo>
                    <a:cubicBezTo>
                      <a:pt x="3757509" y="79418"/>
                      <a:pt x="3721790" y="44079"/>
                      <a:pt x="3721790" y="0"/>
                    </a:cubicBezTo>
                    <a:close/>
                  </a:path>
                </a:pathLst>
              </a:custGeom>
              <a:ln w="66675" cap="sq">
                <a:solidFill>
                  <a:srgbClr val="C72228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38100" y="0"/>
                <a:ext cx="3725008" cy="18216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true" flipV="false" rot="0">
            <a:off x="-781992" y="8212199"/>
            <a:ext cx="2995824" cy="3102217"/>
          </a:xfrm>
          <a:custGeom>
            <a:avLst/>
            <a:gdLst/>
            <a:ahLst/>
            <a:cxnLst/>
            <a:rect r="r" b="b" t="t" l="l"/>
            <a:pathLst>
              <a:path h="3102217" w="2995824">
                <a:moveTo>
                  <a:pt x="2995824" y="0"/>
                </a:moveTo>
                <a:lnTo>
                  <a:pt x="0" y="0"/>
                </a:lnTo>
                <a:lnTo>
                  <a:pt x="0" y="3102217"/>
                </a:lnTo>
                <a:lnTo>
                  <a:pt x="2995824" y="3102217"/>
                </a:lnTo>
                <a:lnTo>
                  <a:pt x="29958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-41724" y="0"/>
            <a:ext cx="3511040" cy="2534333"/>
          </a:xfrm>
          <a:custGeom>
            <a:avLst/>
            <a:gdLst/>
            <a:ahLst/>
            <a:cxnLst/>
            <a:rect r="r" b="b" t="t" l="l"/>
            <a:pathLst>
              <a:path h="2534333" w="3511040">
                <a:moveTo>
                  <a:pt x="3511040" y="2534333"/>
                </a:moveTo>
                <a:lnTo>
                  <a:pt x="0" y="2534333"/>
                </a:lnTo>
                <a:lnTo>
                  <a:pt x="0" y="0"/>
                </a:lnTo>
                <a:lnTo>
                  <a:pt x="3511040" y="0"/>
                </a:lnTo>
                <a:lnTo>
                  <a:pt x="3511040" y="253433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5222013" y="8077786"/>
            <a:ext cx="3147843" cy="2209214"/>
          </a:xfrm>
          <a:custGeom>
            <a:avLst/>
            <a:gdLst/>
            <a:ahLst/>
            <a:cxnLst/>
            <a:rect r="r" b="b" t="t" l="l"/>
            <a:pathLst>
              <a:path h="2209214" w="3147843">
                <a:moveTo>
                  <a:pt x="3147843" y="0"/>
                </a:moveTo>
                <a:lnTo>
                  <a:pt x="0" y="0"/>
                </a:lnTo>
                <a:lnTo>
                  <a:pt x="0" y="2209214"/>
                </a:lnTo>
                <a:lnTo>
                  <a:pt x="3147843" y="2209214"/>
                </a:lnTo>
                <a:lnTo>
                  <a:pt x="314784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1474513">
            <a:off x="16261278" y="-962399"/>
            <a:ext cx="3127720" cy="3675597"/>
          </a:xfrm>
          <a:custGeom>
            <a:avLst/>
            <a:gdLst/>
            <a:ahLst/>
            <a:cxnLst/>
            <a:rect r="r" b="b" t="t" l="l"/>
            <a:pathLst>
              <a:path h="3675597" w="3127720">
                <a:moveTo>
                  <a:pt x="0" y="3675597"/>
                </a:moveTo>
                <a:lnTo>
                  <a:pt x="3127719" y="3675597"/>
                </a:lnTo>
                <a:lnTo>
                  <a:pt x="3127719" y="0"/>
                </a:lnTo>
                <a:lnTo>
                  <a:pt x="0" y="0"/>
                </a:lnTo>
                <a:lnTo>
                  <a:pt x="0" y="367559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338354" y="1790818"/>
            <a:ext cx="1408623" cy="1487030"/>
          </a:xfrm>
          <a:custGeom>
            <a:avLst/>
            <a:gdLst/>
            <a:ahLst/>
            <a:cxnLst/>
            <a:rect r="r" b="b" t="t" l="l"/>
            <a:pathLst>
              <a:path h="1487030" w="1408623">
                <a:moveTo>
                  <a:pt x="0" y="0"/>
                </a:moveTo>
                <a:lnTo>
                  <a:pt x="1408623" y="0"/>
                </a:lnTo>
                <a:lnTo>
                  <a:pt x="1408623" y="1487030"/>
                </a:lnTo>
                <a:lnTo>
                  <a:pt x="0" y="14870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4614110">
            <a:off x="17566900" y="6727958"/>
            <a:ext cx="1264825" cy="1196571"/>
          </a:xfrm>
          <a:custGeom>
            <a:avLst/>
            <a:gdLst/>
            <a:ahLst/>
            <a:cxnLst/>
            <a:rect r="r" b="b" t="t" l="l"/>
            <a:pathLst>
              <a:path h="1196571" w="1264825">
                <a:moveTo>
                  <a:pt x="0" y="0"/>
                </a:moveTo>
                <a:lnTo>
                  <a:pt x="1264825" y="0"/>
                </a:lnTo>
                <a:lnTo>
                  <a:pt x="1264825" y="1196571"/>
                </a:lnTo>
                <a:lnTo>
                  <a:pt x="0" y="119657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3060773" y="2155163"/>
            <a:ext cx="12166455" cy="1306810"/>
            <a:chOff x="0" y="0"/>
            <a:chExt cx="16221940" cy="1742413"/>
          </a:xfrm>
        </p:grpSpPr>
        <p:grpSp>
          <p:nvGrpSpPr>
            <p:cNvPr name="Group 17" id="17"/>
            <p:cNvGrpSpPr/>
            <p:nvPr/>
          </p:nvGrpSpPr>
          <p:grpSpPr>
            <a:xfrm rot="-5400000">
              <a:off x="-216410" y="216410"/>
              <a:ext cx="1742413" cy="1309592"/>
              <a:chOff x="0" y="0"/>
              <a:chExt cx="344180" cy="25868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44180" cy="258685"/>
              </a:xfrm>
              <a:custGeom>
                <a:avLst/>
                <a:gdLst/>
                <a:ahLst/>
                <a:cxnLst/>
                <a:rect r="r" b="b" t="t" l="l"/>
                <a:pathLst>
                  <a:path h="258685" w="344180">
                    <a:moveTo>
                      <a:pt x="344180" y="0"/>
                    </a:moveTo>
                    <a:lnTo>
                      <a:pt x="344180" y="144385"/>
                    </a:lnTo>
                    <a:lnTo>
                      <a:pt x="172090" y="258685"/>
                    </a:lnTo>
                    <a:lnTo>
                      <a:pt x="0" y="144385"/>
                    </a:lnTo>
                    <a:lnTo>
                      <a:pt x="0" y="0"/>
                    </a:lnTo>
                    <a:lnTo>
                      <a:pt x="344180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344180" cy="1824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940478" y="0"/>
              <a:ext cx="14340984" cy="1742413"/>
              <a:chOff x="0" y="0"/>
              <a:chExt cx="2832787" cy="34418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832787" cy="344180"/>
              </a:xfrm>
              <a:custGeom>
                <a:avLst/>
                <a:gdLst/>
                <a:ahLst/>
                <a:cxnLst/>
                <a:rect r="r" b="b" t="t" l="l"/>
                <a:pathLst>
                  <a:path h="344180" w="2832787">
                    <a:moveTo>
                      <a:pt x="2832787" y="0"/>
                    </a:moveTo>
                    <a:lnTo>
                      <a:pt x="0" y="0"/>
                    </a:lnTo>
                    <a:lnTo>
                      <a:pt x="101600" y="172090"/>
                    </a:lnTo>
                    <a:lnTo>
                      <a:pt x="0" y="344180"/>
                    </a:lnTo>
                    <a:lnTo>
                      <a:pt x="2832787" y="344180"/>
                    </a:lnTo>
                    <a:lnTo>
                      <a:pt x="2731187" y="172090"/>
                    </a:lnTo>
                    <a:lnTo>
                      <a:pt x="2832787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88900" y="-38100"/>
                <a:ext cx="2654987" cy="3822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5400000">
              <a:off x="14695937" y="216410"/>
              <a:ext cx="1742413" cy="1309592"/>
              <a:chOff x="0" y="0"/>
              <a:chExt cx="344180" cy="25868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344180" cy="258685"/>
              </a:xfrm>
              <a:custGeom>
                <a:avLst/>
                <a:gdLst/>
                <a:ahLst/>
                <a:cxnLst/>
                <a:rect r="r" b="b" t="t" l="l"/>
                <a:pathLst>
                  <a:path h="258685" w="344180">
                    <a:moveTo>
                      <a:pt x="344180" y="0"/>
                    </a:moveTo>
                    <a:lnTo>
                      <a:pt x="344180" y="144385"/>
                    </a:lnTo>
                    <a:lnTo>
                      <a:pt x="172090" y="258685"/>
                    </a:lnTo>
                    <a:lnTo>
                      <a:pt x="0" y="144385"/>
                    </a:lnTo>
                    <a:lnTo>
                      <a:pt x="0" y="0"/>
                    </a:lnTo>
                    <a:lnTo>
                      <a:pt x="344180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344180" cy="1824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1622928" y="508733"/>
              <a:ext cx="12949802" cy="880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INDÍVIDUOS E INTERAÇÕES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680188" y="4272598"/>
            <a:ext cx="14198527" cy="5136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Características: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Foco na comunicação entre equipes.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 Ex: reuniões rápidas entre TI e operação para ajustar o sistema.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Vantagens: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Problemas resolvidos mais rápido.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 Ex: equipe resolve falha sem burocracia.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Desafios: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Pode faltar organização.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 Ex: decisões não documentadas.</a:t>
            </a:r>
          </a:p>
          <a:p>
            <a:pPr algn="l">
              <a:lnSpc>
                <a:spcPts val="4060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21</a:t>
            </a:r>
          </a:p>
        </p:txBody>
      </p:sp>
    </p:spTree>
  </p:cSld>
  <p:clrMapOvr>
    <a:masterClrMapping/>
  </p:clrMapOvr>
  <p:transition spd="slow">
    <p:push dir="l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05826" y="-7865065"/>
            <a:ext cx="16601806" cy="16450880"/>
          </a:xfrm>
          <a:custGeom>
            <a:avLst/>
            <a:gdLst/>
            <a:ahLst/>
            <a:cxnLst/>
            <a:rect r="r" b="b" t="t" l="l"/>
            <a:pathLst>
              <a:path h="16450880" w="16601806">
                <a:moveTo>
                  <a:pt x="0" y="0"/>
                </a:moveTo>
                <a:lnTo>
                  <a:pt x="16601806" y="0"/>
                </a:lnTo>
                <a:lnTo>
                  <a:pt x="16601806" y="16450880"/>
                </a:lnTo>
                <a:lnTo>
                  <a:pt x="0" y="164508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09284" y="1609202"/>
            <a:ext cx="15469431" cy="7813312"/>
            <a:chOff x="0" y="0"/>
            <a:chExt cx="20625908" cy="1041775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0625908" cy="10417750"/>
              <a:chOff x="0" y="0"/>
              <a:chExt cx="3955689" cy="199794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955688" cy="1997942"/>
              </a:xfrm>
              <a:custGeom>
                <a:avLst/>
                <a:gdLst/>
                <a:ahLst/>
                <a:cxnLst/>
                <a:rect r="r" b="b" t="t" l="l"/>
                <a:pathLst>
                  <a:path h="1997942" w="3955688">
                    <a:moveTo>
                      <a:pt x="387627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918524"/>
                    </a:lnTo>
                    <a:cubicBezTo>
                      <a:pt x="43699" y="1918524"/>
                      <a:pt x="79418" y="1953863"/>
                      <a:pt x="79418" y="1997942"/>
                    </a:cubicBezTo>
                    <a:lnTo>
                      <a:pt x="3876270" y="1997942"/>
                    </a:lnTo>
                    <a:cubicBezTo>
                      <a:pt x="3876270" y="1954243"/>
                      <a:pt x="3911609" y="1918524"/>
                      <a:pt x="3955688" y="1918524"/>
                    </a:cubicBezTo>
                    <a:lnTo>
                      <a:pt x="3955688" y="79418"/>
                    </a:lnTo>
                    <a:cubicBezTo>
                      <a:pt x="3911989" y="79418"/>
                      <a:pt x="3876270" y="44079"/>
                      <a:pt x="3876270" y="0"/>
                    </a:cubicBezTo>
                    <a:close/>
                  </a:path>
                </a:pathLst>
              </a:custGeom>
              <a:ln w="123825" cap="sq">
                <a:solidFill>
                  <a:srgbClr val="64050C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38100" y="0"/>
                <a:ext cx="3879489" cy="19598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390050" y="360355"/>
              <a:ext cx="19820409" cy="9697040"/>
              <a:chOff x="0" y="0"/>
              <a:chExt cx="3801208" cy="185972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801208" cy="1859723"/>
              </a:xfrm>
              <a:custGeom>
                <a:avLst/>
                <a:gdLst/>
                <a:ahLst/>
                <a:cxnLst/>
                <a:rect r="r" b="b" t="t" l="l"/>
                <a:pathLst>
                  <a:path h="1859723" w="3801208">
                    <a:moveTo>
                      <a:pt x="372179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780305"/>
                    </a:lnTo>
                    <a:cubicBezTo>
                      <a:pt x="43699" y="1780305"/>
                      <a:pt x="79418" y="1815644"/>
                      <a:pt x="79418" y="1859723"/>
                    </a:cubicBezTo>
                    <a:lnTo>
                      <a:pt x="3721790" y="1859723"/>
                    </a:lnTo>
                    <a:cubicBezTo>
                      <a:pt x="3721790" y="1816023"/>
                      <a:pt x="3757129" y="1780305"/>
                      <a:pt x="3801208" y="1780305"/>
                    </a:cubicBezTo>
                    <a:lnTo>
                      <a:pt x="3801208" y="79418"/>
                    </a:lnTo>
                    <a:cubicBezTo>
                      <a:pt x="3757509" y="79418"/>
                      <a:pt x="3721790" y="44079"/>
                      <a:pt x="3721790" y="0"/>
                    </a:cubicBezTo>
                    <a:close/>
                  </a:path>
                </a:pathLst>
              </a:custGeom>
              <a:ln w="66675" cap="sq">
                <a:solidFill>
                  <a:srgbClr val="C72228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38100" y="0"/>
                <a:ext cx="3725008" cy="18216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true" flipV="false" rot="0">
            <a:off x="-781992" y="8212199"/>
            <a:ext cx="2995824" cy="3102217"/>
          </a:xfrm>
          <a:custGeom>
            <a:avLst/>
            <a:gdLst/>
            <a:ahLst/>
            <a:cxnLst/>
            <a:rect r="r" b="b" t="t" l="l"/>
            <a:pathLst>
              <a:path h="3102217" w="2995824">
                <a:moveTo>
                  <a:pt x="2995824" y="0"/>
                </a:moveTo>
                <a:lnTo>
                  <a:pt x="0" y="0"/>
                </a:lnTo>
                <a:lnTo>
                  <a:pt x="0" y="3102217"/>
                </a:lnTo>
                <a:lnTo>
                  <a:pt x="2995824" y="3102217"/>
                </a:lnTo>
                <a:lnTo>
                  <a:pt x="29958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-41724" y="0"/>
            <a:ext cx="3511040" cy="2534333"/>
          </a:xfrm>
          <a:custGeom>
            <a:avLst/>
            <a:gdLst/>
            <a:ahLst/>
            <a:cxnLst/>
            <a:rect r="r" b="b" t="t" l="l"/>
            <a:pathLst>
              <a:path h="2534333" w="3511040">
                <a:moveTo>
                  <a:pt x="3511040" y="2534333"/>
                </a:moveTo>
                <a:lnTo>
                  <a:pt x="0" y="2534333"/>
                </a:lnTo>
                <a:lnTo>
                  <a:pt x="0" y="0"/>
                </a:lnTo>
                <a:lnTo>
                  <a:pt x="3511040" y="0"/>
                </a:lnTo>
                <a:lnTo>
                  <a:pt x="3511040" y="253433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5222013" y="8077786"/>
            <a:ext cx="3147843" cy="2209214"/>
          </a:xfrm>
          <a:custGeom>
            <a:avLst/>
            <a:gdLst/>
            <a:ahLst/>
            <a:cxnLst/>
            <a:rect r="r" b="b" t="t" l="l"/>
            <a:pathLst>
              <a:path h="2209214" w="3147843">
                <a:moveTo>
                  <a:pt x="3147843" y="0"/>
                </a:moveTo>
                <a:lnTo>
                  <a:pt x="0" y="0"/>
                </a:lnTo>
                <a:lnTo>
                  <a:pt x="0" y="2209214"/>
                </a:lnTo>
                <a:lnTo>
                  <a:pt x="3147843" y="2209214"/>
                </a:lnTo>
                <a:lnTo>
                  <a:pt x="314784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1474513">
            <a:off x="16261278" y="-962399"/>
            <a:ext cx="3127720" cy="3675597"/>
          </a:xfrm>
          <a:custGeom>
            <a:avLst/>
            <a:gdLst/>
            <a:ahLst/>
            <a:cxnLst/>
            <a:rect r="r" b="b" t="t" l="l"/>
            <a:pathLst>
              <a:path h="3675597" w="3127720">
                <a:moveTo>
                  <a:pt x="0" y="3675597"/>
                </a:moveTo>
                <a:lnTo>
                  <a:pt x="3127719" y="3675597"/>
                </a:lnTo>
                <a:lnTo>
                  <a:pt x="3127719" y="0"/>
                </a:lnTo>
                <a:lnTo>
                  <a:pt x="0" y="0"/>
                </a:lnTo>
                <a:lnTo>
                  <a:pt x="0" y="367559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338354" y="1790818"/>
            <a:ext cx="1408623" cy="1487030"/>
          </a:xfrm>
          <a:custGeom>
            <a:avLst/>
            <a:gdLst/>
            <a:ahLst/>
            <a:cxnLst/>
            <a:rect r="r" b="b" t="t" l="l"/>
            <a:pathLst>
              <a:path h="1487030" w="1408623">
                <a:moveTo>
                  <a:pt x="0" y="0"/>
                </a:moveTo>
                <a:lnTo>
                  <a:pt x="1408623" y="0"/>
                </a:lnTo>
                <a:lnTo>
                  <a:pt x="1408623" y="1487030"/>
                </a:lnTo>
                <a:lnTo>
                  <a:pt x="0" y="14870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4614110">
            <a:off x="17566900" y="6727958"/>
            <a:ext cx="1264825" cy="1196571"/>
          </a:xfrm>
          <a:custGeom>
            <a:avLst/>
            <a:gdLst/>
            <a:ahLst/>
            <a:cxnLst/>
            <a:rect r="r" b="b" t="t" l="l"/>
            <a:pathLst>
              <a:path h="1196571" w="1264825">
                <a:moveTo>
                  <a:pt x="0" y="0"/>
                </a:moveTo>
                <a:lnTo>
                  <a:pt x="1264825" y="0"/>
                </a:lnTo>
                <a:lnTo>
                  <a:pt x="1264825" y="1196571"/>
                </a:lnTo>
                <a:lnTo>
                  <a:pt x="0" y="119657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3060773" y="2155163"/>
            <a:ext cx="12166455" cy="1306810"/>
            <a:chOff x="0" y="0"/>
            <a:chExt cx="16221940" cy="1742413"/>
          </a:xfrm>
        </p:grpSpPr>
        <p:grpSp>
          <p:nvGrpSpPr>
            <p:cNvPr name="Group 17" id="17"/>
            <p:cNvGrpSpPr/>
            <p:nvPr/>
          </p:nvGrpSpPr>
          <p:grpSpPr>
            <a:xfrm rot="-5400000">
              <a:off x="-216410" y="216410"/>
              <a:ext cx="1742413" cy="1309592"/>
              <a:chOff x="0" y="0"/>
              <a:chExt cx="344180" cy="25868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44180" cy="258685"/>
              </a:xfrm>
              <a:custGeom>
                <a:avLst/>
                <a:gdLst/>
                <a:ahLst/>
                <a:cxnLst/>
                <a:rect r="r" b="b" t="t" l="l"/>
                <a:pathLst>
                  <a:path h="258685" w="344180">
                    <a:moveTo>
                      <a:pt x="344180" y="0"/>
                    </a:moveTo>
                    <a:lnTo>
                      <a:pt x="344180" y="144385"/>
                    </a:lnTo>
                    <a:lnTo>
                      <a:pt x="172090" y="258685"/>
                    </a:lnTo>
                    <a:lnTo>
                      <a:pt x="0" y="144385"/>
                    </a:lnTo>
                    <a:lnTo>
                      <a:pt x="0" y="0"/>
                    </a:lnTo>
                    <a:lnTo>
                      <a:pt x="344180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344180" cy="1824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940478" y="0"/>
              <a:ext cx="14340984" cy="1742413"/>
              <a:chOff x="0" y="0"/>
              <a:chExt cx="2832787" cy="34418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832787" cy="344180"/>
              </a:xfrm>
              <a:custGeom>
                <a:avLst/>
                <a:gdLst/>
                <a:ahLst/>
                <a:cxnLst/>
                <a:rect r="r" b="b" t="t" l="l"/>
                <a:pathLst>
                  <a:path h="344180" w="2832787">
                    <a:moveTo>
                      <a:pt x="2832787" y="0"/>
                    </a:moveTo>
                    <a:lnTo>
                      <a:pt x="0" y="0"/>
                    </a:lnTo>
                    <a:lnTo>
                      <a:pt x="101600" y="172090"/>
                    </a:lnTo>
                    <a:lnTo>
                      <a:pt x="0" y="344180"/>
                    </a:lnTo>
                    <a:lnTo>
                      <a:pt x="2832787" y="344180"/>
                    </a:lnTo>
                    <a:lnTo>
                      <a:pt x="2731187" y="172090"/>
                    </a:lnTo>
                    <a:lnTo>
                      <a:pt x="2832787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88900" y="-38100"/>
                <a:ext cx="2654987" cy="3822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5400000">
              <a:off x="14695937" y="216410"/>
              <a:ext cx="1742413" cy="1309592"/>
              <a:chOff x="0" y="0"/>
              <a:chExt cx="344180" cy="25868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344180" cy="258685"/>
              </a:xfrm>
              <a:custGeom>
                <a:avLst/>
                <a:gdLst/>
                <a:ahLst/>
                <a:cxnLst/>
                <a:rect r="r" b="b" t="t" l="l"/>
                <a:pathLst>
                  <a:path h="258685" w="344180">
                    <a:moveTo>
                      <a:pt x="344180" y="0"/>
                    </a:moveTo>
                    <a:lnTo>
                      <a:pt x="344180" y="144385"/>
                    </a:lnTo>
                    <a:lnTo>
                      <a:pt x="172090" y="258685"/>
                    </a:lnTo>
                    <a:lnTo>
                      <a:pt x="0" y="144385"/>
                    </a:lnTo>
                    <a:lnTo>
                      <a:pt x="0" y="0"/>
                    </a:lnTo>
                    <a:lnTo>
                      <a:pt x="344180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344180" cy="1824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1622928" y="508733"/>
              <a:ext cx="12949802" cy="880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COLABORAÇÃO COM O CLIENTE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879235" y="4272598"/>
            <a:ext cx="14198527" cy="5136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Características: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Participação ativa do cliente.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 Ex: operador testa e sugere melhorias no sistema.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Vantagens: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Sistema mais eficiente.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 Ex: melhorias feitas com base no uso real.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Desafios: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Mu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danças constantes.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 Ex: cliente altera requisitos várias vezes..</a:t>
            </a:r>
          </a:p>
          <a:p>
            <a:pPr algn="l">
              <a:lnSpc>
                <a:spcPts val="4060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22</a:t>
            </a:r>
          </a:p>
        </p:txBody>
      </p:sp>
    </p:spTree>
  </p:cSld>
  <p:clrMapOvr>
    <a:masterClrMapping/>
  </p:clrMapOvr>
  <p:transition spd="slow">
    <p:push dir="l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05826" y="-7865065"/>
            <a:ext cx="16601806" cy="16450880"/>
          </a:xfrm>
          <a:custGeom>
            <a:avLst/>
            <a:gdLst/>
            <a:ahLst/>
            <a:cxnLst/>
            <a:rect r="r" b="b" t="t" l="l"/>
            <a:pathLst>
              <a:path h="16450880" w="16601806">
                <a:moveTo>
                  <a:pt x="0" y="0"/>
                </a:moveTo>
                <a:lnTo>
                  <a:pt x="16601806" y="0"/>
                </a:lnTo>
                <a:lnTo>
                  <a:pt x="16601806" y="16450880"/>
                </a:lnTo>
                <a:lnTo>
                  <a:pt x="0" y="164508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09284" y="1609202"/>
            <a:ext cx="15469431" cy="7813312"/>
            <a:chOff x="0" y="0"/>
            <a:chExt cx="20625908" cy="1041775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0625908" cy="10417750"/>
              <a:chOff x="0" y="0"/>
              <a:chExt cx="3955689" cy="199794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955688" cy="1997942"/>
              </a:xfrm>
              <a:custGeom>
                <a:avLst/>
                <a:gdLst/>
                <a:ahLst/>
                <a:cxnLst/>
                <a:rect r="r" b="b" t="t" l="l"/>
                <a:pathLst>
                  <a:path h="1997942" w="3955688">
                    <a:moveTo>
                      <a:pt x="387627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918524"/>
                    </a:lnTo>
                    <a:cubicBezTo>
                      <a:pt x="43699" y="1918524"/>
                      <a:pt x="79418" y="1953863"/>
                      <a:pt x="79418" y="1997942"/>
                    </a:cubicBezTo>
                    <a:lnTo>
                      <a:pt x="3876270" y="1997942"/>
                    </a:lnTo>
                    <a:cubicBezTo>
                      <a:pt x="3876270" y="1954243"/>
                      <a:pt x="3911609" y="1918524"/>
                      <a:pt x="3955688" y="1918524"/>
                    </a:cubicBezTo>
                    <a:lnTo>
                      <a:pt x="3955688" y="79418"/>
                    </a:lnTo>
                    <a:cubicBezTo>
                      <a:pt x="3911989" y="79418"/>
                      <a:pt x="3876270" y="44079"/>
                      <a:pt x="3876270" y="0"/>
                    </a:cubicBezTo>
                    <a:close/>
                  </a:path>
                </a:pathLst>
              </a:custGeom>
              <a:ln w="123825" cap="sq">
                <a:solidFill>
                  <a:srgbClr val="64050C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38100" y="0"/>
                <a:ext cx="3879489" cy="19598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390050" y="360355"/>
              <a:ext cx="19820409" cy="9697040"/>
              <a:chOff x="0" y="0"/>
              <a:chExt cx="3801208" cy="185972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801208" cy="1859723"/>
              </a:xfrm>
              <a:custGeom>
                <a:avLst/>
                <a:gdLst/>
                <a:ahLst/>
                <a:cxnLst/>
                <a:rect r="r" b="b" t="t" l="l"/>
                <a:pathLst>
                  <a:path h="1859723" w="3801208">
                    <a:moveTo>
                      <a:pt x="372179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780305"/>
                    </a:lnTo>
                    <a:cubicBezTo>
                      <a:pt x="43699" y="1780305"/>
                      <a:pt x="79418" y="1815644"/>
                      <a:pt x="79418" y="1859723"/>
                    </a:cubicBezTo>
                    <a:lnTo>
                      <a:pt x="3721790" y="1859723"/>
                    </a:lnTo>
                    <a:cubicBezTo>
                      <a:pt x="3721790" y="1816023"/>
                      <a:pt x="3757129" y="1780305"/>
                      <a:pt x="3801208" y="1780305"/>
                    </a:cubicBezTo>
                    <a:lnTo>
                      <a:pt x="3801208" y="79418"/>
                    </a:lnTo>
                    <a:cubicBezTo>
                      <a:pt x="3757509" y="79418"/>
                      <a:pt x="3721790" y="44079"/>
                      <a:pt x="3721790" y="0"/>
                    </a:cubicBezTo>
                    <a:close/>
                  </a:path>
                </a:pathLst>
              </a:custGeom>
              <a:ln w="66675" cap="sq">
                <a:solidFill>
                  <a:srgbClr val="C72228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38100" y="0"/>
                <a:ext cx="3725008" cy="18216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true" flipV="false" rot="0">
            <a:off x="-781992" y="8212199"/>
            <a:ext cx="2995824" cy="3102217"/>
          </a:xfrm>
          <a:custGeom>
            <a:avLst/>
            <a:gdLst/>
            <a:ahLst/>
            <a:cxnLst/>
            <a:rect r="r" b="b" t="t" l="l"/>
            <a:pathLst>
              <a:path h="3102217" w="2995824">
                <a:moveTo>
                  <a:pt x="2995824" y="0"/>
                </a:moveTo>
                <a:lnTo>
                  <a:pt x="0" y="0"/>
                </a:lnTo>
                <a:lnTo>
                  <a:pt x="0" y="3102217"/>
                </a:lnTo>
                <a:lnTo>
                  <a:pt x="2995824" y="3102217"/>
                </a:lnTo>
                <a:lnTo>
                  <a:pt x="29958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-41724" y="0"/>
            <a:ext cx="3511040" cy="2534333"/>
          </a:xfrm>
          <a:custGeom>
            <a:avLst/>
            <a:gdLst/>
            <a:ahLst/>
            <a:cxnLst/>
            <a:rect r="r" b="b" t="t" l="l"/>
            <a:pathLst>
              <a:path h="2534333" w="3511040">
                <a:moveTo>
                  <a:pt x="3511040" y="2534333"/>
                </a:moveTo>
                <a:lnTo>
                  <a:pt x="0" y="2534333"/>
                </a:lnTo>
                <a:lnTo>
                  <a:pt x="0" y="0"/>
                </a:lnTo>
                <a:lnTo>
                  <a:pt x="3511040" y="0"/>
                </a:lnTo>
                <a:lnTo>
                  <a:pt x="3511040" y="253433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5222013" y="8077786"/>
            <a:ext cx="3147843" cy="2209214"/>
          </a:xfrm>
          <a:custGeom>
            <a:avLst/>
            <a:gdLst/>
            <a:ahLst/>
            <a:cxnLst/>
            <a:rect r="r" b="b" t="t" l="l"/>
            <a:pathLst>
              <a:path h="2209214" w="3147843">
                <a:moveTo>
                  <a:pt x="3147843" y="0"/>
                </a:moveTo>
                <a:lnTo>
                  <a:pt x="0" y="0"/>
                </a:lnTo>
                <a:lnTo>
                  <a:pt x="0" y="2209214"/>
                </a:lnTo>
                <a:lnTo>
                  <a:pt x="3147843" y="2209214"/>
                </a:lnTo>
                <a:lnTo>
                  <a:pt x="314784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1474513">
            <a:off x="16261278" y="-962399"/>
            <a:ext cx="3127720" cy="3675597"/>
          </a:xfrm>
          <a:custGeom>
            <a:avLst/>
            <a:gdLst/>
            <a:ahLst/>
            <a:cxnLst/>
            <a:rect r="r" b="b" t="t" l="l"/>
            <a:pathLst>
              <a:path h="3675597" w="3127720">
                <a:moveTo>
                  <a:pt x="0" y="3675597"/>
                </a:moveTo>
                <a:lnTo>
                  <a:pt x="3127719" y="3675597"/>
                </a:lnTo>
                <a:lnTo>
                  <a:pt x="3127719" y="0"/>
                </a:lnTo>
                <a:lnTo>
                  <a:pt x="0" y="0"/>
                </a:lnTo>
                <a:lnTo>
                  <a:pt x="0" y="367559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338354" y="1790818"/>
            <a:ext cx="1408623" cy="1487030"/>
          </a:xfrm>
          <a:custGeom>
            <a:avLst/>
            <a:gdLst/>
            <a:ahLst/>
            <a:cxnLst/>
            <a:rect r="r" b="b" t="t" l="l"/>
            <a:pathLst>
              <a:path h="1487030" w="1408623">
                <a:moveTo>
                  <a:pt x="0" y="0"/>
                </a:moveTo>
                <a:lnTo>
                  <a:pt x="1408623" y="0"/>
                </a:lnTo>
                <a:lnTo>
                  <a:pt x="1408623" y="1487030"/>
                </a:lnTo>
                <a:lnTo>
                  <a:pt x="0" y="14870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4614110">
            <a:off x="17566900" y="6727958"/>
            <a:ext cx="1264825" cy="1196571"/>
          </a:xfrm>
          <a:custGeom>
            <a:avLst/>
            <a:gdLst/>
            <a:ahLst/>
            <a:cxnLst/>
            <a:rect r="r" b="b" t="t" l="l"/>
            <a:pathLst>
              <a:path h="1196571" w="1264825">
                <a:moveTo>
                  <a:pt x="0" y="0"/>
                </a:moveTo>
                <a:lnTo>
                  <a:pt x="1264825" y="0"/>
                </a:lnTo>
                <a:lnTo>
                  <a:pt x="1264825" y="1196571"/>
                </a:lnTo>
                <a:lnTo>
                  <a:pt x="0" y="119657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3060773" y="2155163"/>
            <a:ext cx="12166455" cy="1306810"/>
            <a:chOff x="0" y="0"/>
            <a:chExt cx="16221940" cy="1742413"/>
          </a:xfrm>
        </p:grpSpPr>
        <p:grpSp>
          <p:nvGrpSpPr>
            <p:cNvPr name="Group 17" id="17"/>
            <p:cNvGrpSpPr/>
            <p:nvPr/>
          </p:nvGrpSpPr>
          <p:grpSpPr>
            <a:xfrm rot="-5400000">
              <a:off x="-216410" y="216410"/>
              <a:ext cx="1742413" cy="1309592"/>
              <a:chOff x="0" y="0"/>
              <a:chExt cx="344180" cy="25868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44180" cy="258685"/>
              </a:xfrm>
              <a:custGeom>
                <a:avLst/>
                <a:gdLst/>
                <a:ahLst/>
                <a:cxnLst/>
                <a:rect r="r" b="b" t="t" l="l"/>
                <a:pathLst>
                  <a:path h="258685" w="344180">
                    <a:moveTo>
                      <a:pt x="344180" y="0"/>
                    </a:moveTo>
                    <a:lnTo>
                      <a:pt x="344180" y="144385"/>
                    </a:lnTo>
                    <a:lnTo>
                      <a:pt x="172090" y="258685"/>
                    </a:lnTo>
                    <a:lnTo>
                      <a:pt x="0" y="144385"/>
                    </a:lnTo>
                    <a:lnTo>
                      <a:pt x="0" y="0"/>
                    </a:lnTo>
                    <a:lnTo>
                      <a:pt x="344180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344180" cy="1824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940478" y="0"/>
              <a:ext cx="14340984" cy="1742413"/>
              <a:chOff x="0" y="0"/>
              <a:chExt cx="2832787" cy="34418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832787" cy="344180"/>
              </a:xfrm>
              <a:custGeom>
                <a:avLst/>
                <a:gdLst/>
                <a:ahLst/>
                <a:cxnLst/>
                <a:rect r="r" b="b" t="t" l="l"/>
                <a:pathLst>
                  <a:path h="344180" w="2832787">
                    <a:moveTo>
                      <a:pt x="2832787" y="0"/>
                    </a:moveTo>
                    <a:lnTo>
                      <a:pt x="0" y="0"/>
                    </a:lnTo>
                    <a:lnTo>
                      <a:pt x="101600" y="172090"/>
                    </a:lnTo>
                    <a:lnTo>
                      <a:pt x="0" y="344180"/>
                    </a:lnTo>
                    <a:lnTo>
                      <a:pt x="2832787" y="344180"/>
                    </a:lnTo>
                    <a:lnTo>
                      <a:pt x="2731187" y="172090"/>
                    </a:lnTo>
                    <a:lnTo>
                      <a:pt x="2832787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88900" y="-38100"/>
                <a:ext cx="2654987" cy="3822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5400000">
              <a:off x="14695937" y="216410"/>
              <a:ext cx="1742413" cy="1309592"/>
              <a:chOff x="0" y="0"/>
              <a:chExt cx="344180" cy="25868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344180" cy="258685"/>
              </a:xfrm>
              <a:custGeom>
                <a:avLst/>
                <a:gdLst/>
                <a:ahLst/>
                <a:cxnLst/>
                <a:rect r="r" b="b" t="t" l="l"/>
                <a:pathLst>
                  <a:path h="258685" w="344180">
                    <a:moveTo>
                      <a:pt x="344180" y="0"/>
                    </a:moveTo>
                    <a:lnTo>
                      <a:pt x="344180" y="144385"/>
                    </a:lnTo>
                    <a:lnTo>
                      <a:pt x="172090" y="258685"/>
                    </a:lnTo>
                    <a:lnTo>
                      <a:pt x="0" y="144385"/>
                    </a:lnTo>
                    <a:lnTo>
                      <a:pt x="0" y="0"/>
                    </a:lnTo>
                    <a:lnTo>
                      <a:pt x="344180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344180" cy="1824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1622928" y="508733"/>
              <a:ext cx="12949802" cy="880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SOFTWARE EM FUNCIONAMENTO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744290" y="4285999"/>
            <a:ext cx="14198527" cy="5136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Características: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Prioridade no sistema rodando.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Ex: supervisório funcionando mesmo sem documentação completa.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Vantagens: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Entregas mais ágeis.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Ex: sistema já sendo usado antes da finalização.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Desafios: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Pouc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a documentação.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 Ex: dificuldade na manutenção futura.</a:t>
            </a:r>
          </a:p>
          <a:p>
            <a:pPr algn="l">
              <a:lnSpc>
                <a:spcPts val="4060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23</a:t>
            </a:r>
          </a:p>
        </p:txBody>
      </p:sp>
    </p:spTree>
  </p:cSld>
  <p:clrMapOvr>
    <a:masterClrMapping/>
  </p:clrMapOvr>
  <p:transition spd="slow">
    <p:push dir="l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05826" y="-7865065"/>
            <a:ext cx="16601806" cy="16450880"/>
          </a:xfrm>
          <a:custGeom>
            <a:avLst/>
            <a:gdLst/>
            <a:ahLst/>
            <a:cxnLst/>
            <a:rect r="r" b="b" t="t" l="l"/>
            <a:pathLst>
              <a:path h="16450880" w="16601806">
                <a:moveTo>
                  <a:pt x="0" y="0"/>
                </a:moveTo>
                <a:lnTo>
                  <a:pt x="16601806" y="0"/>
                </a:lnTo>
                <a:lnTo>
                  <a:pt x="16601806" y="16450880"/>
                </a:lnTo>
                <a:lnTo>
                  <a:pt x="0" y="164508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09284" y="1609202"/>
            <a:ext cx="15469431" cy="7813312"/>
            <a:chOff x="0" y="0"/>
            <a:chExt cx="20625908" cy="1041775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0625908" cy="10417750"/>
              <a:chOff x="0" y="0"/>
              <a:chExt cx="3955689" cy="199794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955688" cy="1997942"/>
              </a:xfrm>
              <a:custGeom>
                <a:avLst/>
                <a:gdLst/>
                <a:ahLst/>
                <a:cxnLst/>
                <a:rect r="r" b="b" t="t" l="l"/>
                <a:pathLst>
                  <a:path h="1997942" w="3955688">
                    <a:moveTo>
                      <a:pt x="387627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918524"/>
                    </a:lnTo>
                    <a:cubicBezTo>
                      <a:pt x="43699" y="1918524"/>
                      <a:pt x="79418" y="1953863"/>
                      <a:pt x="79418" y="1997942"/>
                    </a:cubicBezTo>
                    <a:lnTo>
                      <a:pt x="3876270" y="1997942"/>
                    </a:lnTo>
                    <a:cubicBezTo>
                      <a:pt x="3876270" y="1954243"/>
                      <a:pt x="3911609" y="1918524"/>
                      <a:pt x="3955688" y="1918524"/>
                    </a:cubicBezTo>
                    <a:lnTo>
                      <a:pt x="3955688" y="79418"/>
                    </a:lnTo>
                    <a:cubicBezTo>
                      <a:pt x="3911989" y="79418"/>
                      <a:pt x="3876270" y="44079"/>
                      <a:pt x="3876270" y="0"/>
                    </a:cubicBezTo>
                    <a:close/>
                  </a:path>
                </a:pathLst>
              </a:custGeom>
              <a:ln w="123825" cap="sq">
                <a:solidFill>
                  <a:srgbClr val="64050C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38100" y="0"/>
                <a:ext cx="3879489" cy="19598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390050" y="360355"/>
              <a:ext cx="19820409" cy="9697040"/>
              <a:chOff x="0" y="0"/>
              <a:chExt cx="3801208" cy="185972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801208" cy="1859723"/>
              </a:xfrm>
              <a:custGeom>
                <a:avLst/>
                <a:gdLst/>
                <a:ahLst/>
                <a:cxnLst/>
                <a:rect r="r" b="b" t="t" l="l"/>
                <a:pathLst>
                  <a:path h="1859723" w="3801208">
                    <a:moveTo>
                      <a:pt x="372179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780305"/>
                    </a:lnTo>
                    <a:cubicBezTo>
                      <a:pt x="43699" y="1780305"/>
                      <a:pt x="79418" y="1815644"/>
                      <a:pt x="79418" y="1859723"/>
                    </a:cubicBezTo>
                    <a:lnTo>
                      <a:pt x="3721790" y="1859723"/>
                    </a:lnTo>
                    <a:cubicBezTo>
                      <a:pt x="3721790" y="1816023"/>
                      <a:pt x="3757129" y="1780305"/>
                      <a:pt x="3801208" y="1780305"/>
                    </a:cubicBezTo>
                    <a:lnTo>
                      <a:pt x="3801208" y="79418"/>
                    </a:lnTo>
                    <a:cubicBezTo>
                      <a:pt x="3757509" y="79418"/>
                      <a:pt x="3721790" y="44079"/>
                      <a:pt x="3721790" y="0"/>
                    </a:cubicBezTo>
                    <a:close/>
                  </a:path>
                </a:pathLst>
              </a:custGeom>
              <a:ln w="66675" cap="sq">
                <a:solidFill>
                  <a:srgbClr val="C72228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38100" y="0"/>
                <a:ext cx="3725008" cy="18216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true" flipV="false" rot="0">
            <a:off x="-781992" y="8212199"/>
            <a:ext cx="2995824" cy="3102217"/>
          </a:xfrm>
          <a:custGeom>
            <a:avLst/>
            <a:gdLst/>
            <a:ahLst/>
            <a:cxnLst/>
            <a:rect r="r" b="b" t="t" l="l"/>
            <a:pathLst>
              <a:path h="3102217" w="2995824">
                <a:moveTo>
                  <a:pt x="2995824" y="0"/>
                </a:moveTo>
                <a:lnTo>
                  <a:pt x="0" y="0"/>
                </a:lnTo>
                <a:lnTo>
                  <a:pt x="0" y="3102217"/>
                </a:lnTo>
                <a:lnTo>
                  <a:pt x="2995824" y="3102217"/>
                </a:lnTo>
                <a:lnTo>
                  <a:pt x="29958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-41724" y="0"/>
            <a:ext cx="3511040" cy="2534333"/>
          </a:xfrm>
          <a:custGeom>
            <a:avLst/>
            <a:gdLst/>
            <a:ahLst/>
            <a:cxnLst/>
            <a:rect r="r" b="b" t="t" l="l"/>
            <a:pathLst>
              <a:path h="2534333" w="3511040">
                <a:moveTo>
                  <a:pt x="3511040" y="2534333"/>
                </a:moveTo>
                <a:lnTo>
                  <a:pt x="0" y="2534333"/>
                </a:lnTo>
                <a:lnTo>
                  <a:pt x="0" y="0"/>
                </a:lnTo>
                <a:lnTo>
                  <a:pt x="3511040" y="0"/>
                </a:lnTo>
                <a:lnTo>
                  <a:pt x="3511040" y="253433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5222013" y="8077786"/>
            <a:ext cx="3147843" cy="2209214"/>
          </a:xfrm>
          <a:custGeom>
            <a:avLst/>
            <a:gdLst/>
            <a:ahLst/>
            <a:cxnLst/>
            <a:rect r="r" b="b" t="t" l="l"/>
            <a:pathLst>
              <a:path h="2209214" w="3147843">
                <a:moveTo>
                  <a:pt x="3147843" y="0"/>
                </a:moveTo>
                <a:lnTo>
                  <a:pt x="0" y="0"/>
                </a:lnTo>
                <a:lnTo>
                  <a:pt x="0" y="2209214"/>
                </a:lnTo>
                <a:lnTo>
                  <a:pt x="3147843" y="2209214"/>
                </a:lnTo>
                <a:lnTo>
                  <a:pt x="314784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1474513">
            <a:off x="16261278" y="-962399"/>
            <a:ext cx="3127720" cy="3675597"/>
          </a:xfrm>
          <a:custGeom>
            <a:avLst/>
            <a:gdLst/>
            <a:ahLst/>
            <a:cxnLst/>
            <a:rect r="r" b="b" t="t" l="l"/>
            <a:pathLst>
              <a:path h="3675597" w="3127720">
                <a:moveTo>
                  <a:pt x="0" y="3675597"/>
                </a:moveTo>
                <a:lnTo>
                  <a:pt x="3127719" y="3675597"/>
                </a:lnTo>
                <a:lnTo>
                  <a:pt x="3127719" y="0"/>
                </a:lnTo>
                <a:lnTo>
                  <a:pt x="0" y="0"/>
                </a:lnTo>
                <a:lnTo>
                  <a:pt x="0" y="367559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338354" y="1790818"/>
            <a:ext cx="1408623" cy="1487030"/>
          </a:xfrm>
          <a:custGeom>
            <a:avLst/>
            <a:gdLst/>
            <a:ahLst/>
            <a:cxnLst/>
            <a:rect r="r" b="b" t="t" l="l"/>
            <a:pathLst>
              <a:path h="1487030" w="1408623">
                <a:moveTo>
                  <a:pt x="0" y="0"/>
                </a:moveTo>
                <a:lnTo>
                  <a:pt x="1408623" y="0"/>
                </a:lnTo>
                <a:lnTo>
                  <a:pt x="1408623" y="1487030"/>
                </a:lnTo>
                <a:lnTo>
                  <a:pt x="0" y="14870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4614110">
            <a:off x="17566900" y="6727958"/>
            <a:ext cx="1264825" cy="1196571"/>
          </a:xfrm>
          <a:custGeom>
            <a:avLst/>
            <a:gdLst/>
            <a:ahLst/>
            <a:cxnLst/>
            <a:rect r="r" b="b" t="t" l="l"/>
            <a:pathLst>
              <a:path h="1196571" w="1264825">
                <a:moveTo>
                  <a:pt x="0" y="0"/>
                </a:moveTo>
                <a:lnTo>
                  <a:pt x="1264825" y="0"/>
                </a:lnTo>
                <a:lnTo>
                  <a:pt x="1264825" y="1196571"/>
                </a:lnTo>
                <a:lnTo>
                  <a:pt x="0" y="119657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3060773" y="2155163"/>
            <a:ext cx="12166455" cy="1306810"/>
            <a:chOff x="0" y="0"/>
            <a:chExt cx="16221940" cy="1742413"/>
          </a:xfrm>
        </p:grpSpPr>
        <p:grpSp>
          <p:nvGrpSpPr>
            <p:cNvPr name="Group 17" id="17"/>
            <p:cNvGrpSpPr/>
            <p:nvPr/>
          </p:nvGrpSpPr>
          <p:grpSpPr>
            <a:xfrm rot="-5400000">
              <a:off x="-216410" y="216410"/>
              <a:ext cx="1742413" cy="1309592"/>
              <a:chOff x="0" y="0"/>
              <a:chExt cx="344180" cy="25868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44180" cy="258685"/>
              </a:xfrm>
              <a:custGeom>
                <a:avLst/>
                <a:gdLst/>
                <a:ahLst/>
                <a:cxnLst/>
                <a:rect r="r" b="b" t="t" l="l"/>
                <a:pathLst>
                  <a:path h="258685" w="344180">
                    <a:moveTo>
                      <a:pt x="344180" y="0"/>
                    </a:moveTo>
                    <a:lnTo>
                      <a:pt x="344180" y="144385"/>
                    </a:lnTo>
                    <a:lnTo>
                      <a:pt x="172090" y="258685"/>
                    </a:lnTo>
                    <a:lnTo>
                      <a:pt x="0" y="144385"/>
                    </a:lnTo>
                    <a:lnTo>
                      <a:pt x="0" y="0"/>
                    </a:lnTo>
                    <a:lnTo>
                      <a:pt x="344180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344180" cy="1824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940478" y="0"/>
              <a:ext cx="14340984" cy="1742413"/>
              <a:chOff x="0" y="0"/>
              <a:chExt cx="2832787" cy="34418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832787" cy="344180"/>
              </a:xfrm>
              <a:custGeom>
                <a:avLst/>
                <a:gdLst/>
                <a:ahLst/>
                <a:cxnLst/>
                <a:rect r="r" b="b" t="t" l="l"/>
                <a:pathLst>
                  <a:path h="344180" w="2832787">
                    <a:moveTo>
                      <a:pt x="2832787" y="0"/>
                    </a:moveTo>
                    <a:lnTo>
                      <a:pt x="0" y="0"/>
                    </a:lnTo>
                    <a:lnTo>
                      <a:pt x="101600" y="172090"/>
                    </a:lnTo>
                    <a:lnTo>
                      <a:pt x="0" y="344180"/>
                    </a:lnTo>
                    <a:lnTo>
                      <a:pt x="2832787" y="344180"/>
                    </a:lnTo>
                    <a:lnTo>
                      <a:pt x="2731187" y="172090"/>
                    </a:lnTo>
                    <a:lnTo>
                      <a:pt x="2832787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88900" y="-38100"/>
                <a:ext cx="2654987" cy="3822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5400000">
              <a:off x="14695937" y="216410"/>
              <a:ext cx="1742413" cy="1309592"/>
              <a:chOff x="0" y="0"/>
              <a:chExt cx="344180" cy="25868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344180" cy="258685"/>
              </a:xfrm>
              <a:custGeom>
                <a:avLst/>
                <a:gdLst/>
                <a:ahLst/>
                <a:cxnLst/>
                <a:rect r="r" b="b" t="t" l="l"/>
                <a:pathLst>
                  <a:path h="258685" w="344180">
                    <a:moveTo>
                      <a:pt x="344180" y="0"/>
                    </a:moveTo>
                    <a:lnTo>
                      <a:pt x="344180" y="144385"/>
                    </a:lnTo>
                    <a:lnTo>
                      <a:pt x="172090" y="258685"/>
                    </a:lnTo>
                    <a:lnTo>
                      <a:pt x="0" y="144385"/>
                    </a:lnTo>
                    <a:lnTo>
                      <a:pt x="0" y="0"/>
                    </a:lnTo>
                    <a:lnTo>
                      <a:pt x="344180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344180" cy="1824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1622928" y="508733"/>
              <a:ext cx="12949802" cy="880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RESPONDER AS MUDANÇAS.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859709" y="4272598"/>
            <a:ext cx="14198527" cy="5136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Características: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Adaptação rápida às necessidades.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Ex: ajuste na lógica do CLP após mudança no processo.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Vantagens: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Flexibilidade no projeto.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 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Ex: mudanças aplicadas sem parar a produção.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Desafios: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Risco</a:t>
            </a: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de atrasos.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              Ex: escopo muda e afeta o prazo..</a:t>
            </a:r>
          </a:p>
          <a:p>
            <a:pPr algn="l">
              <a:lnSpc>
                <a:spcPts val="4060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24</a:t>
            </a:r>
          </a:p>
        </p:txBody>
      </p:sp>
    </p:spTree>
  </p:cSld>
  <p:clrMapOvr>
    <a:masterClrMapping/>
  </p:clrMapOvr>
  <p:transition spd="slow">
    <p:push dir="l"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91182" y="3323232"/>
            <a:ext cx="16601806" cy="16450880"/>
          </a:xfrm>
          <a:custGeom>
            <a:avLst/>
            <a:gdLst/>
            <a:ahLst/>
            <a:cxnLst/>
            <a:rect r="r" b="b" t="t" l="l"/>
            <a:pathLst>
              <a:path h="16450880" w="16601806">
                <a:moveTo>
                  <a:pt x="0" y="0"/>
                </a:moveTo>
                <a:lnTo>
                  <a:pt x="16601806" y="0"/>
                </a:lnTo>
                <a:lnTo>
                  <a:pt x="16601806" y="16450880"/>
                </a:lnTo>
                <a:lnTo>
                  <a:pt x="0" y="164508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09284" y="1609202"/>
            <a:ext cx="15469431" cy="7813312"/>
            <a:chOff x="0" y="0"/>
            <a:chExt cx="20625908" cy="1041775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0625908" cy="10417750"/>
              <a:chOff x="0" y="0"/>
              <a:chExt cx="3955689" cy="199794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955688" cy="1997942"/>
              </a:xfrm>
              <a:custGeom>
                <a:avLst/>
                <a:gdLst/>
                <a:ahLst/>
                <a:cxnLst/>
                <a:rect r="r" b="b" t="t" l="l"/>
                <a:pathLst>
                  <a:path h="1997942" w="3955688">
                    <a:moveTo>
                      <a:pt x="387627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918524"/>
                    </a:lnTo>
                    <a:cubicBezTo>
                      <a:pt x="43699" y="1918524"/>
                      <a:pt x="79418" y="1953863"/>
                      <a:pt x="79418" y="1997942"/>
                    </a:cubicBezTo>
                    <a:lnTo>
                      <a:pt x="3876270" y="1997942"/>
                    </a:lnTo>
                    <a:cubicBezTo>
                      <a:pt x="3876270" y="1954243"/>
                      <a:pt x="3911609" y="1918524"/>
                      <a:pt x="3955688" y="1918524"/>
                    </a:cubicBezTo>
                    <a:lnTo>
                      <a:pt x="3955688" y="79418"/>
                    </a:lnTo>
                    <a:cubicBezTo>
                      <a:pt x="3911989" y="79418"/>
                      <a:pt x="3876270" y="44079"/>
                      <a:pt x="3876270" y="0"/>
                    </a:cubicBezTo>
                    <a:close/>
                  </a:path>
                </a:pathLst>
              </a:custGeom>
              <a:ln w="123825" cap="sq">
                <a:solidFill>
                  <a:srgbClr val="64050C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38100" y="0"/>
                <a:ext cx="3879489" cy="19598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390050" y="360355"/>
              <a:ext cx="19820409" cy="9697040"/>
              <a:chOff x="0" y="0"/>
              <a:chExt cx="3801208" cy="185972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801208" cy="1859723"/>
              </a:xfrm>
              <a:custGeom>
                <a:avLst/>
                <a:gdLst/>
                <a:ahLst/>
                <a:cxnLst/>
                <a:rect r="r" b="b" t="t" l="l"/>
                <a:pathLst>
                  <a:path h="1859723" w="3801208">
                    <a:moveTo>
                      <a:pt x="372179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780305"/>
                    </a:lnTo>
                    <a:cubicBezTo>
                      <a:pt x="43699" y="1780305"/>
                      <a:pt x="79418" y="1815644"/>
                      <a:pt x="79418" y="1859723"/>
                    </a:cubicBezTo>
                    <a:lnTo>
                      <a:pt x="3721790" y="1859723"/>
                    </a:lnTo>
                    <a:cubicBezTo>
                      <a:pt x="3721790" y="1816023"/>
                      <a:pt x="3757129" y="1780305"/>
                      <a:pt x="3801208" y="1780305"/>
                    </a:cubicBezTo>
                    <a:lnTo>
                      <a:pt x="3801208" y="79418"/>
                    </a:lnTo>
                    <a:cubicBezTo>
                      <a:pt x="3757509" y="79418"/>
                      <a:pt x="3721790" y="44079"/>
                      <a:pt x="3721790" y="0"/>
                    </a:cubicBezTo>
                    <a:close/>
                  </a:path>
                </a:pathLst>
              </a:custGeom>
              <a:ln w="66675" cap="sq">
                <a:solidFill>
                  <a:srgbClr val="C72228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38100" y="0"/>
                <a:ext cx="3725008" cy="18216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true" flipV="false" rot="0">
            <a:off x="-781992" y="8212199"/>
            <a:ext cx="2995824" cy="3102217"/>
          </a:xfrm>
          <a:custGeom>
            <a:avLst/>
            <a:gdLst/>
            <a:ahLst/>
            <a:cxnLst/>
            <a:rect r="r" b="b" t="t" l="l"/>
            <a:pathLst>
              <a:path h="3102217" w="2995824">
                <a:moveTo>
                  <a:pt x="2995824" y="0"/>
                </a:moveTo>
                <a:lnTo>
                  <a:pt x="0" y="0"/>
                </a:lnTo>
                <a:lnTo>
                  <a:pt x="0" y="3102217"/>
                </a:lnTo>
                <a:lnTo>
                  <a:pt x="2995824" y="3102217"/>
                </a:lnTo>
                <a:lnTo>
                  <a:pt x="29958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-41724" y="0"/>
            <a:ext cx="3511040" cy="2534333"/>
          </a:xfrm>
          <a:custGeom>
            <a:avLst/>
            <a:gdLst/>
            <a:ahLst/>
            <a:cxnLst/>
            <a:rect r="r" b="b" t="t" l="l"/>
            <a:pathLst>
              <a:path h="2534333" w="3511040">
                <a:moveTo>
                  <a:pt x="3511040" y="2534333"/>
                </a:moveTo>
                <a:lnTo>
                  <a:pt x="0" y="2534333"/>
                </a:lnTo>
                <a:lnTo>
                  <a:pt x="0" y="0"/>
                </a:lnTo>
                <a:lnTo>
                  <a:pt x="3511040" y="0"/>
                </a:lnTo>
                <a:lnTo>
                  <a:pt x="3511040" y="253433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5222013" y="8077786"/>
            <a:ext cx="3147843" cy="2209214"/>
          </a:xfrm>
          <a:custGeom>
            <a:avLst/>
            <a:gdLst/>
            <a:ahLst/>
            <a:cxnLst/>
            <a:rect r="r" b="b" t="t" l="l"/>
            <a:pathLst>
              <a:path h="2209214" w="3147843">
                <a:moveTo>
                  <a:pt x="3147843" y="0"/>
                </a:moveTo>
                <a:lnTo>
                  <a:pt x="0" y="0"/>
                </a:lnTo>
                <a:lnTo>
                  <a:pt x="0" y="2209214"/>
                </a:lnTo>
                <a:lnTo>
                  <a:pt x="3147843" y="2209214"/>
                </a:lnTo>
                <a:lnTo>
                  <a:pt x="314784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1474513">
            <a:off x="16261278" y="-962399"/>
            <a:ext cx="3127720" cy="3675597"/>
          </a:xfrm>
          <a:custGeom>
            <a:avLst/>
            <a:gdLst/>
            <a:ahLst/>
            <a:cxnLst/>
            <a:rect r="r" b="b" t="t" l="l"/>
            <a:pathLst>
              <a:path h="3675597" w="3127720">
                <a:moveTo>
                  <a:pt x="0" y="3675597"/>
                </a:moveTo>
                <a:lnTo>
                  <a:pt x="3127719" y="3675597"/>
                </a:lnTo>
                <a:lnTo>
                  <a:pt x="3127719" y="0"/>
                </a:lnTo>
                <a:lnTo>
                  <a:pt x="0" y="0"/>
                </a:lnTo>
                <a:lnTo>
                  <a:pt x="0" y="367559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338354" y="1790818"/>
            <a:ext cx="1408623" cy="1487030"/>
          </a:xfrm>
          <a:custGeom>
            <a:avLst/>
            <a:gdLst/>
            <a:ahLst/>
            <a:cxnLst/>
            <a:rect r="r" b="b" t="t" l="l"/>
            <a:pathLst>
              <a:path h="1487030" w="1408623">
                <a:moveTo>
                  <a:pt x="0" y="0"/>
                </a:moveTo>
                <a:lnTo>
                  <a:pt x="1408623" y="0"/>
                </a:lnTo>
                <a:lnTo>
                  <a:pt x="1408623" y="1487030"/>
                </a:lnTo>
                <a:lnTo>
                  <a:pt x="0" y="14870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4614110">
            <a:off x="17566900" y="6727958"/>
            <a:ext cx="1264825" cy="1196571"/>
          </a:xfrm>
          <a:custGeom>
            <a:avLst/>
            <a:gdLst/>
            <a:ahLst/>
            <a:cxnLst/>
            <a:rect r="r" b="b" t="t" l="l"/>
            <a:pathLst>
              <a:path h="1196571" w="1264825">
                <a:moveTo>
                  <a:pt x="0" y="0"/>
                </a:moveTo>
                <a:lnTo>
                  <a:pt x="1264825" y="0"/>
                </a:lnTo>
                <a:lnTo>
                  <a:pt x="1264825" y="1196571"/>
                </a:lnTo>
                <a:lnTo>
                  <a:pt x="0" y="119657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3766131" y="2534333"/>
            <a:ext cx="10755738" cy="1306810"/>
            <a:chOff x="0" y="0"/>
            <a:chExt cx="2832787" cy="3441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32787" cy="344180"/>
            </a:xfrm>
            <a:custGeom>
              <a:avLst/>
              <a:gdLst/>
              <a:ahLst/>
              <a:cxnLst/>
              <a:rect r="r" b="b" t="t" l="l"/>
              <a:pathLst>
                <a:path h="344180" w="2832787">
                  <a:moveTo>
                    <a:pt x="2832787" y="0"/>
                  </a:moveTo>
                  <a:lnTo>
                    <a:pt x="0" y="0"/>
                  </a:lnTo>
                  <a:lnTo>
                    <a:pt x="101600" y="172090"/>
                  </a:lnTo>
                  <a:lnTo>
                    <a:pt x="0" y="344180"/>
                  </a:lnTo>
                  <a:lnTo>
                    <a:pt x="2832787" y="344180"/>
                  </a:lnTo>
                  <a:lnTo>
                    <a:pt x="2731187" y="172090"/>
                  </a:lnTo>
                  <a:lnTo>
                    <a:pt x="2832787" y="0"/>
                  </a:lnTo>
                  <a:close/>
                </a:path>
              </a:pathLst>
            </a:custGeom>
            <a:solidFill>
              <a:srgbClr val="64050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88900" y="-38100"/>
              <a:ext cx="2654987" cy="382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-5400000">
            <a:off x="2898465" y="2696641"/>
            <a:ext cx="1306810" cy="982194"/>
            <a:chOff x="0" y="0"/>
            <a:chExt cx="344180" cy="25868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44180" cy="258685"/>
            </a:xfrm>
            <a:custGeom>
              <a:avLst/>
              <a:gdLst/>
              <a:ahLst/>
              <a:cxnLst/>
              <a:rect r="r" b="b" t="t" l="l"/>
              <a:pathLst>
                <a:path h="258685" w="344180">
                  <a:moveTo>
                    <a:pt x="344180" y="0"/>
                  </a:moveTo>
                  <a:lnTo>
                    <a:pt x="344180" y="144385"/>
                  </a:lnTo>
                  <a:lnTo>
                    <a:pt x="172090" y="258685"/>
                  </a:lnTo>
                  <a:lnTo>
                    <a:pt x="0" y="144385"/>
                  </a:lnTo>
                  <a:lnTo>
                    <a:pt x="0" y="0"/>
                  </a:lnTo>
                  <a:lnTo>
                    <a:pt x="344180" y="0"/>
                  </a:lnTo>
                  <a:close/>
                </a:path>
              </a:pathLst>
            </a:custGeom>
            <a:solidFill>
              <a:srgbClr val="64050C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44180" cy="182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5400000">
            <a:off x="14082725" y="2696641"/>
            <a:ext cx="1306810" cy="982194"/>
            <a:chOff x="0" y="0"/>
            <a:chExt cx="344180" cy="25868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4180" cy="258685"/>
            </a:xfrm>
            <a:custGeom>
              <a:avLst/>
              <a:gdLst/>
              <a:ahLst/>
              <a:cxnLst/>
              <a:rect r="r" b="b" t="t" l="l"/>
              <a:pathLst>
                <a:path h="258685" w="344180">
                  <a:moveTo>
                    <a:pt x="344180" y="0"/>
                  </a:moveTo>
                  <a:lnTo>
                    <a:pt x="344180" y="144385"/>
                  </a:lnTo>
                  <a:lnTo>
                    <a:pt x="172090" y="258685"/>
                  </a:lnTo>
                  <a:lnTo>
                    <a:pt x="0" y="144385"/>
                  </a:lnTo>
                  <a:lnTo>
                    <a:pt x="0" y="0"/>
                  </a:lnTo>
                  <a:lnTo>
                    <a:pt x="344180" y="0"/>
                  </a:lnTo>
                  <a:close/>
                </a:path>
              </a:pathLst>
            </a:custGeom>
            <a:solidFill>
              <a:srgbClr val="64050C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44180" cy="182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524584" y="4364903"/>
            <a:ext cx="2770540" cy="3758268"/>
            <a:chOff x="0" y="0"/>
            <a:chExt cx="729690" cy="98983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29690" cy="989832"/>
            </a:xfrm>
            <a:custGeom>
              <a:avLst/>
              <a:gdLst/>
              <a:ahLst/>
              <a:cxnLst/>
              <a:rect r="r" b="b" t="t" l="l"/>
              <a:pathLst>
                <a:path h="989832" w="729690">
                  <a:moveTo>
                    <a:pt x="44710" y="0"/>
                  </a:moveTo>
                  <a:lnTo>
                    <a:pt x="684980" y="0"/>
                  </a:lnTo>
                  <a:cubicBezTo>
                    <a:pt x="696838" y="0"/>
                    <a:pt x="708210" y="4710"/>
                    <a:pt x="716594" y="13095"/>
                  </a:cubicBezTo>
                  <a:cubicBezTo>
                    <a:pt x="724979" y="21480"/>
                    <a:pt x="729690" y="32852"/>
                    <a:pt x="729690" y="44710"/>
                  </a:cubicBezTo>
                  <a:lnTo>
                    <a:pt x="729690" y="945122"/>
                  </a:lnTo>
                  <a:cubicBezTo>
                    <a:pt x="729690" y="956980"/>
                    <a:pt x="724979" y="968352"/>
                    <a:pt x="716594" y="976737"/>
                  </a:cubicBezTo>
                  <a:cubicBezTo>
                    <a:pt x="708210" y="985121"/>
                    <a:pt x="696838" y="989832"/>
                    <a:pt x="684980" y="989832"/>
                  </a:cubicBezTo>
                  <a:lnTo>
                    <a:pt x="44710" y="989832"/>
                  </a:lnTo>
                  <a:cubicBezTo>
                    <a:pt x="32852" y="989832"/>
                    <a:pt x="21480" y="985121"/>
                    <a:pt x="13095" y="976737"/>
                  </a:cubicBezTo>
                  <a:cubicBezTo>
                    <a:pt x="4710" y="968352"/>
                    <a:pt x="0" y="956980"/>
                    <a:pt x="0" y="945122"/>
                  </a:cubicBezTo>
                  <a:lnTo>
                    <a:pt x="0" y="44710"/>
                  </a:lnTo>
                  <a:cubicBezTo>
                    <a:pt x="0" y="32852"/>
                    <a:pt x="4710" y="21480"/>
                    <a:pt x="13095" y="13095"/>
                  </a:cubicBezTo>
                  <a:cubicBezTo>
                    <a:pt x="21480" y="4710"/>
                    <a:pt x="32852" y="0"/>
                    <a:pt x="44710" y="0"/>
                  </a:cubicBezTo>
                  <a:close/>
                </a:path>
              </a:pathLst>
            </a:custGeom>
            <a:solidFill>
              <a:srgbClr val="C72228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729690" cy="1027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473877" y="4364903"/>
            <a:ext cx="2770540" cy="3758268"/>
            <a:chOff x="0" y="0"/>
            <a:chExt cx="729690" cy="98983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29690" cy="989832"/>
            </a:xfrm>
            <a:custGeom>
              <a:avLst/>
              <a:gdLst/>
              <a:ahLst/>
              <a:cxnLst/>
              <a:rect r="r" b="b" t="t" l="l"/>
              <a:pathLst>
                <a:path h="989832" w="729690">
                  <a:moveTo>
                    <a:pt x="44710" y="0"/>
                  </a:moveTo>
                  <a:lnTo>
                    <a:pt x="684980" y="0"/>
                  </a:lnTo>
                  <a:cubicBezTo>
                    <a:pt x="696838" y="0"/>
                    <a:pt x="708210" y="4710"/>
                    <a:pt x="716594" y="13095"/>
                  </a:cubicBezTo>
                  <a:cubicBezTo>
                    <a:pt x="724979" y="21480"/>
                    <a:pt x="729690" y="32852"/>
                    <a:pt x="729690" y="44710"/>
                  </a:cubicBezTo>
                  <a:lnTo>
                    <a:pt x="729690" y="945122"/>
                  </a:lnTo>
                  <a:cubicBezTo>
                    <a:pt x="729690" y="956980"/>
                    <a:pt x="724979" y="968352"/>
                    <a:pt x="716594" y="976737"/>
                  </a:cubicBezTo>
                  <a:cubicBezTo>
                    <a:pt x="708210" y="985121"/>
                    <a:pt x="696838" y="989832"/>
                    <a:pt x="684980" y="989832"/>
                  </a:cubicBezTo>
                  <a:lnTo>
                    <a:pt x="44710" y="989832"/>
                  </a:lnTo>
                  <a:cubicBezTo>
                    <a:pt x="32852" y="989832"/>
                    <a:pt x="21480" y="985121"/>
                    <a:pt x="13095" y="976737"/>
                  </a:cubicBezTo>
                  <a:cubicBezTo>
                    <a:pt x="4710" y="968352"/>
                    <a:pt x="0" y="956980"/>
                    <a:pt x="0" y="945122"/>
                  </a:cubicBezTo>
                  <a:lnTo>
                    <a:pt x="0" y="44710"/>
                  </a:lnTo>
                  <a:cubicBezTo>
                    <a:pt x="0" y="32852"/>
                    <a:pt x="4710" y="21480"/>
                    <a:pt x="13095" y="13095"/>
                  </a:cubicBezTo>
                  <a:cubicBezTo>
                    <a:pt x="21480" y="4710"/>
                    <a:pt x="32852" y="0"/>
                    <a:pt x="44710" y="0"/>
                  </a:cubicBezTo>
                  <a:close/>
                </a:path>
              </a:pathLst>
            </a:custGeom>
            <a:solidFill>
              <a:srgbClr val="C72228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729690" cy="1027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711887" y="4637212"/>
            <a:ext cx="2369056" cy="3213650"/>
            <a:chOff x="0" y="0"/>
            <a:chExt cx="623949" cy="84639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23949" cy="846393"/>
            </a:xfrm>
            <a:custGeom>
              <a:avLst/>
              <a:gdLst/>
              <a:ahLst/>
              <a:cxnLst/>
              <a:rect r="r" b="b" t="t" l="l"/>
              <a:pathLst>
                <a:path h="846393" w="623949">
                  <a:moveTo>
                    <a:pt x="52287" y="0"/>
                  </a:moveTo>
                  <a:lnTo>
                    <a:pt x="571662" y="0"/>
                  </a:lnTo>
                  <a:cubicBezTo>
                    <a:pt x="600539" y="0"/>
                    <a:pt x="623949" y="23410"/>
                    <a:pt x="623949" y="52287"/>
                  </a:cubicBezTo>
                  <a:lnTo>
                    <a:pt x="623949" y="794106"/>
                  </a:lnTo>
                  <a:cubicBezTo>
                    <a:pt x="623949" y="807974"/>
                    <a:pt x="618440" y="821273"/>
                    <a:pt x="608634" y="831079"/>
                  </a:cubicBezTo>
                  <a:cubicBezTo>
                    <a:pt x="598829" y="840885"/>
                    <a:pt x="585529" y="846393"/>
                    <a:pt x="571662" y="846393"/>
                  </a:cubicBezTo>
                  <a:lnTo>
                    <a:pt x="52287" y="846393"/>
                  </a:lnTo>
                  <a:cubicBezTo>
                    <a:pt x="38420" y="846393"/>
                    <a:pt x="25120" y="840885"/>
                    <a:pt x="15314" y="831079"/>
                  </a:cubicBezTo>
                  <a:cubicBezTo>
                    <a:pt x="5509" y="821273"/>
                    <a:pt x="0" y="807974"/>
                    <a:pt x="0" y="794106"/>
                  </a:cubicBezTo>
                  <a:lnTo>
                    <a:pt x="0" y="52287"/>
                  </a:lnTo>
                  <a:cubicBezTo>
                    <a:pt x="0" y="38420"/>
                    <a:pt x="5509" y="25120"/>
                    <a:pt x="15314" y="15314"/>
                  </a:cubicBezTo>
                  <a:cubicBezTo>
                    <a:pt x="25120" y="5509"/>
                    <a:pt x="38420" y="0"/>
                    <a:pt x="52287" y="0"/>
                  </a:cubicBezTo>
                  <a:close/>
                </a:path>
              </a:pathLst>
            </a:custGeom>
            <a:solidFill>
              <a:srgbClr val="F5A8A8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23949" cy="884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674620" y="4637212"/>
            <a:ext cx="2369056" cy="3254481"/>
            <a:chOff x="0" y="0"/>
            <a:chExt cx="623949" cy="85714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23949" cy="857147"/>
            </a:xfrm>
            <a:custGeom>
              <a:avLst/>
              <a:gdLst/>
              <a:ahLst/>
              <a:cxnLst/>
              <a:rect r="r" b="b" t="t" l="l"/>
              <a:pathLst>
                <a:path h="857147" w="623949">
                  <a:moveTo>
                    <a:pt x="52287" y="0"/>
                  </a:moveTo>
                  <a:lnTo>
                    <a:pt x="571662" y="0"/>
                  </a:lnTo>
                  <a:cubicBezTo>
                    <a:pt x="600539" y="0"/>
                    <a:pt x="623949" y="23410"/>
                    <a:pt x="623949" y="52287"/>
                  </a:cubicBezTo>
                  <a:lnTo>
                    <a:pt x="623949" y="804860"/>
                  </a:lnTo>
                  <a:cubicBezTo>
                    <a:pt x="623949" y="833737"/>
                    <a:pt x="600539" y="857147"/>
                    <a:pt x="571662" y="857147"/>
                  </a:cubicBezTo>
                  <a:lnTo>
                    <a:pt x="52287" y="857147"/>
                  </a:lnTo>
                  <a:cubicBezTo>
                    <a:pt x="38420" y="857147"/>
                    <a:pt x="25120" y="851638"/>
                    <a:pt x="15314" y="841833"/>
                  </a:cubicBezTo>
                  <a:cubicBezTo>
                    <a:pt x="5509" y="832027"/>
                    <a:pt x="0" y="818728"/>
                    <a:pt x="0" y="804860"/>
                  </a:cubicBezTo>
                  <a:lnTo>
                    <a:pt x="0" y="52287"/>
                  </a:lnTo>
                  <a:cubicBezTo>
                    <a:pt x="0" y="38420"/>
                    <a:pt x="5509" y="25120"/>
                    <a:pt x="15314" y="15314"/>
                  </a:cubicBezTo>
                  <a:cubicBezTo>
                    <a:pt x="25120" y="5509"/>
                    <a:pt x="38420" y="0"/>
                    <a:pt x="52287" y="0"/>
                  </a:cubicBezTo>
                  <a:close/>
                </a:path>
              </a:pathLst>
            </a:custGeom>
            <a:solidFill>
              <a:srgbClr val="F5A8A8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623949" cy="895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9995098" y="5438223"/>
            <a:ext cx="1802636" cy="2079319"/>
          </a:xfrm>
          <a:custGeom>
            <a:avLst/>
            <a:gdLst/>
            <a:ahLst/>
            <a:cxnLst/>
            <a:rect r="r" b="b" t="t" l="l"/>
            <a:pathLst>
              <a:path h="2079319" w="1802636">
                <a:moveTo>
                  <a:pt x="0" y="0"/>
                </a:moveTo>
                <a:lnTo>
                  <a:pt x="1802635" y="0"/>
                </a:lnTo>
                <a:lnTo>
                  <a:pt x="1802635" y="2079319"/>
                </a:lnTo>
                <a:lnTo>
                  <a:pt x="0" y="207931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2866625" y="5438223"/>
            <a:ext cx="1938689" cy="2079319"/>
          </a:xfrm>
          <a:custGeom>
            <a:avLst/>
            <a:gdLst/>
            <a:ahLst/>
            <a:cxnLst/>
            <a:rect r="r" b="b" t="t" l="l"/>
            <a:pathLst>
              <a:path h="2079319" w="1938689">
                <a:moveTo>
                  <a:pt x="0" y="0"/>
                </a:moveTo>
                <a:lnTo>
                  <a:pt x="1938689" y="0"/>
                </a:lnTo>
                <a:lnTo>
                  <a:pt x="1938689" y="2079319"/>
                </a:lnTo>
                <a:lnTo>
                  <a:pt x="0" y="207931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4287824" y="2793660"/>
            <a:ext cx="9712351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KANBAN/SCRUM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060773" y="4252843"/>
            <a:ext cx="5671965" cy="462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  <a:hlinkClick r:id="rId18" tooltip="https://trello.com/b/ndNTo7an/atividade-pratica-pesquisa"/>
              </a:rPr>
              <a:t>O Scrum organiza o trabalho em ciclos curtos com planejamento e reuniões, enquanto o Kanban ajuda a visualizar e controlar o fluxo das tarefas. Integradas, permitem entregas rápidas com melhor organização e acompanhamento contínuo das atividades.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838809" y="4689808"/>
            <a:ext cx="288249" cy="305519"/>
            <a:chOff x="0" y="0"/>
            <a:chExt cx="75917" cy="8046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5917" cy="80466"/>
            </a:xfrm>
            <a:custGeom>
              <a:avLst/>
              <a:gdLst/>
              <a:ahLst/>
              <a:cxnLst/>
              <a:rect r="r" b="b" t="t" l="l"/>
              <a:pathLst>
                <a:path h="80466" w="75917">
                  <a:moveTo>
                    <a:pt x="37959" y="0"/>
                  </a:moveTo>
                  <a:lnTo>
                    <a:pt x="37959" y="0"/>
                  </a:lnTo>
                  <a:cubicBezTo>
                    <a:pt x="48026" y="0"/>
                    <a:pt x="57681" y="3999"/>
                    <a:pt x="64800" y="11118"/>
                  </a:cubicBezTo>
                  <a:cubicBezTo>
                    <a:pt x="71918" y="18236"/>
                    <a:pt x="75917" y="27891"/>
                    <a:pt x="75917" y="37959"/>
                  </a:cubicBezTo>
                  <a:lnTo>
                    <a:pt x="75917" y="42507"/>
                  </a:lnTo>
                  <a:cubicBezTo>
                    <a:pt x="75917" y="52575"/>
                    <a:pt x="71918" y="62229"/>
                    <a:pt x="64800" y="69348"/>
                  </a:cubicBezTo>
                  <a:cubicBezTo>
                    <a:pt x="57681" y="76467"/>
                    <a:pt x="48026" y="80466"/>
                    <a:pt x="37959" y="80466"/>
                  </a:cubicBezTo>
                  <a:lnTo>
                    <a:pt x="37959" y="80466"/>
                  </a:lnTo>
                  <a:cubicBezTo>
                    <a:pt x="27891" y="80466"/>
                    <a:pt x="18236" y="76467"/>
                    <a:pt x="11118" y="69348"/>
                  </a:cubicBezTo>
                  <a:cubicBezTo>
                    <a:pt x="3999" y="62229"/>
                    <a:pt x="0" y="52575"/>
                    <a:pt x="0" y="42507"/>
                  </a:cubicBezTo>
                  <a:lnTo>
                    <a:pt x="0" y="37959"/>
                  </a:lnTo>
                  <a:cubicBezTo>
                    <a:pt x="0" y="27891"/>
                    <a:pt x="3999" y="18236"/>
                    <a:pt x="11118" y="11118"/>
                  </a:cubicBezTo>
                  <a:cubicBezTo>
                    <a:pt x="18236" y="3999"/>
                    <a:pt x="27891" y="0"/>
                    <a:pt x="37959" y="0"/>
                  </a:cubicBezTo>
                  <a:close/>
                </a:path>
              </a:pathLst>
            </a:custGeom>
            <a:solidFill>
              <a:srgbClr val="C72228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75917" cy="118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232954" y="4678043"/>
            <a:ext cx="288249" cy="305519"/>
            <a:chOff x="0" y="0"/>
            <a:chExt cx="75917" cy="8046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5917" cy="80466"/>
            </a:xfrm>
            <a:custGeom>
              <a:avLst/>
              <a:gdLst/>
              <a:ahLst/>
              <a:cxnLst/>
              <a:rect r="r" b="b" t="t" l="l"/>
              <a:pathLst>
                <a:path h="80466" w="75917">
                  <a:moveTo>
                    <a:pt x="37959" y="0"/>
                  </a:moveTo>
                  <a:lnTo>
                    <a:pt x="37959" y="0"/>
                  </a:lnTo>
                  <a:cubicBezTo>
                    <a:pt x="48026" y="0"/>
                    <a:pt x="57681" y="3999"/>
                    <a:pt x="64800" y="11118"/>
                  </a:cubicBezTo>
                  <a:cubicBezTo>
                    <a:pt x="71918" y="18236"/>
                    <a:pt x="75917" y="27891"/>
                    <a:pt x="75917" y="37959"/>
                  </a:cubicBezTo>
                  <a:lnTo>
                    <a:pt x="75917" y="42507"/>
                  </a:lnTo>
                  <a:cubicBezTo>
                    <a:pt x="75917" y="52575"/>
                    <a:pt x="71918" y="62229"/>
                    <a:pt x="64800" y="69348"/>
                  </a:cubicBezTo>
                  <a:cubicBezTo>
                    <a:pt x="57681" y="76467"/>
                    <a:pt x="48026" y="80466"/>
                    <a:pt x="37959" y="80466"/>
                  </a:cubicBezTo>
                  <a:lnTo>
                    <a:pt x="37959" y="80466"/>
                  </a:lnTo>
                  <a:cubicBezTo>
                    <a:pt x="27891" y="80466"/>
                    <a:pt x="18236" y="76467"/>
                    <a:pt x="11118" y="69348"/>
                  </a:cubicBezTo>
                  <a:cubicBezTo>
                    <a:pt x="3999" y="62229"/>
                    <a:pt x="0" y="52575"/>
                    <a:pt x="0" y="42507"/>
                  </a:cubicBezTo>
                  <a:lnTo>
                    <a:pt x="0" y="37959"/>
                  </a:lnTo>
                  <a:cubicBezTo>
                    <a:pt x="0" y="27891"/>
                    <a:pt x="3999" y="18236"/>
                    <a:pt x="11118" y="11118"/>
                  </a:cubicBezTo>
                  <a:cubicBezTo>
                    <a:pt x="18236" y="3999"/>
                    <a:pt x="27891" y="0"/>
                    <a:pt x="37959" y="0"/>
                  </a:cubicBezTo>
                  <a:close/>
                </a:path>
              </a:pathLst>
            </a:custGeom>
            <a:solidFill>
              <a:srgbClr val="C72228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75917" cy="118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866625" y="4689808"/>
            <a:ext cx="288249" cy="305519"/>
            <a:chOff x="0" y="0"/>
            <a:chExt cx="75917" cy="8046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5917" cy="80466"/>
            </a:xfrm>
            <a:custGeom>
              <a:avLst/>
              <a:gdLst/>
              <a:ahLst/>
              <a:cxnLst/>
              <a:rect r="r" b="b" t="t" l="l"/>
              <a:pathLst>
                <a:path h="80466" w="75917">
                  <a:moveTo>
                    <a:pt x="37959" y="0"/>
                  </a:moveTo>
                  <a:lnTo>
                    <a:pt x="37959" y="0"/>
                  </a:lnTo>
                  <a:cubicBezTo>
                    <a:pt x="48026" y="0"/>
                    <a:pt x="57681" y="3999"/>
                    <a:pt x="64800" y="11118"/>
                  </a:cubicBezTo>
                  <a:cubicBezTo>
                    <a:pt x="71918" y="18236"/>
                    <a:pt x="75917" y="27891"/>
                    <a:pt x="75917" y="37959"/>
                  </a:cubicBezTo>
                  <a:lnTo>
                    <a:pt x="75917" y="42507"/>
                  </a:lnTo>
                  <a:cubicBezTo>
                    <a:pt x="75917" y="52575"/>
                    <a:pt x="71918" y="62229"/>
                    <a:pt x="64800" y="69348"/>
                  </a:cubicBezTo>
                  <a:cubicBezTo>
                    <a:pt x="57681" y="76467"/>
                    <a:pt x="48026" y="80466"/>
                    <a:pt x="37959" y="80466"/>
                  </a:cubicBezTo>
                  <a:lnTo>
                    <a:pt x="37959" y="80466"/>
                  </a:lnTo>
                  <a:cubicBezTo>
                    <a:pt x="27891" y="80466"/>
                    <a:pt x="18236" y="76467"/>
                    <a:pt x="11118" y="69348"/>
                  </a:cubicBezTo>
                  <a:cubicBezTo>
                    <a:pt x="3999" y="62229"/>
                    <a:pt x="0" y="52575"/>
                    <a:pt x="0" y="42507"/>
                  </a:cubicBezTo>
                  <a:lnTo>
                    <a:pt x="0" y="37959"/>
                  </a:lnTo>
                  <a:cubicBezTo>
                    <a:pt x="0" y="27891"/>
                    <a:pt x="3999" y="18236"/>
                    <a:pt x="11118" y="11118"/>
                  </a:cubicBezTo>
                  <a:cubicBezTo>
                    <a:pt x="18236" y="3999"/>
                    <a:pt x="27891" y="0"/>
                    <a:pt x="37959" y="0"/>
                  </a:cubicBezTo>
                  <a:close/>
                </a:path>
              </a:pathLst>
            </a:custGeom>
            <a:solidFill>
              <a:srgbClr val="C72228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75917" cy="118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259648" y="4689808"/>
            <a:ext cx="288249" cy="305519"/>
            <a:chOff x="0" y="0"/>
            <a:chExt cx="75917" cy="8046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5917" cy="80466"/>
            </a:xfrm>
            <a:custGeom>
              <a:avLst/>
              <a:gdLst/>
              <a:ahLst/>
              <a:cxnLst/>
              <a:rect r="r" b="b" t="t" l="l"/>
              <a:pathLst>
                <a:path h="80466" w="75917">
                  <a:moveTo>
                    <a:pt x="37959" y="0"/>
                  </a:moveTo>
                  <a:lnTo>
                    <a:pt x="37959" y="0"/>
                  </a:lnTo>
                  <a:cubicBezTo>
                    <a:pt x="48026" y="0"/>
                    <a:pt x="57681" y="3999"/>
                    <a:pt x="64800" y="11118"/>
                  </a:cubicBezTo>
                  <a:cubicBezTo>
                    <a:pt x="71918" y="18236"/>
                    <a:pt x="75917" y="27891"/>
                    <a:pt x="75917" y="37959"/>
                  </a:cubicBezTo>
                  <a:lnTo>
                    <a:pt x="75917" y="42507"/>
                  </a:lnTo>
                  <a:cubicBezTo>
                    <a:pt x="75917" y="52575"/>
                    <a:pt x="71918" y="62229"/>
                    <a:pt x="64800" y="69348"/>
                  </a:cubicBezTo>
                  <a:cubicBezTo>
                    <a:pt x="57681" y="76467"/>
                    <a:pt x="48026" y="80466"/>
                    <a:pt x="37959" y="80466"/>
                  </a:cubicBezTo>
                  <a:lnTo>
                    <a:pt x="37959" y="80466"/>
                  </a:lnTo>
                  <a:cubicBezTo>
                    <a:pt x="27891" y="80466"/>
                    <a:pt x="18236" y="76467"/>
                    <a:pt x="11118" y="69348"/>
                  </a:cubicBezTo>
                  <a:cubicBezTo>
                    <a:pt x="3999" y="62229"/>
                    <a:pt x="0" y="52575"/>
                    <a:pt x="0" y="42507"/>
                  </a:cubicBezTo>
                  <a:lnTo>
                    <a:pt x="0" y="37959"/>
                  </a:lnTo>
                  <a:cubicBezTo>
                    <a:pt x="0" y="27891"/>
                    <a:pt x="3999" y="18236"/>
                    <a:pt x="11118" y="11118"/>
                  </a:cubicBezTo>
                  <a:cubicBezTo>
                    <a:pt x="18236" y="3999"/>
                    <a:pt x="27891" y="0"/>
                    <a:pt x="37959" y="0"/>
                  </a:cubicBezTo>
                  <a:close/>
                </a:path>
              </a:pathLst>
            </a:custGeom>
            <a:solidFill>
              <a:srgbClr val="C72228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75917" cy="118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25</a:t>
            </a:r>
          </a:p>
        </p:txBody>
      </p:sp>
    </p:spTree>
  </p:cSld>
  <p:clrMapOvr>
    <a:masterClrMapping/>
  </p:clrMapOvr>
  <p:transition spd="slow">
    <p:push dir="l"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67557" y="-8373094"/>
            <a:ext cx="16601806" cy="16450880"/>
          </a:xfrm>
          <a:custGeom>
            <a:avLst/>
            <a:gdLst/>
            <a:ahLst/>
            <a:cxnLst/>
            <a:rect r="r" b="b" t="t" l="l"/>
            <a:pathLst>
              <a:path h="16450880" w="16601806">
                <a:moveTo>
                  <a:pt x="0" y="0"/>
                </a:moveTo>
                <a:lnTo>
                  <a:pt x="16601806" y="0"/>
                </a:lnTo>
                <a:lnTo>
                  <a:pt x="16601806" y="16450880"/>
                </a:lnTo>
                <a:lnTo>
                  <a:pt x="0" y="164508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09284" y="1609202"/>
            <a:ext cx="15469431" cy="7813312"/>
            <a:chOff x="0" y="0"/>
            <a:chExt cx="20625908" cy="1041775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390050" y="360355"/>
              <a:ext cx="19820409" cy="9697040"/>
              <a:chOff x="0" y="0"/>
              <a:chExt cx="3801208" cy="185972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801208" cy="1859723"/>
              </a:xfrm>
              <a:custGeom>
                <a:avLst/>
                <a:gdLst/>
                <a:ahLst/>
                <a:cxnLst/>
                <a:rect r="r" b="b" t="t" l="l"/>
                <a:pathLst>
                  <a:path h="1859723" w="3801208">
                    <a:moveTo>
                      <a:pt x="372179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780305"/>
                    </a:lnTo>
                    <a:cubicBezTo>
                      <a:pt x="43699" y="1780305"/>
                      <a:pt x="79418" y="1815644"/>
                      <a:pt x="79418" y="1859723"/>
                    </a:cubicBezTo>
                    <a:lnTo>
                      <a:pt x="3721790" y="1859723"/>
                    </a:lnTo>
                    <a:cubicBezTo>
                      <a:pt x="3721790" y="1816023"/>
                      <a:pt x="3757129" y="1780305"/>
                      <a:pt x="3801208" y="1780305"/>
                    </a:cubicBezTo>
                    <a:lnTo>
                      <a:pt x="3801208" y="79418"/>
                    </a:lnTo>
                    <a:cubicBezTo>
                      <a:pt x="3757509" y="79418"/>
                      <a:pt x="3721790" y="44079"/>
                      <a:pt x="3721790" y="0"/>
                    </a:cubicBezTo>
                    <a:close/>
                  </a:path>
                </a:pathLst>
              </a:custGeom>
              <a:ln w="66675" cap="sq">
                <a:solidFill>
                  <a:srgbClr val="C72228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38100" y="0"/>
                <a:ext cx="3725008" cy="18216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20625908" cy="10417750"/>
              <a:chOff x="0" y="0"/>
              <a:chExt cx="3955689" cy="1997942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955688" cy="1997942"/>
              </a:xfrm>
              <a:custGeom>
                <a:avLst/>
                <a:gdLst/>
                <a:ahLst/>
                <a:cxnLst/>
                <a:rect r="r" b="b" t="t" l="l"/>
                <a:pathLst>
                  <a:path h="1997942" w="3955688">
                    <a:moveTo>
                      <a:pt x="387627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918524"/>
                    </a:lnTo>
                    <a:cubicBezTo>
                      <a:pt x="43699" y="1918524"/>
                      <a:pt x="79418" y="1953863"/>
                      <a:pt x="79418" y="1997942"/>
                    </a:cubicBezTo>
                    <a:lnTo>
                      <a:pt x="3876270" y="1997942"/>
                    </a:lnTo>
                    <a:cubicBezTo>
                      <a:pt x="3876270" y="1954243"/>
                      <a:pt x="3911609" y="1918524"/>
                      <a:pt x="3955688" y="1918524"/>
                    </a:cubicBezTo>
                    <a:lnTo>
                      <a:pt x="3955688" y="79418"/>
                    </a:lnTo>
                    <a:cubicBezTo>
                      <a:pt x="3911989" y="79418"/>
                      <a:pt x="3876270" y="44079"/>
                      <a:pt x="3876270" y="0"/>
                    </a:cubicBezTo>
                    <a:close/>
                  </a:path>
                </a:pathLst>
              </a:custGeom>
              <a:ln w="123825" cap="sq">
                <a:solidFill>
                  <a:srgbClr val="64050C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38100" y="0"/>
                <a:ext cx="3879489" cy="19598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true" flipV="false" rot="0">
            <a:off x="-781992" y="8212199"/>
            <a:ext cx="2995824" cy="3102217"/>
          </a:xfrm>
          <a:custGeom>
            <a:avLst/>
            <a:gdLst/>
            <a:ahLst/>
            <a:cxnLst/>
            <a:rect r="r" b="b" t="t" l="l"/>
            <a:pathLst>
              <a:path h="3102217" w="2995824">
                <a:moveTo>
                  <a:pt x="2995824" y="0"/>
                </a:moveTo>
                <a:lnTo>
                  <a:pt x="0" y="0"/>
                </a:lnTo>
                <a:lnTo>
                  <a:pt x="0" y="3102217"/>
                </a:lnTo>
                <a:lnTo>
                  <a:pt x="2995824" y="3102217"/>
                </a:lnTo>
                <a:lnTo>
                  <a:pt x="29958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-41724" y="0"/>
            <a:ext cx="3511040" cy="2534333"/>
          </a:xfrm>
          <a:custGeom>
            <a:avLst/>
            <a:gdLst/>
            <a:ahLst/>
            <a:cxnLst/>
            <a:rect r="r" b="b" t="t" l="l"/>
            <a:pathLst>
              <a:path h="2534333" w="3511040">
                <a:moveTo>
                  <a:pt x="3511040" y="2534333"/>
                </a:moveTo>
                <a:lnTo>
                  <a:pt x="0" y="2534333"/>
                </a:lnTo>
                <a:lnTo>
                  <a:pt x="0" y="0"/>
                </a:lnTo>
                <a:lnTo>
                  <a:pt x="3511040" y="0"/>
                </a:lnTo>
                <a:lnTo>
                  <a:pt x="3511040" y="253433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5222013" y="8077786"/>
            <a:ext cx="3147843" cy="2209214"/>
          </a:xfrm>
          <a:custGeom>
            <a:avLst/>
            <a:gdLst/>
            <a:ahLst/>
            <a:cxnLst/>
            <a:rect r="r" b="b" t="t" l="l"/>
            <a:pathLst>
              <a:path h="2209214" w="3147843">
                <a:moveTo>
                  <a:pt x="3147843" y="0"/>
                </a:moveTo>
                <a:lnTo>
                  <a:pt x="0" y="0"/>
                </a:lnTo>
                <a:lnTo>
                  <a:pt x="0" y="2209214"/>
                </a:lnTo>
                <a:lnTo>
                  <a:pt x="3147843" y="2209214"/>
                </a:lnTo>
                <a:lnTo>
                  <a:pt x="314784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1474513">
            <a:off x="16261278" y="-962399"/>
            <a:ext cx="3127720" cy="3675597"/>
          </a:xfrm>
          <a:custGeom>
            <a:avLst/>
            <a:gdLst/>
            <a:ahLst/>
            <a:cxnLst/>
            <a:rect r="r" b="b" t="t" l="l"/>
            <a:pathLst>
              <a:path h="3675597" w="3127720">
                <a:moveTo>
                  <a:pt x="0" y="3675597"/>
                </a:moveTo>
                <a:lnTo>
                  <a:pt x="3127719" y="3675597"/>
                </a:lnTo>
                <a:lnTo>
                  <a:pt x="3127719" y="0"/>
                </a:lnTo>
                <a:lnTo>
                  <a:pt x="0" y="0"/>
                </a:lnTo>
                <a:lnTo>
                  <a:pt x="0" y="367559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338354" y="1790818"/>
            <a:ext cx="1408623" cy="1487030"/>
          </a:xfrm>
          <a:custGeom>
            <a:avLst/>
            <a:gdLst/>
            <a:ahLst/>
            <a:cxnLst/>
            <a:rect r="r" b="b" t="t" l="l"/>
            <a:pathLst>
              <a:path h="1487030" w="1408623">
                <a:moveTo>
                  <a:pt x="0" y="0"/>
                </a:moveTo>
                <a:lnTo>
                  <a:pt x="1408623" y="0"/>
                </a:lnTo>
                <a:lnTo>
                  <a:pt x="1408623" y="1487030"/>
                </a:lnTo>
                <a:lnTo>
                  <a:pt x="0" y="14870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4614110">
            <a:off x="17566900" y="6727958"/>
            <a:ext cx="1264825" cy="1196571"/>
          </a:xfrm>
          <a:custGeom>
            <a:avLst/>
            <a:gdLst/>
            <a:ahLst/>
            <a:cxnLst/>
            <a:rect r="r" b="b" t="t" l="l"/>
            <a:pathLst>
              <a:path h="1196571" w="1264825">
                <a:moveTo>
                  <a:pt x="0" y="0"/>
                </a:moveTo>
                <a:lnTo>
                  <a:pt x="1264825" y="0"/>
                </a:lnTo>
                <a:lnTo>
                  <a:pt x="1264825" y="1196571"/>
                </a:lnTo>
                <a:lnTo>
                  <a:pt x="0" y="119657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3766131" y="2534333"/>
            <a:ext cx="10755738" cy="1306810"/>
            <a:chOff x="0" y="0"/>
            <a:chExt cx="2832787" cy="3441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32787" cy="344180"/>
            </a:xfrm>
            <a:custGeom>
              <a:avLst/>
              <a:gdLst/>
              <a:ahLst/>
              <a:cxnLst/>
              <a:rect r="r" b="b" t="t" l="l"/>
              <a:pathLst>
                <a:path h="344180" w="2832787">
                  <a:moveTo>
                    <a:pt x="2832787" y="0"/>
                  </a:moveTo>
                  <a:lnTo>
                    <a:pt x="0" y="0"/>
                  </a:lnTo>
                  <a:lnTo>
                    <a:pt x="101600" y="172090"/>
                  </a:lnTo>
                  <a:lnTo>
                    <a:pt x="0" y="344180"/>
                  </a:lnTo>
                  <a:lnTo>
                    <a:pt x="2832787" y="344180"/>
                  </a:lnTo>
                  <a:lnTo>
                    <a:pt x="2731187" y="172090"/>
                  </a:lnTo>
                  <a:lnTo>
                    <a:pt x="2832787" y="0"/>
                  </a:lnTo>
                  <a:close/>
                </a:path>
              </a:pathLst>
            </a:custGeom>
            <a:solidFill>
              <a:srgbClr val="64050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88900" y="-38100"/>
              <a:ext cx="2654987" cy="382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-5400000">
            <a:off x="2898465" y="2696641"/>
            <a:ext cx="1306810" cy="982194"/>
            <a:chOff x="0" y="0"/>
            <a:chExt cx="344180" cy="25868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44180" cy="258685"/>
            </a:xfrm>
            <a:custGeom>
              <a:avLst/>
              <a:gdLst/>
              <a:ahLst/>
              <a:cxnLst/>
              <a:rect r="r" b="b" t="t" l="l"/>
              <a:pathLst>
                <a:path h="258685" w="344180">
                  <a:moveTo>
                    <a:pt x="344180" y="0"/>
                  </a:moveTo>
                  <a:lnTo>
                    <a:pt x="344180" y="144385"/>
                  </a:lnTo>
                  <a:lnTo>
                    <a:pt x="172090" y="258685"/>
                  </a:lnTo>
                  <a:lnTo>
                    <a:pt x="0" y="144385"/>
                  </a:lnTo>
                  <a:lnTo>
                    <a:pt x="0" y="0"/>
                  </a:lnTo>
                  <a:lnTo>
                    <a:pt x="344180" y="0"/>
                  </a:lnTo>
                  <a:close/>
                </a:path>
              </a:pathLst>
            </a:custGeom>
            <a:solidFill>
              <a:srgbClr val="64050C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44180" cy="182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5400000">
            <a:off x="14082725" y="2696641"/>
            <a:ext cx="1306810" cy="982194"/>
            <a:chOff x="0" y="0"/>
            <a:chExt cx="344180" cy="25868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4180" cy="258685"/>
            </a:xfrm>
            <a:custGeom>
              <a:avLst/>
              <a:gdLst/>
              <a:ahLst/>
              <a:cxnLst/>
              <a:rect r="r" b="b" t="t" l="l"/>
              <a:pathLst>
                <a:path h="258685" w="344180">
                  <a:moveTo>
                    <a:pt x="344180" y="0"/>
                  </a:moveTo>
                  <a:lnTo>
                    <a:pt x="344180" y="144385"/>
                  </a:lnTo>
                  <a:lnTo>
                    <a:pt x="172090" y="258685"/>
                  </a:lnTo>
                  <a:lnTo>
                    <a:pt x="0" y="144385"/>
                  </a:lnTo>
                  <a:lnTo>
                    <a:pt x="0" y="0"/>
                  </a:lnTo>
                  <a:lnTo>
                    <a:pt x="344180" y="0"/>
                  </a:lnTo>
                  <a:close/>
                </a:path>
              </a:pathLst>
            </a:custGeom>
            <a:solidFill>
              <a:srgbClr val="64050C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44180" cy="182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927155" y="4319518"/>
            <a:ext cx="4594714" cy="3526790"/>
            <a:chOff x="0" y="0"/>
            <a:chExt cx="1210131" cy="92886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10131" cy="928866"/>
            </a:xfrm>
            <a:custGeom>
              <a:avLst/>
              <a:gdLst/>
              <a:ahLst/>
              <a:cxnLst/>
              <a:rect r="r" b="b" t="t" l="l"/>
              <a:pathLst>
                <a:path h="928866" w="1210131">
                  <a:moveTo>
                    <a:pt x="26959" y="0"/>
                  </a:moveTo>
                  <a:lnTo>
                    <a:pt x="1183171" y="0"/>
                  </a:lnTo>
                  <a:cubicBezTo>
                    <a:pt x="1190321" y="0"/>
                    <a:pt x="1197178" y="2840"/>
                    <a:pt x="1202234" y="7896"/>
                  </a:cubicBezTo>
                  <a:cubicBezTo>
                    <a:pt x="1207290" y="12952"/>
                    <a:pt x="1210131" y="19809"/>
                    <a:pt x="1210131" y="26959"/>
                  </a:cubicBezTo>
                  <a:lnTo>
                    <a:pt x="1210131" y="901907"/>
                  </a:lnTo>
                  <a:cubicBezTo>
                    <a:pt x="1210131" y="909057"/>
                    <a:pt x="1207290" y="915914"/>
                    <a:pt x="1202234" y="920970"/>
                  </a:cubicBezTo>
                  <a:cubicBezTo>
                    <a:pt x="1197178" y="926026"/>
                    <a:pt x="1190321" y="928866"/>
                    <a:pt x="1183171" y="928866"/>
                  </a:cubicBezTo>
                  <a:lnTo>
                    <a:pt x="26959" y="928866"/>
                  </a:lnTo>
                  <a:cubicBezTo>
                    <a:pt x="19809" y="928866"/>
                    <a:pt x="12952" y="926026"/>
                    <a:pt x="7896" y="920970"/>
                  </a:cubicBezTo>
                  <a:cubicBezTo>
                    <a:pt x="2840" y="915914"/>
                    <a:pt x="0" y="909057"/>
                    <a:pt x="0" y="901907"/>
                  </a:cubicBezTo>
                  <a:lnTo>
                    <a:pt x="0" y="26959"/>
                  </a:lnTo>
                  <a:cubicBezTo>
                    <a:pt x="0" y="19809"/>
                    <a:pt x="2840" y="12952"/>
                    <a:pt x="7896" y="7896"/>
                  </a:cubicBezTo>
                  <a:cubicBezTo>
                    <a:pt x="12952" y="2840"/>
                    <a:pt x="19809" y="0"/>
                    <a:pt x="26959" y="0"/>
                  </a:cubicBezTo>
                  <a:close/>
                </a:path>
              </a:pathLst>
            </a:custGeom>
            <a:solidFill>
              <a:srgbClr val="C72228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210131" cy="966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0130272" y="4621231"/>
            <a:ext cx="4188479" cy="2923365"/>
          </a:xfrm>
          <a:custGeom>
            <a:avLst/>
            <a:gdLst/>
            <a:ahLst/>
            <a:cxnLst/>
            <a:rect r="r" b="b" t="t" l="l"/>
            <a:pathLst>
              <a:path h="2923365" w="4188479">
                <a:moveTo>
                  <a:pt x="0" y="0"/>
                </a:moveTo>
                <a:lnTo>
                  <a:pt x="4188479" y="0"/>
                </a:lnTo>
                <a:lnTo>
                  <a:pt x="4188479" y="2923365"/>
                </a:lnTo>
                <a:lnTo>
                  <a:pt x="0" y="292336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2346" t="0" r="-2346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4859449" y="2663455"/>
            <a:ext cx="8563664" cy="1162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1"/>
              </a:lnSpc>
            </a:pPr>
            <a:r>
              <a:rPr lang="en-US" sz="337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COMPARAÇÃO ENTRE OS PRINCÍPIOS ÁGEIS E PRÁTICAS TRADICIONAIS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234511" y="4157593"/>
            <a:ext cx="5671965" cy="3788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5075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Forma de Planejamento</a:t>
            </a:r>
          </a:p>
          <a:p>
            <a:pPr algn="l" marL="626111" indent="-313055" lvl="1">
              <a:lnSpc>
                <a:spcPts val="5075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Flexibilidade</a:t>
            </a:r>
          </a:p>
          <a:p>
            <a:pPr algn="l" marL="626111" indent="-313055" lvl="1">
              <a:lnSpc>
                <a:spcPts val="5075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Entrega do Projeto</a:t>
            </a:r>
          </a:p>
          <a:p>
            <a:pPr algn="l" marL="626111" indent="-313055" lvl="1">
              <a:lnSpc>
                <a:spcPts val="5075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Comunicação</a:t>
            </a:r>
          </a:p>
          <a:p>
            <a:pPr algn="l" marL="626111" indent="-313055" lvl="1">
              <a:lnSpc>
                <a:spcPts val="5075"/>
              </a:lnSpc>
              <a:buFont typeface="Arial"/>
              <a:buChar char="•"/>
            </a:pPr>
            <a:r>
              <a:rPr lang="en-US" sz="29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Testes e Qualidade</a:t>
            </a:r>
          </a:p>
          <a:p>
            <a:pPr algn="l">
              <a:lnSpc>
                <a:spcPts val="5075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26</a:t>
            </a:r>
          </a:p>
        </p:txBody>
      </p:sp>
    </p:spTree>
  </p:cSld>
  <p:clrMapOvr>
    <a:masterClrMapping/>
  </p:clrMapOvr>
  <p:transition spd="slow">
    <p:push dir="l"/>
  </p:transition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946691">
            <a:off x="11922887" y="-1377668"/>
            <a:ext cx="16601806" cy="16450880"/>
          </a:xfrm>
          <a:custGeom>
            <a:avLst/>
            <a:gdLst/>
            <a:ahLst/>
            <a:cxnLst/>
            <a:rect r="r" b="b" t="t" l="l"/>
            <a:pathLst>
              <a:path h="16450880" w="16601806">
                <a:moveTo>
                  <a:pt x="0" y="0"/>
                </a:moveTo>
                <a:lnTo>
                  <a:pt x="16601806" y="0"/>
                </a:lnTo>
                <a:lnTo>
                  <a:pt x="16601806" y="16450880"/>
                </a:lnTo>
                <a:lnTo>
                  <a:pt x="0" y="164508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09284" y="1609202"/>
            <a:ext cx="15469431" cy="7813312"/>
            <a:chOff x="0" y="0"/>
            <a:chExt cx="20625908" cy="1041775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390050" y="360355"/>
              <a:ext cx="19820409" cy="9697040"/>
              <a:chOff x="0" y="0"/>
              <a:chExt cx="3801208" cy="185972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801208" cy="1859723"/>
              </a:xfrm>
              <a:custGeom>
                <a:avLst/>
                <a:gdLst/>
                <a:ahLst/>
                <a:cxnLst/>
                <a:rect r="r" b="b" t="t" l="l"/>
                <a:pathLst>
                  <a:path h="1859723" w="3801208">
                    <a:moveTo>
                      <a:pt x="372179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780305"/>
                    </a:lnTo>
                    <a:cubicBezTo>
                      <a:pt x="43699" y="1780305"/>
                      <a:pt x="79418" y="1815644"/>
                      <a:pt x="79418" y="1859723"/>
                    </a:cubicBezTo>
                    <a:lnTo>
                      <a:pt x="3721790" y="1859723"/>
                    </a:lnTo>
                    <a:cubicBezTo>
                      <a:pt x="3721790" y="1816023"/>
                      <a:pt x="3757129" y="1780305"/>
                      <a:pt x="3801208" y="1780305"/>
                    </a:cubicBezTo>
                    <a:lnTo>
                      <a:pt x="3801208" y="79418"/>
                    </a:lnTo>
                    <a:cubicBezTo>
                      <a:pt x="3757509" y="79418"/>
                      <a:pt x="3721790" y="44079"/>
                      <a:pt x="3721790" y="0"/>
                    </a:cubicBezTo>
                    <a:close/>
                  </a:path>
                </a:pathLst>
              </a:custGeom>
              <a:ln w="66675" cap="sq">
                <a:solidFill>
                  <a:srgbClr val="C72228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38100" y="0"/>
                <a:ext cx="3725008" cy="18216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20625908" cy="10417750"/>
              <a:chOff x="0" y="0"/>
              <a:chExt cx="3955689" cy="1997942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955688" cy="1997942"/>
              </a:xfrm>
              <a:custGeom>
                <a:avLst/>
                <a:gdLst/>
                <a:ahLst/>
                <a:cxnLst/>
                <a:rect r="r" b="b" t="t" l="l"/>
                <a:pathLst>
                  <a:path h="1997942" w="3955688">
                    <a:moveTo>
                      <a:pt x="3876270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1918524"/>
                    </a:lnTo>
                    <a:cubicBezTo>
                      <a:pt x="43699" y="1918524"/>
                      <a:pt x="79418" y="1953863"/>
                      <a:pt x="79418" y="1997942"/>
                    </a:cubicBezTo>
                    <a:lnTo>
                      <a:pt x="3876270" y="1997942"/>
                    </a:lnTo>
                    <a:cubicBezTo>
                      <a:pt x="3876270" y="1954243"/>
                      <a:pt x="3911609" y="1918524"/>
                      <a:pt x="3955688" y="1918524"/>
                    </a:cubicBezTo>
                    <a:lnTo>
                      <a:pt x="3955688" y="79418"/>
                    </a:lnTo>
                    <a:cubicBezTo>
                      <a:pt x="3911989" y="79418"/>
                      <a:pt x="3876270" y="44079"/>
                      <a:pt x="3876270" y="0"/>
                    </a:cubicBezTo>
                    <a:close/>
                  </a:path>
                </a:pathLst>
              </a:custGeom>
              <a:ln w="123825" cap="sq">
                <a:solidFill>
                  <a:srgbClr val="64050C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38100" y="0"/>
                <a:ext cx="3879489" cy="19598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true" flipV="false" rot="0">
            <a:off x="-781992" y="8212199"/>
            <a:ext cx="2995824" cy="3102217"/>
          </a:xfrm>
          <a:custGeom>
            <a:avLst/>
            <a:gdLst/>
            <a:ahLst/>
            <a:cxnLst/>
            <a:rect r="r" b="b" t="t" l="l"/>
            <a:pathLst>
              <a:path h="3102217" w="2995824">
                <a:moveTo>
                  <a:pt x="2995824" y="0"/>
                </a:moveTo>
                <a:lnTo>
                  <a:pt x="0" y="0"/>
                </a:lnTo>
                <a:lnTo>
                  <a:pt x="0" y="3102217"/>
                </a:lnTo>
                <a:lnTo>
                  <a:pt x="2995824" y="3102217"/>
                </a:lnTo>
                <a:lnTo>
                  <a:pt x="29958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-41724" y="0"/>
            <a:ext cx="3511040" cy="2534333"/>
          </a:xfrm>
          <a:custGeom>
            <a:avLst/>
            <a:gdLst/>
            <a:ahLst/>
            <a:cxnLst/>
            <a:rect r="r" b="b" t="t" l="l"/>
            <a:pathLst>
              <a:path h="2534333" w="3511040">
                <a:moveTo>
                  <a:pt x="3511040" y="2534333"/>
                </a:moveTo>
                <a:lnTo>
                  <a:pt x="0" y="2534333"/>
                </a:lnTo>
                <a:lnTo>
                  <a:pt x="0" y="0"/>
                </a:lnTo>
                <a:lnTo>
                  <a:pt x="3511040" y="0"/>
                </a:lnTo>
                <a:lnTo>
                  <a:pt x="3511040" y="253433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5222013" y="8077786"/>
            <a:ext cx="3147843" cy="2209214"/>
          </a:xfrm>
          <a:custGeom>
            <a:avLst/>
            <a:gdLst/>
            <a:ahLst/>
            <a:cxnLst/>
            <a:rect r="r" b="b" t="t" l="l"/>
            <a:pathLst>
              <a:path h="2209214" w="3147843">
                <a:moveTo>
                  <a:pt x="3147843" y="0"/>
                </a:moveTo>
                <a:lnTo>
                  <a:pt x="0" y="0"/>
                </a:lnTo>
                <a:lnTo>
                  <a:pt x="0" y="2209214"/>
                </a:lnTo>
                <a:lnTo>
                  <a:pt x="3147843" y="2209214"/>
                </a:lnTo>
                <a:lnTo>
                  <a:pt x="314784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1474513">
            <a:off x="16261278" y="-962399"/>
            <a:ext cx="3127720" cy="3675597"/>
          </a:xfrm>
          <a:custGeom>
            <a:avLst/>
            <a:gdLst/>
            <a:ahLst/>
            <a:cxnLst/>
            <a:rect r="r" b="b" t="t" l="l"/>
            <a:pathLst>
              <a:path h="3675597" w="3127720">
                <a:moveTo>
                  <a:pt x="0" y="3675597"/>
                </a:moveTo>
                <a:lnTo>
                  <a:pt x="3127719" y="3675597"/>
                </a:lnTo>
                <a:lnTo>
                  <a:pt x="3127719" y="0"/>
                </a:lnTo>
                <a:lnTo>
                  <a:pt x="0" y="0"/>
                </a:lnTo>
                <a:lnTo>
                  <a:pt x="0" y="367559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338354" y="1790818"/>
            <a:ext cx="1408623" cy="1487030"/>
          </a:xfrm>
          <a:custGeom>
            <a:avLst/>
            <a:gdLst/>
            <a:ahLst/>
            <a:cxnLst/>
            <a:rect r="r" b="b" t="t" l="l"/>
            <a:pathLst>
              <a:path h="1487030" w="1408623">
                <a:moveTo>
                  <a:pt x="0" y="0"/>
                </a:moveTo>
                <a:lnTo>
                  <a:pt x="1408623" y="0"/>
                </a:lnTo>
                <a:lnTo>
                  <a:pt x="1408623" y="1487030"/>
                </a:lnTo>
                <a:lnTo>
                  <a:pt x="0" y="14870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4614110">
            <a:off x="17566900" y="6727958"/>
            <a:ext cx="1264825" cy="1196571"/>
          </a:xfrm>
          <a:custGeom>
            <a:avLst/>
            <a:gdLst/>
            <a:ahLst/>
            <a:cxnLst/>
            <a:rect r="r" b="b" t="t" l="l"/>
            <a:pathLst>
              <a:path h="1196571" w="1264825">
                <a:moveTo>
                  <a:pt x="0" y="0"/>
                </a:moveTo>
                <a:lnTo>
                  <a:pt x="1264825" y="0"/>
                </a:lnTo>
                <a:lnTo>
                  <a:pt x="1264825" y="1196571"/>
                </a:lnTo>
                <a:lnTo>
                  <a:pt x="0" y="119657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3055558" y="4862453"/>
            <a:ext cx="12166455" cy="1306810"/>
            <a:chOff x="0" y="0"/>
            <a:chExt cx="16221940" cy="1742413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940478" y="0"/>
              <a:ext cx="14340984" cy="1742413"/>
              <a:chOff x="0" y="0"/>
              <a:chExt cx="2832787" cy="34418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832787" cy="344180"/>
              </a:xfrm>
              <a:custGeom>
                <a:avLst/>
                <a:gdLst/>
                <a:ahLst/>
                <a:cxnLst/>
                <a:rect r="r" b="b" t="t" l="l"/>
                <a:pathLst>
                  <a:path h="344180" w="2832787">
                    <a:moveTo>
                      <a:pt x="2832787" y="0"/>
                    </a:moveTo>
                    <a:lnTo>
                      <a:pt x="0" y="0"/>
                    </a:lnTo>
                    <a:lnTo>
                      <a:pt x="101600" y="172090"/>
                    </a:lnTo>
                    <a:lnTo>
                      <a:pt x="0" y="344180"/>
                    </a:lnTo>
                    <a:lnTo>
                      <a:pt x="2832787" y="344180"/>
                    </a:lnTo>
                    <a:lnTo>
                      <a:pt x="2731187" y="172090"/>
                    </a:lnTo>
                    <a:lnTo>
                      <a:pt x="2832787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88900" y="-38100"/>
                <a:ext cx="2654987" cy="3822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636069" y="380695"/>
              <a:ext cx="12949802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en-US" sz="50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CONCLUSÃO</a:t>
              </a:r>
            </a:p>
          </p:txBody>
        </p:sp>
        <p:grpSp>
          <p:nvGrpSpPr>
            <p:cNvPr name="Group 21" id="21"/>
            <p:cNvGrpSpPr/>
            <p:nvPr/>
          </p:nvGrpSpPr>
          <p:grpSpPr>
            <a:xfrm rot="-5400000">
              <a:off x="-216410" y="216410"/>
              <a:ext cx="1742413" cy="1309592"/>
              <a:chOff x="0" y="0"/>
              <a:chExt cx="344180" cy="258685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344180" cy="258685"/>
              </a:xfrm>
              <a:custGeom>
                <a:avLst/>
                <a:gdLst/>
                <a:ahLst/>
                <a:cxnLst/>
                <a:rect r="r" b="b" t="t" l="l"/>
                <a:pathLst>
                  <a:path h="258685" w="344180">
                    <a:moveTo>
                      <a:pt x="344180" y="0"/>
                    </a:moveTo>
                    <a:lnTo>
                      <a:pt x="344180" y="144385"/>
                    </a:lnTo>
                    <a:lnTo>
                      <a:pt x="172090" y="258685"/>
                    </a:lnTo>
                    <a:lnTo>
                      <a:pt x="0" y="144385"/>
                    </a:lnTo>
                    <a:lnTo>
                      <a:pt x="0" y="0"/>
                    </a:lnTo>
                    <a:lnTo>
                      <a:pt x="344180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344180" cy="1824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5400000">
              <a:off x="14695937" y="216410"/>
              <a:ext cx="1742413" cy="1309592"/>
              <a:chOff x="0" y="0"/>
              <a:chExt cx="344180" cy="258685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344180" cy="258685"/>
              </a:xfrm>
              <a:custGeom>
                <a:avLst/>
                <a:gdLst/>
                <a:ahLst/>
                <a:cxnLst/>
                <a:rect r="r" b="b" t="t" l="l"/>
                <a:pathLst>
                  <a:path h="258685" w="344180">
                    <a:moveTo>
                      <a:pt x="344180" y="0"/>
                    </a:moveTo>
                    <a:lnTo>
                      <a:pt x="344180" y="144385"/>
                    </a:lnTo>
                    <a:lnTo>
                      <a:pt x="172090" y="258685"/>
                    </a:lnTo>
                    <a:lnTo>
                      <a:pt x="0" y="144385"/>
                    </a:lnTo>
                    <a:lnTo>
                      <a:pt x="0" y="0"/>
                    </a:lnTo>
                    <a:lnTo>
                      <a:pt x="344180" y="0"/>
                    </a:lnTo>
                    <a:close/>
                  </a:path>
                </a:pathLst>
              </a:custGeom>
              <a:solidFill>
                <a:srgbClr val="64050C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344180" cy="1824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27" id="2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27</a:t>
            </a:r>
          </a:p>
        </p:txBody>
      </p:sp>
    </p:spTree>
  </p:cSld>
  <p:clrMapOvr>
    <a:masterClrMapping/>
  </p:clrMapOvr>
  <p:transition spd="slow">
    <p:push dir="l"/>
  </p:transition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958139" y="7560255"/>
            <a:ext cx="3973679" cy="4114800"/>
          </a:xfrm>
          <a:custGeom>
            <a:avLst/>
            <a:gdLst/>
            <a:ahLst/>
            <a:cxnLst/>
            <a:rect r="r" b="b" t="t" l="l"/>
            <a:pathLst>
              <a:path h="4114800" w="3973679">
                <a:moveTo>
                  <a:pt x="3973678" y="0"/>
                </a:moveTo>
                <a:lnTo>
                  <a:pt x="0" y="0"/>
                </a:lnTo>
                <a:lnTo>
                  <a:pt x="0" y="4114800"/>
                </a:lnTo>
                <a:lnTo>
                  <a:pt x="3973678" y="4114800"/>
                </a:lnTo>
                <a:lnTo>
                  <a:pt x="397367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0" y="0"/>
            <a:ext cx="4004909" cy="2890816"/>
          </a:xfrm>
          <a:custGeom>
            <a:avLst/>
            <a:gdLst/>
            <a:ahLst/>
            <a:cxnLst/>
            <a:rect r="r" b="b" t="t" l="l"/>
            <a:pathLst>
              <a:path h="2890816" w="4004909">
                <a:moveTo>
                  <a:pt x="4004909" y="2890816"/>
                </a:moveTo>
                <a:lnTo>
                  <a:pt x="0" y="2890816"/>
                </a:lnTo>
                <a:lnTo>
                  <a:pt x="0" y="0"/>
                </a:lnTo>
                <a:lnTo>
                  <a:pt x="4004909" y="0"/>
                </a:lnTo>
                <a:lnTo>
                  <a:pt x="4004909" y="28908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676297" y="7752241"/>
            <a:ext cx="3611703" cy="2534759"/>
          </a:xfrm>
          <a:custGeom>
            <a:avLst/>
            <a:gdLst/>
            <a:ahLst/>
            <a:cxnLst/>
            <a:rect r="r" b="b" t="t" l="l"/>
            <a:pathLst>
              <a:path h="2534759" w="3611703">
                <a:moveTo>
                  <a:pt x="3611703" y="0"/>
                </a:moveTo>
                <a:lnTo>
                  <a:pt x="0" y="0"/>
                </a:lnTo>
                <a:lnTo>
                  <a:pt x="0" y="2534759"/>
                </a:lnTo>
                <a:lnTo>
                  <a:pt x="3611703" y="2534759"/>
                </a:lnTo>
                <a:lnTo>
                  <a:pt x="361170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1474513">
            <a:off x="15680812" y="-1088829"/>
            <a:ext cx="3611813" cy="4244489"/>
          </a:xfrm>
          <a:custGeom>
            <a:avLst/>
            <a:gdLst/>
            <a:ahLst/>
            <a:cxnLst/>
            <a:rect r="r" b="b" t="t" l="l"/>
            <a:pathLst>
              <a:path h="4244489" w="3611813">
                <a:moveTo>
                  <a:pt x="0" y="4244488"/>
                </a:moveTo>
                <a:lnTo>
                  <a:pt x="3611813" y="4244488"/>
                </a:lnTo>
                <a:lnTo>
                  <a:pt x="3611813" y="0"/>
                </a:lnTo>
                <a:lnTo>
                  <a:pt x="0" y="0"/>
                </a:lnTo>
                <a:lnTo>
                  <a:pt x="0" y="424448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38354" y="2042717"/>
            <a:ext cx="1606762" cy="1696198"/>
          </a:xfrm>
          <a:custGeom>
            <a:avLst/>
            <a:gdLst/>
            <a:ahLst/>
            <a:cxnLst/>
            <a:rect r="r" b="b" t="t" l="l"/>
            <a:pathLst>
              <a:path h="1696198" w="1606762">
                <a:moveTo>
                  <a:pt x="0" y="0"/>
                </a:moveTo>
                <a:lnTo>
                  <a:pt x="1606762" y="0"/>
                </a:lnTo>
                <a:lnTo>
                  <a:pt x="1606762" y="1696198"/>
                </a:lnTo>
                <a:lnTo>
                  <a:pt x="0" y="16961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614110">
            <a:off x="17366721" y="6203504"/>
            <a:ext cx="1451207" cy="1372896"/>
          </a:xfrm>
          <a:custGeom>
            <a:avLst/>
            <a:gdLst/>
            <a:ahLst/>
            <a:cxnLst/>
            <a:rect r="r" b="b" t="t" l="l"/>
            <a:pathLst>
              <a:path h="1372896" w="1451207">
                <a:moveTo>
                  <a:pt x="0" y="0"/>
                </a:moveTo>
                <a:lnTo>
                  <a:pt x="1451208" y="0"/>
                </a:lnTo>
                <a:lnTo>
                  <a:pt x="1451208" y="1372896"/>
                </a:lnTo>
                <a:lnTo>
                  <a:pt x="0" y="137289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082802" y="3150417"/>
            <a:ext cx="12122396" cy="3986165"/>
            <a:chOff x="0" y="0"/>
            <a:chExt cx="4147083" cy="13636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7083" cy="1363671"/>
            </a:xfrm>
            <a:custGeom>
              <a:avLst/>
              <a:gdLst/>
              <a:ahLst/>
              <a:cxnLst/>
              <a:rect r="r" b="b" t="t" l="l"/>
              <a:pathLst>
                <a:path h="1363671" w="4147083">
                  <a:moveTo>
                    <a:pt x="4067665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1284253"/>
                  </a:lnTo>
                  <a:cubicBezTo>
                    <a:pt x="43699" y="1284253"/>
                    <a:pt x="79418" y="1319592"/>
                    <a:pt x="79418" y="1363671"/>
                  </a:cubicBezTo>
                  <a:lnTo>
                    <a:pt x="4067665" y="1363671"/>
                  </a:lnTo>
                  <a:cubicBezTo>
                    <a:pt x="4067665" y="1319972"/>
                    <a:pt x="4103004" y="1284253"/>
                    <a:pt x="4147083" y="1284253"/>
                  </a:cubicBezTo>
                  <a:lnTo>
                    <a:pt x="4147083" y="79418"/>
                  </a:lnTo>
                  <a:cubicBezTo>
                    <a:pt x="4103384" y="79418"/>
                    <a:pt x="4067665" y="44079"/>
                    <a:pt x="4067665" y="0"/>
                  </a:cubicBezTo>
                  <a:close/>
                </a:path>
              </a:pathLst>
            </a:custGeom>
            <a:ln w="142875" cap="sq">
              <a:solidFill>
                <a:srgbClr val="83151E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38100" y="0"/>
              <a:ext cx="4070883" cy="1325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389300" y="3410018"/>
            <a:ext cx="11509399" cy="3466963"/>
            <a:chOff x="0" y="0"/>
            <a:chExt cx="4065241" cy="12245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5241" cy="1224568"/>
            </a:xfrm>
            <a:custGeom>
              <a:avLst/>
              <a:gdLst/>
              <a:ahLst/>
              <a:cxnLst/>
              <a:rect r="r" b="b" t="t" l="l"/>
              <a:pathLst>
                <a:path h="1224568" w="4065241">
                  <a:moveTo>
                    <a:pt x="3985823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1145150"/>
                  </a:lnTo>
                  <a:cubicBezTo>
                    <a:pt x="43699" y="1145150"/>
                    <a:pt x="79418" y="1180489"/>
                    <a:pt x="79418" y="1224568"/>
                  </a:cubicBezTo>
                  <a:lnTo>
                    <a:pt x="3985823" y="1224568"/>
                  </a:lnTo>
                  <a:cubicBezTo>
                    <a:pt x="3985823" y="1180869"/>
                    <a:pt x="4021162" y="1145150"/>
                    <a:pt x="4065241" y="1145150"/>
                  </a:cubicBezTo>
                  <a:lnTo>
                    <a:pt x="4065241" y="79418"/>
                  </a:lnTo>
                  <a:cubicBezTo>
                    <a:pt x="4021541" y="79418"/>
                    <a:pt x="3985823" y="44079"/>
                    <a:pt x="3985823" y="0"/>
                  </a:cubicBezTo>
                  <a:close/>
                </a:path>
              </a:pathLst>
            </a:custGeom>
            <a:ln w="95250" cap="sq">
              <a:solidFill>
                <a:srgbClr val="C72228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38100" y="0"/>
              <a:ext cx="3989041" cy="1186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533081" y="4181475"/>
            <a:ext cx="9221837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64050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OBRIGADA!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28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DAHGMuIky9M</dc:identifier>
  <dcterms:modified xsi:type="dcterms:W3CDTF">2011-08-01T06:04:30Z</dcterms:modified>
  <cp:revision>1</cp:revision>
  <dc:title>Prática 07.04.26 - Gestão de Projetos de Automação e TI</dc:title>
</cp:coreProperties>
</file>